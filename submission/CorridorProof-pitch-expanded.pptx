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c4fb25d2b1d45f7" /><Relationship Type="http://schemas.openxmlformats.org/officeDocument/2006/relationships/extended-properties" Target="/docProps/app.xml" Id="R8d4b9ec18949451d" /><Relationship Type="http://schemas.openxmlformats.org/officeDocument/2006/relationships/officeDocument" Target="/ppt/presentation.xml" Id="Rcbfa27c8b03e43ff" /></Relationships>
</file>

<file path=ppt/presentation.xml><?xml version="1.0" encoding="utf-8"?>
<p:presentation xmlns:p="http://schemas.openxmlformats.org/presentationml/2006/main">
  <p:sldMasterIdLst>
    <p:sldMasterId xmlns:r="http://schemas.openxmlformats.org/officeDocument/2006/relationships" id="2147483648" r:id="Re4c23c34666d4923"/>
  </p:sldMasterIdLst>
  <p:notesMasterIdLst>
    <p:notesMasterId xmlns:r="http://schemas.openxmlformats.org/officeDocument/2006/relationships" r:id="R12f3f40cbd2f4596"/>
  </p:notesMasterIdLst>
  <p:sldIdLst>
    <p:sldId xmlns:r="http://schemas.openxmlformats.org/officeDocument/2006/relationships" id="256" r:id="R46a1827054cf4172"/>
    <p:sldId xmlns:r="http://schemas.openxmlformats.org/officeDocument/2006/relationships" id="257" r:id="R356102b9c93c4668"/>
    <p:sldId xmlns:r="http://schemas.openxmlformats.org/officeDocument/2006/relationships" id="258" r:id="R613a198b376a4b8b"/>
    <p:sldId xmlns:r="http://schemas.openxmlformats.org/officeDocument/2006/relationships" id="259" r:id="R429d5c3a04094e86"/>
    <p:sldId xmlns:r="http://schemas.openxmlformats.org/officeDocument/2006/relationships" id="260" r:id="Rf2d2a4d57cb74f83"/>
    <p:sldId xmlns:r="http://schemas.openxmlformats.org/officeDocument/2006/relationships" id="261" r:id="Rbd6f5b1916c94f80"/>
    <p:sldId xmlns:r="http://schemas.openxmlformats.org/officeDocument/2006/relationships" id="262" r:id="R0b78ca54ec524be1"/>
    <p:sldId xmlns:r="http://schemas.openxmlformats.org/officeDocument/2006/relationships" id="263" r:id="Rb76f2c03e29d4cd8"/>
    <p:sldId xmlns:r="http://schemas.openxmlformats.org/officeDocument/2006/relationships" id="264" r:id="Ra965f5a419454643"/>
    <p:sldId xmlns:r="http://schemas.openxmlformats.org/officeDocument/2006/relationships" id="265" r:id="R59be0deb7753402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54928d240824d51" /><Relationship Type="http://schemas.openxmlformats.org/officeDocument/2006/relationships/slideMaster" Target="/ppt/slideMasters/slideMaster1.xml" Id="Re4c23c34666d4923" /><Relationship Type="http://schemas.openxmlformats.org/officeDocument/2006/relationships/notesMaster" Target="/ppt/notesMasters/notesMaster1.xml" Id="R12f3f40cbd2f4596" /><Relationship Type="http://schemas.openxmlformats.org/officeDocument/2006/relationships/presProps" Target="/ppt/presProps.xml" Id="R91ea99b24c8b45e2" /><Relationship Type="http://schemas.openxmlformats.org/officeDocument/2006/relationships/tableStyles" Target="/ppt/tableStyles.xml" Id="R9ffd253842bf438f" /><Relationship Type="http://schemas.openxmlformats.org/officeDocument/2006/relationships/slide" Target="/ppt/slides/slide1.xml" Id="R46a1827054cf4172" /><Relationship Type="http://schemas.openxmlformats.org/officeDocument/2006/relationships/slide" Target="/ppt/slides/slide2.xml" Id="R356102b9c93c4668" /><Relationship Type="http://schemas.openxmlformats.org/officeDocument/2006/relationships/slide" Target="/ppt/slides/slide3.xml" Id="R613a198b376a4b8b" /><Relationship Type="http://schemas.openxmlformats.org/officeDocument/2006/relationships/slide" Target="/ppt/slides/slide4.xml" Id="R429d5c3a04094e86" /><Relationship Type="http://schemas.openxmlformats.org/officeDocument/2006/relationships/slide" Target="/ppt/slides/slide5.xml" Id="Rf2d2a4d57cb74f83" /><Relationship Type="http://schemas.openxmlformats.org/officeDocument/2006/relationships/slide" Target="/ppt/slides/slide6.xml" Id="Rbd6f5b1916c94f80" /><Relationship Type="http://schemas.openxmlformats.org/officeDocument/2006/relationships/slide" Target="/ppt/slides/slide7.xml" Id="R0b78ca54ec524be1" /><Relationship Type="http://schemas.openxmlformats.org/officeDocument/2006/relationships/slide" Target="/ppt/slides/slide8.xml" Id="Rb76f2c03e29d4cd8" /><Relationship Type="http://schemas.openxmlformats.org/officeDocument/2006/relationships/slide" Target="/ppt/slides/slide9.xml" Id="Ra965f5a419454643" /><Relationship Type="http://schemas.openxmlformats.org/officeDocument/2006/relationships/slide" Target="/ppt/slides/slide10.xml" Id="R59be0deb7753402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fafc47abe454df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262c5dd80114e13" /><Relationship Type="http://schemas.openxmlformats.org/officeDocument/2006/relationships/notesMaster" Target="/ppt/notesMasters/notesMaster1.xml" Id="R32c5ab26c3d44adb" /></Relationships>
</file>

<file path=ppt/notesSlides/_rels/notesSlide2.xml.rels>&#65279;<?xml version="1.0" encoding="utf-8"?><Relationships xmlns="http://schemas.openxmlformats.org/package/2006/relationships"><Relationship Type="http://schemas.openxmlformats.org/officeDocument/2006/relationships/slide" Target="/ppt/slides/slide2.xml" Id="R70e0b51f6a1b4603" /><Relationship Type="http://schemas.openxmlformats.org/officeDocument/2006/relationships/notesMaster" Target="/ppt/notesMasters/notesMaster1.xml" Id="R7e6567ce8cfa4cef" /></Relationships>
</file>

<file path=ppt/notesSlides/_rels/notesSlide3.xml.rels>&#65279;<?xml version="1.0" encoding="utf-8"?><Relationships xmlns="http://schemas.openxmlformats.org/package/2006/relationships"><Relationship Type="http://schemas.openxmlformats.org/officeDocument/2006/relationships/slide" Target="/ppt/slides/slide3.xml" Id="R81484dc0ddf4480b" /><Relationship Type="http://schemas.openxmlformats.org/officeDocument/2006/relationships/notesMaster" Target="/ppt/notesMasters/notesMaster1.xml" Id="R5a8ca865077c470a" /></Relationships>
</file>

<file path=ppt/notesSlides/_rels/notesSlide4.xml.rels>&#65279;<?xml version="1.0" encoding="utf-8"?><Relationships xmlns="http://schemas.openxmlformats.org/package/2006/relationships"><Relationship Type="http://schemas.openxmlformats.org/officeDocument/2006/relationships/slide" Target="/ppt/slides/slide4.xml" Id="R037e7bbab8984a66" /><Relationship Type="http://schemas.openxmlformats.org/officeDocument/2006/relationships/notesMaster" Target="/ppt/notesMasters/notesMaster1.xml" Id="Read2c7a3d7c64aa1" /></Relationships>
</file>

<file path=ppt/notesSlides/_rels/notesSlide5.xml.rels>&#65279;<?xml version="1.0" encoding="utf-8"?><Relationships xmlns="http://schemas.openxmlformats.org/package/2006/relationships"><Relationship Type="http://schemas.openxmlformats.org/officeDocument/2006/relationships/slide" Target="/ppt/slides/slide5.xml" Id="R835f36e16f444f28" /><Relationship Type="http://schemas.openxmlformats.org/officeDocument/2006/relationships/notesMaster" Target="/ppt/notesMasters/notesMaster1.xml" Id="R19f00aef103f47f9" /></Relationships>
</file>

<file path=ppt/notesSlides/_rels/notesSlide6.xml.rels>&#65279;<?xml version="1.0" encoding="utf-8"?><Relationships xmlns="http://schemas.openxmlformats.org/package/2006/relationships"><Relationship Type="http://schemas.openxmlformats.org/officeDocument/2006/relationships/slide" Target="/ppt/slides/slide6.xml" Id="R43ec4c6f350e44b3" /><Relationship Type="http://schemas.openxmlformats.org/officeDocument/2006/relationships/notesMaster" Target="/ppt/notesMasters/notesMaster1.xml" Id="Rfc4deefea08546de" /></Relationships>
</file>

<file path=ppt/notesSlides/_rels/notesSlide7.xml.rels>&#65279;<?xml version="1.0" encoding="utf-8"?><Relationships xmlns="http://schemas.openxmlformats.org/package/2006/relationships"><Relationship Type="http://schemas.openxmlformats.org/officeDocument/2006/relationships/slide" Target="/ppt/slides/slide7.xml" Id="R08ae3ac07a99424a" /><Relationship Type="http://schemas.openxmlformats.org/officeDocument/2006/relationships/notesMaster" Target="/ppt/notesMasters/notesMaster1.xml" Id="R2e6e33e80df94a61" /></Relationships>
</file>

<file path=ppt/notesSlides/_rels/notesSlide8.xml.rels>&#65279;<?xml version="1.0" encoding="utf-8"?><Relationships xmlns="http://schemas.openxmlformats.org/package/2006/relationships"><Relationship Type="http://schemas.openxmlformats.org/officeDocument/2006/relationships/slide" Target="/ppt/slides/slide8.xml" Id="Rb632563adcb840bf" /><Relationship Type="http://schemas.openxmlformats.org/officeDocument/2006/relationships/notesMaster" Target="/ppt/notesMasters/notesMaster1.xml" Id="Ra7f28754d5534205" /></Relationships>
</file>

<file path=ppt/notesSlides/_rels/notesSlide9.xml.rels>&#65279;<?xml version="1.0" encoding="utf-8"?><Relationships xmlns="http://schemas.openxmlformats.org/package/2006/relationships"><Relationship Type="http://schemas.openxmlformats.org/officeDocument/2006/relationships/slide" Target="/ppt/slides/slide9.xml" Id="Ra337ee0766bf4f26" /><Relationship Type="http://schemas.openxmlformats.org/officeDocument/2006/relationships/notesMaster" Target="/ppt/notesMasters/notesMaster1.xml" Id="R0258556c7e024e6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37fca1281504920" /><Relationship Type="http://schemas.openxmlformats.org/officeDocument/2006/relationships/notesMaster" Target="/ppt/notesMasters/notesMaster1.xml" Id="R2b3908be9b9341c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Synthetic prototype. No real funds or institutional identities. Live dashboard connected to the local two-organization Drunix test network. API scenario checks, actual MVCC conflict, unauthorized MSP rejection and restart persistence passed. All payment execution remains synthetic. Team identity and portal PS wording require confirmation.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sources checked 30 September 2026. Nexus https://docs.nexusglobalpayments.org/payment-processing/key-points describes first-release manual investigations, recalls and disputes and possible future automation. This is documentation, not proof of present deployed release status. Swift https://www.swift.com/products/case-management proves an established competitive category, not our savings.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Nexus payment-priority handling https://docs.nexusglobalpayments.org/payment-processing/time-critical-vs-non-time-critical-payments distinguishes scheme-specific status and cancellation behavior. Our rule is a conservative prototype policy, not a universal Nexus cancellation implementation. Node/Go shared conformance tests and browser flow implement the illustrated sequence.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live dashboard screenshot: custom accepted SGD125 quote, INR7500 recipient commitment, timeout and denied refund. Full API check: 36 VALID transactions across five scenarios. Browser late credit and both closure acknowledgments also verified. No real payments. Receipts in submission/drunix-dashboard-evidence.json and drunix-browser-evidence.json.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Live exports are compared with the current authenticated Drunix workspace. Altered and truncated exports were rejected. This is an online comparison, not offline cryptographic block verification. Persisted exact request identities support safe reconciliation of uncertain commits. Actual same-version proposals produced one VALID and one MVCC_READ_CONFLICT commit. Both lite peers restarted with identical state: 17 cases and 122 events at the checkpoint. See submission/drunix-dashboard-evidence.json and drunix-resilience-evidence.json.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Browser to Node24 HTTP API to TLS certificate-bound Go gateway to chaincode on a two-organization Drunix test network, AND endorsement. YugabyteDB state stores. Source pinned ddc0eae778158d3f8a96605cfeda383ae5eafcfc with two documented SQL bookmark patches needed for the expanded range-query workload. Node server holds generated test credentials for both organizations. Independent institutional custody is not demonstrated. Default npm start remains a separately labelled SQLite signed fallback. Official network https://github.com/npci/drunix/blob/main/drunix-network/test-network/README.md. See docs/LIVE-DASHBOARD.md.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Nexus status semantics: https://docs.nexusglobalpayments.org/messaging-and-translation/message-pacs.002-payment-status-report and https://docs.nexusglobalpayments.org/payment-processing/time-critical-vs-non-time-critical-payments. Implemented src/operations.js and src/status-inbox.js normalize explicitly synthetic JSON. This is not ISO 20022 XML parsing, certified compatibility or authenticated rail evidence. Live test held pending without state mutation, committed partial credit, replayed exactly once, rejected changed message contents and held contradictory rejection. Inbox metadata is local; accepted observations go through the existing ledger contract. See submission/drunix-operations-evidence.json.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screenshot of live local Drunix dashboard. Implemented operations read model derives missing owners/approvals, idle age, conflict/compliance/uncertain review flags and synthetic commitment totals. Fifteen-minute threshold is prototype operational configuration, not a Nexus SLA. Case dossier includes full workspace context and local adapter dispositions; packet digest alone is not provenance or block inclusion. Fresh Org1 and Org2 queries matched 133 events at the pictured checkpoint. Sequential queries can differ during a commit. See docs/OPERATIONS.md and submission/drunix-operations-browser-evidence.json.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Nexus investigation service desk and possible future ISO20022 automation: https://docs.nexusglobalpayments.org/payment-processing/key-points. Swift Case Management and network-agnostic E&amp;I: https://www.swift.com/products/case-management and https://www.swift.com/news-events/news/transforming-exceptions-and-investigations. Trusted database alternative is our architecture inference. No feature superiority or unmet buyer need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Hypotheses, not validated outcomes. Candidate buyers: PSP operations teams or corridor operator. Shadow pilot should compare existing workflows and trusted-database baseline with Drunix. Measure staff minutes, counterparty contacts, evidence rework and resolution time excluding rail waiting. No partners, savings percentage, market size or pricing validated.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5987f91c0034f6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29cc5c2d7024783" /><Relationship Type="http://schemas.openxmlformats.org/officeDocument/2006/relationships/slideLayout" Target="/ppt/slideLayouts/slideLayout1.xml" Id="R70d30616eb8d4e6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0d30616eb8d4e6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4b99ec5be694313" /><Relationship Type="http://schemas.openxmlformats.org/officeDocument/2006/relationships/notesSlide" Target="/ppt/notesSlides/notesSlide1.xml" Id="R6fa8f4a90c884f3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651587ab1d0450e" /><Relationship Type="http://schemas.openxmlformats.org/officeDocument/2006/relationships/notesSlide" Target="/ppt/notesSlides/notesSlide2.xml" Id="R7121bdeda9a7426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ba2a20259d54c7f" /><Relationship Type="http://schemas.openxmlformats.org/officeDocument/2006/relationships/notesSlide" Target="/ppt/notesSlides/notesSlide3.xml" Id="R13e9927e97c3428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94167a4e43b46b6" /><Relationship Type="http://schemas.openxmlformats.org/officeDocument/2006/relationships/image" Target="/ppt/media/image.jpeg" Id="R7b8aa68f023e40a6" /><Relationship Type="http://schemas.openxmlformats.org/officeDocument/2006/relationships/notesSlide" Target="/ppt/notesSlides/notesSlide4.xml" Id="R18a9f396cf264a5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d5d07ea187d45e1" /><Relationship Type="http://schemas.openxmlformats.org/officeDocument/2006/relationships/notesSlide" Target="/ppt/notesSlides/notesSlide5.xml" Id="Raafbccabcfb347f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6e98b4436704e64" /><Relationship Type="http://schemas.openxmlformats.org/officeDocument/2006/relationships/notesSlide" Target="/ppt/notesSlides/notesSlide6.xml" Id="R510459ac881549c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d53e8225d514bf2" /><Relationship Type="http://schemas.openxmlformats.org/officeDocument/2006/relationships/notesSlide" Target="/ppt/notesSlides/notesSlide7.xml" Id="Rb98bfbed5b2b407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6f691d500264fbe" /><Relationship Type="http://schemas.openxmlformats.org/officeDocument/2006/relationships/image" Target="/ppt/media/image2.jpeg" Id="R0635db41411b40a2" /><Relationship Type="http://schemas.openxmlformats.org/officeDocument/2006/relationships/notesSlide" Target="/ppt/notesSlides/notesSlide8.xml" Id="Recbd3ca958c0485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b414b3740154281" /><Relationship Type="http://schemas.openxmlformats.org/officeDocument/2006/relationships/notesSlide" Target="/ppt/notesSlides/notesSlide9.xml" Id="Rb4b5c6f455e84fe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9969df2f5254b6b" /><Relationship Type="http://schemas.openxmlformats.org/officeDocument/2006/relationships/notesSlide" Target="/ppt/notesSlides/notesSlide10.xml" Id="Re5289f4ddd2145c7" /></Relationships>
</file>

<file path=ppt/slides/slide1.xml><?xml version="1.0" encoding="utf-8"?>
<p:sld xmlns:p="http://schemas.openxmlformats.org/presentationml/2006/main">
  <p:cSld>
    <p:bg>
      <p:bgPr>
        <a:solidFill xmlns:a="http://schemas.openxmlformats.org/drawingml/2006/main">
          <a:srgbClr val="173D33"/>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759126D-763E-44D4-9546-753528FEF194}"/>
              </a:ext>
            </a:extLst>
          </p:cNvPr>
          <p:cNvSpPr>
            <a:spLocks xmlns:a="http://schemas.openxmlformats.org/drawingml/2006/main" noGrp="1"/>
          </p:cNvSpPr>
          <p:nvPr/>
        </p:nvSpPr>
        <p:spPr>
          <a:xfrm xmlns:a="http://schemas.openxmlformats.org/drawingml/2006/main">
            <a:off x="647700" y="40005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93D5B7"/>
                </a:solidFill>
                <a:latin typeface="Arial"/>
                <a:ea typeface="Arial"/>
                <a:cs typeface="Arial"/>
              </a:defRPr>
            </a:pPr>
            <a:r>
              <a:rPr sz="1125" b="1">
                <a:solidFill>
                  <a:srgbClr val="93D5B7"/>
                </a:solidFill>
                <a:latin typeface="Arial"/>
                <a:ea typeface="Arial"/>
                <a:cs typeface="Arial"/>
              </a:rPr>
              <a:t>CROSS-BORDER EXCEPTION OPERATIONS</a:t>
            </a:r>
          </a:p>
        </p:txBody>
      </p:sp>
      <p:sp>
        <p:nvSpPr>
          <p:cNvPr id="2" name="">
            <a:extLst xmlns:a="http://schemas.openxmlformats.org/drawingml/2006/main">
              <a:ext uri="{FF2B5EF4-FFF2-40B4-BE49-F238E27FC236}">
                <a16:creationId xmlns:a16="http://schemas.microsoft.com/office/drawing/2014/main" id="{4F7AAB89-F9BB-447E-BC84-963D4A7D672E}"/>
              </a:ext>
            </a:extLst>
          </p:cNvPr>
          <p:cNvSpPr>
            <a:spLocks xmlns:a="http://schemas.openxmlformats.org/drawingml/2006/main" noGrp="1"/>
          </p:cNvSpPr>
          <p:nvPr/>
        </p:nvSpPr>
        <p:spPr>
          <a:xfrm xmlns:a="http://schemas.openxmlformats.org/drawingml/2006/main">
            <a:off x="647700" y="914400"/>
            <a:ext cx="10896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CorridorProof</a:t>
            </a:r>
          </a:p>
        </p:txBody>
      </p:sp>
      <p:sp>
        <p:nvSpPr>
          <p:cNvPr id="3" name="">
            <a:extLst xmlns:a="http://schemas.openxmlformats.org/drawingml/2006/main">
              <a:ext uri="{FF2B5EF4-FFF2-40B4-BE49-F238E27FC236}">
                <a16:creationId xmlns:a16="http://schemas.microsoft.com/office/drawing/2014/main" id="{CED1682E-0E44-4022-8463-F50B3F966094}"/>
              </a:ext>
            </a:extLst>
          </p:cNvPr>
          <p:cNvSpPr>
            <a:spLocks xmlns:a="http://schemas.openxmlformats.org/drawingml/2006/main" noGrp="1"/>
          </p:cNvSpPr>
          <p:nvPr/>
        </p:nvSpPr>
        <p:spPr>
          <a:xfrm xmlns:a="http://schemas.openxmlformats.org/drawingml/2006/main">
            <a:off x="647700" y="6334125"/>
            <a:ext cx="933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93D5B7"/>
                </a:solidFill>
                <a:latin typeface="Arial"/>
                <a:ea typeface="Arial"/>
                <a:cs typeface="Arial"/>
              </a:defRPr>
            </a:pPr>
            <a:r>
              <a:rPr sz="1050" b="0">
                <a:solidFill>
                  <a:srgbClr val="93D5B7"/>
                </a:solidFill>
                <a:latin typeface="Arial"/>
                <a:ea typeface="Arial"/>
                <a:cs typeface="Arial"/>
              </a:rPr>
              <a:t>CorridorProof   /   Drunix hackathon prototype</a:t>
            </a:r>
          </a:p>
        </p:txBody>
      </p:sp>
      <p:sp>
        <p:nvSpPr>
          <p:cNvPr id="4" name="">
            <a:extLst xmlns:a="http://schemas.openxmlformats.org/drawingml/2006/main">
              <a:ext uri="{FF2B5EF4-FFF2-40B4-BE49-F238E27FC236}">
                <a16:creationId xmlns:a16="http://schemas.microsoft.com/office/drawing/2014/main" id="{95BF7C42-AAF3-41D6-978A-5E1FC99D9B83}"/>
              </a:ext>
            </a:extLst>
          </p:cNvPr>
          <p:cNvSpPr>
            <a:spLocks xmlns:a="http://schemas.openxmlformats.org/drawingml/2006/main" noGrp="1"/>
          </p:cNvSpPr>
          <p:nvPr/>
        </p:nvSpPr>
        <p:spPr>
          <a:xfrm xmlns:a="http://schemas.openxmlformats.org/drawingml/2006/main">
            <a:off x="11049000" y="633412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93D5B7"/>
                </a:solidFill>
                <a:latin typeface="Arial"/>
                <a:ea typeface="Arial"/>
                <a:cs typeface="Arial"/>
              </a:defRPr>
            </a:pPr>
            <a:r>
              <a:rPr sz="1050" b="0">
                <a:solidFill>
                  <a:srgbClr val="93D5B7"/>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7A60C2F9-E995-4641-AD9F-9B153681C759}"/>
              </a:ext>
            </a:extLst>
          </p:cNvPr>
          <p:cNvSpPr>
            <a:spLocks xmlns:a="http://schemas.openxmlformats.org/drawingml/2006/main" noGrp="1"/>
          </p:cNvSpPr>
          <p:nvPr/>
        </p:nvSpPr>
        <p:spPr>
          <a:xfrm xmlns:a="http://schemas.openxmlformats.org/drawingml/2006/main">
            <a:off x="647700" y="2266950"/>
            <a:ext cx="1000125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00" b="1">
                <a:solidFill>
                  <a:srgbClr val="FFFFFF"/>
                </a:solidFill>
                <a:latin typeface="Arial"/>
                <a:ea typeface="Arial"/>
                <a:cs typeface="Arial"/>
              </a:defRPr>
            </a:pPr>
            <a:r>
              <a:rPr sz="4200" b="1">
                <a:solidFill>
                  <a:srgbClr val="FFFFFF"/>
                </a:solidFill>
                <a:latin typeface="Arial"/>
                <a:ea typeface="Arial"/>
                <a:cs typeface="Arial"/>
              </a:rPr>
              <a:t>Shared evidence for</a:t>
            </a:r>
          </a:p>
          <a:p xmlns:a="http://schemas.openxmlformats.org/drawingml/2006/main">
            <a:pPr>
              <a:defRPr sz="4200" b="1">
                <a:solidFill>
                  <a:srgbClr val="FFFFFF"/>
                </a:solidFill>
                <a:latin typeface="Arial"/>
                <a:ea typeface="Arial"/>
                <a:cs typeface="Arial"/>
              </a:defRPr>
            </a:pPr>
            <a:r>
              <a:rPr sz="4200" b="1">
                <a:solidFill>
                  <a:srgbClr val="FFFFFF"/>
                </a:solidFill>
                <a:latin typeface="Arial"/>
                <a:ea typeface="Arial"/>
                <a:cs typeface="Arial"/>
              </a:rPr>
              <a:t>uncertain payment outcomes</a:t>
            </a:r>
          </a:p>
        </p:txBody>
      </p:sp>
      <p:sp>
        <p:nvSpPr>
          <p:cNvPr id="6" name="">
            <a:extLst xmlns:a="http://schemas.openxmlformats.org/drawingml/2006/main">
              <a:ext uri="{FF2B5EF4-FFF2-40B4-BE49-F238E27FC236}">
                <a16:creationId xmlns:a16="http://schemas.microsoft.com/office/drawing/2014/main" id="{8918753F-2127-4D50-8F7D-07D0983A57D6}"/>
              </a:ext>
            </a:extLst>
          </p:cNvPr>
          <p:cNvSpPr>
            <a:spLocks xmlns:a="http://schemas.openxmlformats.org/drawingml/2006/main" noGrp="1"/>
          </p:cNvSpPr>
          <p:nvPr/>
        </p:nvSpPr>
        <p:spPr>
          <a:xfrm xmlns:a="http://schemas.openxmlformats.org/drawingml/2006/main">
            <a:off x="647700" y="4210050"/>
            <a:ext cx="9525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93D5B7"/>
                </a:solidFill>
                <a:latin typeface="Arial"/>
                <a:ea typeface="Arial"/>
                <a:cs typeface="Arial"/>
              </a:defRPr>
            </a:pPr>
            <a:r>
              <a:rPr sz="2175" b="0">
                <a:solidFill>
                  <a:srgbClr val="93D5B7"/>
                </a:solidFill>
                <a:latin typeface="Arial"/>
                <a:ea typeface="Arial"/>
                <a:cs typeface="Arial"/>
              </a:rPr>
              <a:t>Sender and receiver teams agree a safe resolution</a:t>
            </a:r>
          </a:p>
          <a:p xmlns:a="http://schemas.openxmlformats.org/drawingml/2006/main">
            <a:pPr>
              <a:defRPr sz="2175" b="0">
                <a:solidFill>
                  <a:srgbClr val="93D5B7"/>
                </a:solidFill>
                <a:latin typeface="Arial"/>
                <a:ea typeface="Arial"/>
                <a:cs typeface="Arial"/>
              </a:defRPr>
            </a:pPr>
            <a:r>
              <a:rPr sz="2175" b="0">
                <a:solidFill>
                  <a:srgbClr val="93D5B7"/>
                </a:solidFill>
                <a:latin typeface="Arial"/>
                <a:ea typeface="Arial"/>
                <a:cs typeface="Arial"/>
              </a:rPr>
              <a:t>from an attributable case record.</a:t>
            </a:r>
          </a:p>
        </p:txBody>
      </p:sp>
      <p:sp>
        <p:nvSpPr>
          <p:cNvPr id="7" name="">
            <a:extLst xmlns:a="http://schemas.openxmlformats.org/drawingml/2006/main">
              <a:ext uri="{FF2B5EF4-FFF2-40B4-BE49-F238E27FC236}">
                <a16:creationId xmlns:a16="http://schemas.microsoft.com/office/drawing/2014/main" id="{05CEB2C2-074F-4081-863A-324F3849F35B}"/>
              </a:ext>
            </a:extLst>
          </p:cNvPr>
          <p:cNvSpPr>
            <a:spLocks xmlns:a="http://schemas.openxmlformats.org/drawingml/2006/main" noGrp="1"/>
          </p:cNvSpPr>
          <p:nvPr/>
        </p:nvSpPr>
        <p:spPr>
          <a:xfrm xmlns:a="http://schemas.openxmlformats.org/drawingml/2006/main">
            <a:off x="647700" y="55435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FFFFFF"/>
                </a:solidFill>
                <a:latin typeface="Arial"/>
                <a:ea typeface="Arial"/>
                <a:cs typeface="Arial"/>
              </a:defRPr>
            </a:pPr>
            <a:r>
              <a:rPr sz="1500" b="0">
                <a:solidFill>
                  <a:srgbClr val="FFFFFF"/>
                </a:solidFill>
                <a:latin typeface="Arial"/>
                <a:ea typeface="Arial"/>
                <a:cs typeface="Arial"/>
              </a:rPr>
              <a:t>Live Drunix dashboard   /   Synthetic payment rails</a:t>
            </a:r>
          </a:p>
        </p:txBody>
      </p:sp>
    </p:spTree>
    <p:extLst>
      <p:ext uri="{BB962C8B-B14F-4D97-AF65-F5344CB8AC3E}">
        <p14:creationId xmlns:p14="http://schemas.microsoft.com/office/powerpoint/2010/main" val="407890533"/>
      </p:ext>
    </p:extLst>
  </p:cSld>
</p:sld>
</file>

<file path=ppt/slides/slide2.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4D9BE94-75FD-45FC-9631-CB095E815BA5}"/>
              </a:ext>
            </a:extLst>
          </p:cNvPr>
          <p:cNvSpPr>
            <a:spLocks xmlns:a="http://schemas.openxmlformats.org/drawingml/2006/main" noGrp="1"/>
          </p:cNvSpPr>
          <p:nvPr/>
        </p:nvSpPr>
        <p:spPr>
          <a:xfrm xmlns:a="http://schemas.openxmlformats.org/drawingml/2006/main">
            <a:off x="647700" y="40005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327C63"/>
                </a:solidFill>
                <a:latin typeface="Arial"/>
                <a:ea typeface="Arial"/>
                <a:cs typeface="Arial"/>
              </a:defRPr>
            </a:pPr>
            <a:r>
              <a:rPr sz="1125" b="1">
                <a:solidFill>
                  <a:srgbClr val="327C63"/>
                </a:solidFill>
                <a:latin typeface="Arial"/>
                <a:ea typeface="Arial"/>
                <a:cs typeface="Arial"/>
              </a:rPr>
              <a:t>PROBLEM EVIDENCE</a:t>
            </a:r>
          </a:p>
        </p:txBody>
      </p:sp>
      <p:sp>
        <p:nvSpPr>
          <p:cNvPr id="2" name="">
            <a:extLst xmlns:a="http://schemas.openxmlformats.org/drawingml/2006/main">
              <a:ext uri="{FF2B5EF4-FFF2-40B4-BE49-F238E27FC236}">
                <a16:creationId xmlns:a16="http://schemas.microsoft.com/office/drawing/2014/main" id="{302FE1A8-7246-4C95-9D5C-962B546D6530}"/>
              </a:ext>
            </a:extLst>
          </p:cNvPr>
          <p:cNvSpPr>
            <a:spLocks xmlns:a="http://schemas.openxmlformats.org/drawingml/2006/main" noGrp="1"/>
          </p:cNvSpPr>
          <p:nvPr/>
        </p:nvSpPr>
        <p:spPr>
          <a:xfrm xmlns:a="http://schemas.openxmlformats.org/drawingml/2006/main">
            <a:off x="647700" y="914400"/>
            <a:ext cx="10896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3D33"/>
                </a:solidFill>
                <a:latin typeface="Arial"/>
                <a:ea typeface="Arial"/>
                <a:cs typeface="Arial"/>
              </a:defRPr>
            </a:pPr>
            <a:r>
              <a:rPr sz="3450" b="1">
                <a:solidFill>
                  <a:srgbClr val="173D33"/>
                </a:solidFill>
                <a:latin typeface="Arial"/>
                <a:ea typeface="Arial"/>
                <a:cs typeface="Arial"/>
              </a:rPr>
              <a:t>Manual exceptions remain a documented requirement</a:t>
            </a:r>
          </a:p>
        </p:txBody>
      </p:sp>
      <p:sp>
        <p:nvSpPr>
          <p:cNvPr id="3" name="">
            <a:extLst xmlns:a="http://schemas.openxmlformats.org/drawingml/2006/main">
              <a:ext uri="{FF2B5EF4-FFF2-40B4-BE49-F238E27FC236}">
                <a16:creationId xmlns:a16="http://schemas.microsoft.com/office/drawing/2014/main" id="{F2BAC66A-25A9-4A85-8CA0-FD687A9F5F72}"/>
              </a:ext>
            </a:extLst>
          </p:cNvPr>
          <p:cNvSpPr>
            <a:spLocks xmlns:a="http://schemas.openxmlformats.org/drawingml/2006/main" noGrp="1"/>
          </p:cNvSpPr>
          <p:nvPr/>
        </p:nvSpPr>
        <p:spPr>
          <a:xfrm xmlns:a="http://schemas.openxmlformats.org/drawingml/2006/main">
            <a:off x="647700" y="6334125"/>
            <a:ext cx="933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E8377"/>
                </a:solidFill>
                <a:latin typeface="Arial"/>
                <a:ea typeface="Arial"/>
                <a:cs typeface="Arial"/>
              </a:defRPr>
            </a:pPr>
            <a:r>
              <a:rPr sz="1050" b="0">
                <a:solidFill>
                  <a:srgbClr val="6E8377"/>
                </a:solidFill>
                <a:latin typeface="Arial"/>
                <a:ea typeface="Arial"/>
                <a:cs typeface="Arial"/>
              </a:rPr>
              <a:t>CorridorProof   /   Drunix hackathon prototype</a:t>
            </a:r>
          </a:p>
        </p:txBody>
      </p:sp>
      <p:sp>
        <p:nvSpPr>
          <p:cNvPr id="4" name="">
            <a:extLst xmlns:a="http://schemas.openxmlformats.org/drawingml/2006/main">
              <a:ext uri="{FF2B5EF4-FFF2-40B4-BE49-F238E27FC236}">
                <a16:creationId xmlns:a16="http://schemas.microsoft.com/office/drawing/2014/main" id="{4ED83F35-D626-4360-9AE7-2189A0BDCA33}"/>
              </a:ext>
            </a:extLst>
          </p:cNvPr>
          <p:cNvSpPr>
            <a:spLocks xmlns:a="http://schemas.openxmlformats.org/drawingml/2006/main" noGrp="1"/>
          </p:cNvSpPr>
          <p:nvPr/>
        </p:nvSpPr>
        <p:spPr>
          <a:xfrm xmlns:a="http://schemas.openxmlformats.org/drawingml/2006/main">
            <a:off x="11049000" y="633412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E8377"/>
                </a:solidFill>
                <a:latin typeface="Arial"/>
                <a:ea typeface="Arial"/>
                <a:cs typeface="Arial"/>
              </a:defRPr>
            </a:pPr>
            <a:r>
              <a:rPr sz="1050" b="0">
                <a:solidFill>
                  <a:srgbClr val="6E8377"/>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D85D3361-A729-4E0F-9F0D-DCA8D56E5FC3}"/>
              </a:ext>
            </a:extLst>
          </p:cNvPr>
          <p:cNvSpPr>
            <a:spLocks xmlns:a="http://schemas.openxmlformats.org/drawingml/2006/main" noGrp="1"/>
          </p:cNvSpPr>
          <p:nvPr/>
        </p:nvSpPr>
        <p:spPr>
          <a:xfrm xmlns:a="http://schemas.openxmlformats.org/drawingml/2006/main">
            <a:off x="647700" y="2333625"/>
            <a:ext cx="10477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73D33"/>
                </a:solidFill>
                <a:latin typeface="Arial"/>
                <a:ea typeface="Arial"/>
                <a:cs typeface="Arial"/>
              </a:defRPr>
            </a:pPr>
            <a:r>
              <a:rPr sz="2700" b="1">
                <a:solidFill>
                  <a:srgbClr val="173D33"/>
                </a:solidFill>
                <a:latin typeface="Arial"/>
                <a:ea typeface="Arial"/>
                <a:cs typeface="Arial"/>
              </a:rPr>
              <a:t>Nexus documentation describes manual handling of</a:t>
            </a:r>
          </a:p>
          <a:p xmlns:a="http://schemas.openxmlformats.org/drawingml/2006/main">
            <a:pPr>
              <a:defRPr sz="2700" b="1">
                <a:solidFill>
                  <a:srgbClr val="173D33"/>
                </a:solidFill>
                <a:latin typeface="Arial"/>
                <a:ea typeface="Arial"/>
                <a:cs typeface="Arial"/>
              </a:defRPr>
            </a:pPr>
            <a:r>
              <a:rPr sz="2700" b="1">
                <a:solidFill>
                  <a:srgbClr val="173D33"/>
                </a:solidFill>
                <a:latin typeface="Arial"/>
                <a:ea typeface="Arial"/>
                <a:cs typeface="Arial"/>
              </a:rPr>
              <a:t>investigations, recalls and disputes in its first release.</a:t>
            </a:r>
          </a:p>
        </p:txBody>
      </p:sp>
      <p:sp>
        <p:nvSpPr>
          <p:cNvPr id="6" name="">
            <a:extLst xmlns:a="http://schemas.openxmlformats.org/drawingml/2006/main">
              <a:ext uri="{FF2B5EF4-FFF2-40B4-BE49-F238E27FC236}">
                <a16:creationId xmlns:a16="http://schemas.microsoft.com/office/drawing/2014/main" id="{125D1E82-79FF-4122-B36D-E7C39B457861}"/>
              </a:ext>
            </a:extLst>
          </p:cNvPr>
          <p:cNvSpPr>
            <a:spLocks xmlns:a="http://schemas.openxmlformats.org/drawingml/2006/main" noGrp="1"/>
          </p:cNvSpPr>
          <p:nvPr/>
        </p:nvSpPr>
        <p:spPr>
          <a:xfrm xmlns:a="http://schemas.openxmlformats.org/drawingml/2006/main">
            <a:off x="647700" y="3771900"/>
            <a:ext cx="952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327C63"/>
                </a:solidFill>
                <a:latin typeface="Arial"/>
                <a:ea typeface="Arial"/>
                <a:cs typeface="Arial"/>
              </a:defRPr>
            </a:pPr>
            <a:r>
              <a:rPr sz="1725" b="1">
                <a:solidFill>
                  <a:srgbClr val="327C63"/>
                </a:solidFill>
                <a:latin typeface="Arial"/>
                <a:ea typeface="Arial"/>
                <a:cs typeface="Arial"/>
              </a:rPr>
              <a:t>Our narrow question</a:t>
            </a:r>
          </a:p>
        </p:txBody>
      </p:sp>
      <p:sp>
        <p:nvSpPr>
          <p:cNvPr id="7" name="">
            <a:extLst xmlns:a="http://schemas.openxmlformats.org/drawingml/2006/main">
              <a:ext uri="{FF2B5EF4-FFF2-40B4-BE49-F238E27FC236}">
                <a16:creationId xmlns:a16="http://schemas.microsoft.com/office/drawing/2014/main" id="{9508CC28-FC71-4FA2-8272-4DA8181F03D0}"/>
              </a:ext>
            </a:extLst>
          </p:cNvPr>
          <p:cNvSpPr>
            <a:spLocks xmlns:a="http://schemas.openxmlformats.org/drawingml/2006/main" noGrp="1"/>
          </p:cNvSpPr>
          <p:nvPr/>
        </p:nvSpPr>
        <p:spPr>
          <a:xfrm xmlns:a="http://schemas.openxmlformats.org/drawingml/2006/main">
            <a:off x="647700" y="427672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73D33"/>
                </a:solidFill>
                <a:latin typeface="Arial"/>
                <a:ea typeface="Arial"/>
                <a:cs typeface="Arial"/>
              </a:defRPr>
            </a:pPr>
            <a:r>
              <a:rPr sz="2325" b="0">
                <a:solidFill>
                  <a:srgbClr val="173D33"/>
                </a:solidFill>
                <a:latin typeface="Arial"/>
                <a:ea typeface="Arial"/>
                <a:cs typeface="Arial"/>
              </a:rPr>
              <a:t>Can two operations teams share the evidence and</a:t>
            </a:r>
          </a:p>
          <a:p xmlns:a="http://schemas.openxmlformats.org/drawingml/2006/main">
            <a:pPr>
              <a:defRPr sz="2325" b="0">
                <a:solidFill>
                  <a:srgbClr val="173D33"/>
                </a:solidFill>
                <a:latin typeface="Arial"/>
                <a:ea typeface="Arial"/>
                <a:cs typeface="Arial"/>
              </a:defRPr>
            </a:pPr>
            <a:r>
              <a:rPr sz="2325" b="0">
                <a:solidFill>
                  <a:srgbClr val="173D33"/>
                </a:solidFill>
                <a:latin typeface="Arial"/>
                <a:ea typeface="Arial"/>
                <a:cs typeface="Arial"/>
              </a:rPr>
              <a:t>approvals needed to resolve uncertain payouts safely?</a:t>
            </a:r>
          </a:p>
        </p:txBody>
      </p:sp>
      <p:sp>
        <p:nvSpPr>
          <p:cNvPr id="8" name="">
            <a:extLst xmlns:a="http://schemas.openxmlformats.org/drawingml/2006/main">
              <a:ext uri="{FF2B5EF4-FFF2-40B4-BE49-F238E27FC236}">
                <a16:creationId xmlns:a16="http://schemas.microsoft.com/office/drawing/2014/main" id="{67CBB3FC-35ED-4963-98A4-D9C7DFA0A40B}"/>
              </a:ext>
            </a:extLst>
          </p:cNvPr>
          <p:cNvSpPr>
            <a:spLocks xmlns:a="http://schemas.openxmlformats.org/drawingml/2006/main" noGrp="1"/>
          </p:cNvSpPr>
          <p:nvPr/>
        </p:nvSpPr>
        <p:spPr>
          <a:xfrm xmlns:a="http://schemas.openxmlformats.org/drawingml/2006/main">
            <a:off x="647700" y="5657850"/>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E8377"/>
                </a:solidFill>
                <a:latin typeface="Arial"/>
                <a:ea typeface="Arial"/>
                <a:cs typeface="Arial"/>
              </a:defRPr>
            </a:pPr>
            <a:r>
              <a:rPr sz="1500" b="0">
                <a:solidFill>
                  <a:srgbClr val="6E8377"/>
                </a:solidFill>
                <a:latin typeface="Arial"/>
                <a:ea typeface="Arial"/>
                <a:cs typeface="Arial"/>
              </a:rPr>
              <a:t>Documentation supports the problem. Partner demand and savings remain unvalidated.</a:t>
            </a:r>
          </a:p>
        </p:txBody>
      </p:sp>
    </p:spTree>
    <p:extLst>
      <p:ext uri="{BB962C8B-B14F-4D97-AF65-F5344CB8AC3E}">
        <p14:creationId xmlns:p14="http://schemas.microsoft.com/office/powerpoint/2010/main" val="475941965"/>
      </p:ext>
    </p:extLst>
  </p:cSld>
</p:sld>
</file>

<file path=ppt/slides/slide3.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CB15D4B-B937-4942-942E-382130153680}"/>
              </a:ext>
            </a:extLst>
          </p:cNvPr>
          <p:cNvSpPr>
            <a:spLocks xmlns:a="http://schemas.openxmlformats.org/drawingml/2006/main" noGrp="1"/>
          </p:cNvSpPr>
          <p:nvPr/>
        </p:nvSpPr>
        <p:spPr>
          <a:xfrm xmlns:a="http://schemas.openxmlformats.org/drawingml/2006/main">
            <a:off x="647700" y="40005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327C63"/>
                </a:solidFill>
                <a:latin typeface="Arial"/>
                <a:ea typeface="Arial"/>
                <a:cs typeface="Arial"/>
              </a:defRPr>
            </a:pPr>
            <a:r>
              <a:rPr sz="1125" b="1">
                <a:solidFill>
                  <a:srgbClr val="327C63"/>
                </a:solidFill>
                <a:latin typeface="Arial"/>
                <a:ea typeface="Arial"/>
                <a:cs typeface="Arial"/>
              </a:rPr>
              <a:t>CORE SAFEGUARD</a:t>
            </a:r>
          </a:p>
        </p:txBody>
      </p:sp>
      <p:sp>
        <p:nvSpPr>
          <p:cNvPr id="2" name="">
            <a:extLst xmlns:a="http://schemas.openxmlformats.org/drawingml/2006/main">
              <a:ext uri="{FF2B5EF4-FFF2-40B4-BE49-F238E27FC236}">
                <a16:creationId xmlns:a16="http://schemas.microsoft.com/office/drawing/2014/main" id="{8AE0A058-2CBB-467A-9875-EA9A76D21316}"/>
              </a:ext>
            </a:extLst>
          </p:cNvPr>
          <p:cNvSpPr>
            <a:spLocks xmlns:a="http://schemas.openxmlformats.org/drawingml/2006/main" noGrp="1"/>
          </p:cNvSpPr>
          <p:nvPr/>
        </p:nvSpPr>
        <p:spPr>
          <a:xfrm xmlns:a="http://schemas.openxmlformats.org/drawingml/2006/main">
            <a:off x="647700" y="914400"/>
            <a:ext cx="10896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3D33"/>
                </a:solidFill>
                <a:latin typeface="Arial"/>
                <a:ea typeface="Arial"/>
                <a:cs typeface="Arial"/>
              </a:defRPr>
            </a:pPr>
            <a:r>
              <a:rPr sz="3450" b="1">
                <a:solidFill>
                  <a:srgbClr val="173D33"/>
                </a:solidFill>
                <a:latin typeface="Arial"/>
                <a:ea typeface="Arial"/>
                <a:cs typeface="Arial"/>
              </a:rPr>
              <a:t>Unknown payout outcomes need reconciliation</a:t>
            </a:r>
          </a:p>
        </p:txBody>
      </p:sp>
      <p:sp>
        <p:nvSpPr>
          <p:cNvPr id="3" name="">
            <a:extLst xmlns:a="http://schemas.openxmlformats.org/drawingml/2006/main">
              <a:ext uri="{FF2B5EF4-FFF2-40B4-BE49-F238E27FC236}">
                <a16:creationId xmlns:a16="http://schemas.microsoft.com/office/drawing/2014/main" id="{6B6DE546-D908-4526-87CB-2C4FCAFF71CC}"/>
              </a:ext>
            </a:extLst>
          </p:cNvPr>
          <p:cNvSpPr>
            <a:spLocks xmlns:a="http://schemas.openxmlformats.org/drawingml/2006/main" noGrp="1"/>
          </p:cNvSpPr>
          <p:nvPr/>
        </p:nvSpPr>
        <p:spPr>
          <a:xfrm xmlns:a="http://schemas.openxmlformats.org/drawingml/2006/main">
            <a:off x="647700" y="6334125"/>
            <a:ext cx="933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E8377"/>
                </a:solidFill>
                <a:latin typeface="Arial"/>
                <a:ea typeface="Arial"/>
                <a:cs typeface="Arial"/>
              </a:defRPr>
            </a:pPr>
            <a:r>
              <a:rPr sz="1050" b="0">
                <a:solidFill>
                  <a:srgbClr val="6E8377"/>
                </a:solidFill>
                <a:latin typeface="Arial"/>
                <a:ea typeface="Arial"/>
                <a:cs typeface="Arial"/>
              </a:rPr>
              <a:t>CorridorProof   /   Drunix hackathon prototype</a:t>
            </a:r>
          </a:p>
        </p:txBody>
      </p:sp>
      <p:sp>
        <p:nvSpPr>
          <p:cNvPr id="4" name="">
            <a:extLst xmlns:a="http://schemas.openxmlformats.org/drawingml/2006/main">
              <a:ext uri="{FF2B5EF4-FFF2-40B4-BE49-F238E27FC236}">
                <a16:creationId xmlns:a16="http://schemas.microsoft.com/office/drawing/2014/main" id="{F97F4D69-698E-4789-8980-2EA124F8BBC0}"/>
              </a:ext>
            </a:extLst>
          </p:cNvPr>
          <p:cNvSpPr>
            <a:spLocks xmlns:a="http://schemas.openxmlformats.org/drawingml/2006/main" noGrp="1"/>
          </p:cNvSpPr>
          <p:nvPr/>
        </p:nvSpPr>
        <p:spPr>
          <a:xfrm xmlns:a="http://schemas.openxmlformats.org/drawingml/2006/main">
            <a:off x="11049000" y="633412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E8377"/>
                </a:solidFill>
                <a:latin typeface="Arial"/>
                <a:ea typeface="Arial"/>
                <a:cs typeface="Arial"/>
              </a:defRPr>
            </a:pPr>
            <a:r>
              <a:rPr sz="1050" b="0">
                <a:solidFill>
                  <a:srgbClr val="6E8377"/>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A85E438B-55E1-4FAF-8A06-D2CB7BF18915}"/>
              </a:ext>
            </a:extLst>
          </p:cNvPr>
          <p:cNvSpPr>
            <a:spLocks xmlns:a="http://schemas.openxmlformats.org/drawingml/2006/main" noGrp="1"/>
          </p:cNvSpPr>
          <p:nvPr/>
        </p:nvSpPr>
        <p:spPr>
          <a:xfrm xmlns:a="http://schemas.openxmlformats.org/drawingml/2006/main">
            <a:off x="647700" y="2333625"/>
            <a:ext cx="4476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73D33"/>
                </a:solidFill>
                <a:latin typeface="Arial"/>
                <a:ea typeface="Arial"/>
                <a:cs typeface="Arial"/>
              </a:defRPr>
            </a:pPr>
            <a:r>
              <a:rPr sz="2850" b="1">
                <a:solidFill>
                  <a:srgbClr val="173D33"/>
                </a:solidFill>
                <a:latin typeface="Arial"/>
                <a:ea typeface="Arial"/>
                <a:cs typeface="Arial"/>
              </a:rPr>
              <a:t>Missing response</a:t>
            </a:r>
          </a:p>
        </p:txBody>
      </p:sp>
      <p:sp>
        <p:nvSpPr>
          <p:cNvPr id="6" name="">
            <a:extLst xmlns:a="http://schemas.openxmlformats.org/drawingml/2006/main">
              <a:ext uri="{FF2B5EF4-FFF2-40B4-BE49-F238E27FC236}">
                <a16:creationId xmlns:a16="http://schemas.microsoft.com/office/drawing/2014/main" id="{260E466F-249B-46AE-A8B1-FE6918160B78}"/>
              </a:ext>
            </a:extLst>
          </p:cNvPr>
          <p:cNvSpPr>
            <a:spLocks xmlns:a="http://schemas.openxmlformats.org/drawingml/2006/main" noGrp="1"/>
          </p:cNvSpPr>
          <p:nvPr/>
        </p:nvSpPr>
        <p:spPr>
          <a:xfrm xmlns:a="http://schemas.openxmlformats.org/drawingml/2006/main">
            <a:off x="6191250" y="2333625"/>
            <a:ext cx="5048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327C63"/>
                </a:solidFill>
                <a:latin typeface="Arial"/>
                <a:ea typeface="Arial"/>
                <a:cs typeface="Arial"/>
              </a:defRPr>
            </a:pPr>
            <a:r>
              <a:rPr sz="2850" b="1">
                <a:solidFill>
                  <a:srgbClr val="327C63"/>
                </a:solidFill>
                <a:latin typeface="Arial"/>
                <a:ea typeface="Arial"/>
                <a:cs typeface="Arial"/>
              </a:rPr>
              <a:t>Status stays unknown</a:t>
            </a:r>
          </a:p>
        </p:txBody>
      </p:sp>
      <p:sp>
        <p:nvSpPr>
          <p:cNvPr id="7" name="">
            <a:extLst xmlns:a="http://schemas.openxmlformats.org/drawingml/2006/main">
              <a:ext uri="{FF2B5EF4-FFF2-40B4-BE49-F238E27FC236}">
                <a16:creationId xmlns:a16="http://schemas.microsoft.com/office/drawing/2014/main" id="{274271E8-7F0C-4858-BE3A-40A3F87E1A19}"/>
              </a:ext>
            </a:extLst>
          </p:cNvPr>
          <p:cNvSpPr>
            <a:spLocks xmlns:a="http://schemas.openxmlformats.org/drawingml/2006/main" noGrp="1"/>
          </p:cNvSpPr>
          <p:nvPr/>
        </p:nvSpPr>
        <p:spPr>
          <a:xfrm xmlns:a="http://schemas.openxmlformats.org/drawingml/2006/main">
            <a:off x="647700" y="3067050"/>
            <a:ext cx="4619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3D33"/>
                </a:solidFill>
                <a:latin typeface="Arial"/>
                <a:ea typeface="Arial"/>
                <a:cs typeface="Arial"/>
              </a:defRPr>
            </a:pPr>
            <a:r>
              <a:rPr sz="2100" b="0">
                <a:solidFill>
                  <a:srgbClr val="173D33"/>
                </a:solidFill>
                <a:latin typeface="Arial"/>
                <a:ea typeface="Arial"/>
                <a:cs typeface="Arial"/>
              </a:rPr>
              <a:t>A timeout records an exception.</a:t>
            </a:r>
          </a:p>
          <a:p xmlns:a="http://schemas.openxmlformats.org/drawingml/2006/main">
            <a:pPr>
              <a:defRPr sz="2100" b="0">
                <a:solidFill>
                  <a:srgbClr val="173D33"/>
                </a:solidFill>
                <a:latin typeface="Arial"/>
                <a:ea typeface="Arial"/>
                <a:cs typeface="Arial"/>
              </a:defRPr>
            </a:pPr>
            <a:r>
              <a:rPr sz="2100" b="0">
                <a:solidFill>
                  <a:srgbClr val="173D33"/>
                </a:solidFill>
                <a:latin typeface="Arial"/>
                <a:ea typeface="Arial"/>
                <a:cs typeface="Arial"/>
              </a:rPr>
              <a:t>It cannot approve a refund.</a:t>
            </a:r>
          </a:p>
        </p:txBody>
      </p:sp>
      <p:sp>
        <p:nvSpPr>
          <p:cNvPr id="8" name="">
            <a:extLst xmlns:a="http://schemas.openxmlformats.org/drawingml/2006/main">
              <a:ext uri="{FF2B5EF4-FFF2-40B4-BE49-F238E27FC236}">
                <a16:creationId xmlns:a16="http://schemas.microsoft.com/office/drawing/2014/main" id="{45D66CF6-5C14-4217-9489-23F87FDFBF57}"/>
              </a:ext>
            </a:extLst>
          </p:cNvPr>
          <p:cNvSpPr>
            <a:spLocks xmlns:a="http://schemas.openxmlformats.org/drawingml/2006/main" noGrp="1"/>
          </p:cNvSpPr>
          <p:nvPr/>
        </p:nvSpPr>
        <p:spPr>
          <a:xfrm xmlns:a="http://schemas.openxmlformats.org/drawingml/2006/main">
            <a:off x="6191250" y="3067050"/>
            <a:ext cx="5048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3D33"/>
                </a:solidFill>
                <a:latin typeface="Arial"/>
                <a:ea typeface="Arial"/>
                <a:cs typeface="Arial"/>
              </a:defRPr>
            </a:pPr>
            <a:r>
              <a:rPr sz="2100" b="0">
                <a:solidFill>
                  <a:srgbClr val="173D33"/>
                </a:solidFill>
                <a:latin typeface="Arial"/>
                <a:ea typeface="Arial"/>
                <a:cs typeface="Arial"/>
              </a:rPr>
              <a:t>Receiver evidence determines</a:t>
            </a:r>
          </a:p>
          <a:p xmlns:a="http://schemas.openxmlformats.org/drawingml/2006/main">
            <a:pPr>
              <a:defRPr sz="2100" b="0">
                <a:solidFill>
                  <a:srgbClr val="173D33"/>
                </a:solidFill>
                <a:latin typeface="Arial"/>
                <a:ea typeface="Arial"/>
                <a:cs typeface="Arial"/>
              </a:defRPr>
            </a:pPr>
            <a:r>
              <a:rPr sz="2100" b="0">
                <a:solidFill>
                  <a:srgbClr val="173D33"/>
                </a:solidFill>
                <a:latin typeface="Arial"/>
                <a:ea typeface="Arial"/>
                <a:cs typeface="Arial"/>
              </a:rPr>
              <a:t>the next resolution step.</a:t>
            </a:r>
          </a:p>
        </p:txBody>
      </p:sp>
      <p:sp>
        <p:nvSpPr>
          <p:cNvPr id="9" name="">
            <a:extLst xmlns:a="http://schemas.openxmlformats.org/drawingml/2006/main">
              <a:ext uri="{FF2B5EF4-FFF2-40B4-BE49-F238E27FC236}">
                <a16:creationId xmlns:a16="http://schemas.microsoft.com/office/drawing/2014/main" id="{5F8952FC-6103-4597-9858-14F918A71D5F}"/>
              </a:ext>
            </a:extLst>
          </p:cNvPr>
          <p:cNvSpPr>
            <a:spLocks xmlns:a="http://schemas.openxmlformats.org/drawingml/2006/main" noGrp="1"/>
          </p:cNvSpPr>
          <p:nvPr/>
        </p:nvSpPr>
        <p:spPr>
          <a:xfrm xmlns:a="http://schemas.openxmlformats.org/drawingml/2006/main">
            <a:off x="647700" y="4533900"/>
            <a:ext cx="3810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327C63"/>
                </a:solidFill>
                <a:latin typeface="Arial"/>
                <a:ea typeface="Arial"/>
                <a:cs typeface="Arial"/>
              </a:defRPr>
            </a:pPr>
            <a:r>
              <a:rPr sz="2100" b="1">
                <a:solidFill>
                  <a:srgbClr val="327C63"/>
                </a:solidFill>
                <a:latin typeface="Arial"/>
                <a:ea typeface="Arial"/>
                <a:cs typeface="Arial"/>
              </a:rPr>
              <a:t>Late credit</a:t>
            </a:r>
          </a:p>
        </p:txBody>
      </p:sp>
      <p:sp>
        <p:nvSpPr>
          <p:cNvPr id="10" name="">
            <a:extLst xmlns:a="http://schemas.openxmlformats.org/drawingml/2006/main">
              <a:ext uri="{FF2B5EF4-FFF2-40B4-BE49-F238E27FC236}">
                <a16:creationId xmlns:a16="http://schemas.microsoft.com/office/drawing/2014/main" id="{06EA794A-F394-4681-A02B-41B91A15FEB3}"/>
              </a:ext>
            </a:extLst>
          </p:cNvPr>
          <p:cNvSpPr>
            <a:spLocks xmlns:a="http://schemas.openxmlformats.org/drawingml/2006/main" noGrp="1"/>
          </p:cNvSpPr>
          <p:nvPr/>
        </p:nvSpPr>
        <p:spPr>
          <a:xfrm xmlns:a="http://schemas.openxmlformats.org/drawingml/2006/main">
            <a:off x="647700" y="5019675"/>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D33"/>
                </a:solidFill>
                <a:latin typeface="Arial"/>
                <a:ea typeface="Arial"/>
                <a:cs typeface="Arial"/>
              </a:defRPr>
            </a:pPr>
            <a:r>
              <a:rPr sz="2175" b="0">
                <a:solidFill>
                  <a:srgbClr val="173D33"/>
                </a:solidFill>
                <a:latin typeface="Arial"/>
                <a:ea typeface="Arial"/>
                <a:cs typeface="Arial"/>
              </a:rPr>
              <a:t>Both parties acknowledge closure. No refund occurs.</a:t>
            </a:r>
          </a:p>
        </p:txBody>
      </p:sp>
    </p:spTree>
    <p:extLst>
      <p:ext uri="{BB962C8B-B14F-4D97-AF65-F5344CB8AC3E}">
        <p14:creationId xmlns:p14="http://schemas.microsoft.com/office/powerpoint/2010/main" val="452879933"/>
      </p:ext>
    </p:extLst>
  </p:cSld>
</p:sld>
</file>

<file path=ppt/slides/slide4.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2513F0E-9E70-44B1-B91A-CC19A8C8ED36}"/>
              </a:ext>
            </a:extLst>
          </p:cNvPr>
          <p:cNvSpPr>
            <a:spLocks xmlns:a="http://schemas.openxmlformats.org/drawingml/2006/main" noGrp="1"/>
          </p:cNvSpPr>
          <p:nvPr/>
        </p:nvSpPr>
        <p:spPr>
          <a:xfrm xmlns:a="http://schemas.openxmlformats.org/drawingml/2006/main">
            <a:off x="647700" y="40005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327C63"/>
                </a:solidFill>
                <a:latin typeface="Arial"/>
                <a:ea typeface="Arial"/>
                <a:cs typeface="Arial"/>
              </a:defRPr>
            </a:pPr>
            <a:r>
              <a:rPr sz="1125" b="1">
                <a:solidFill>
                  <a:srgbClr val="327C63"/>
                </a:solidFill>
                <a:latin typeface="Arial"/>
                <a:ea typeface="Arial"/>
                <a:cs typeface="Arial"/>
              </a:rPr>
              <a:t>PROTOTYPE DEMONSTRATION</a:t>
            </a:r>
          </a:p>
        </p:txBody>
      </p:sp>
      <p:sp>
        <p:nvSpPr>
          <p:cNvPr id="2" name="">
            <a:extLst xmlns:a="http://schemas.openxmlformats.org/drawingml/2006/main">
              <a:ext uri="{FF2B5EF4-FFF2-40B4-BE49-F238E27FC236}">
                <a16:creationId xmlns:a16="http://schemas.microsoft.com/office/drawing/2014/main" id="{EE9B0DA6-807B-46A9-A03B-C9857B23AD1B}"/>
              </a:ext>
            </a:extLst>
          </p:cNvPr>
          <p:cNvSpPr>
            <a:spLocks xmlns:a="http://schemas.openxmlformats.org/drawingml/2006/main" noGrp="1"/>
          </p:cNvSpPr>
          <p:nvPr/>
        </p:nvSpPr>
        <p:spPr>
          <a:xfrm xmlns:a="http://schemas.openxmlformats.org/drawingml/2006/main">
            <a:off x="647700" y="914400"/>
            <a:ext cx="10896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3D33"/>
                </a:solidFill>
                <a:latin typeface="Arial"/>
                <a:ea typeface="Arial"/>
                <a:cs typeface="Arial"/>
              </a:defRPr>
            </a:pPr>
            <a:r>
              <a:rPr sz="3450" b="1">
                <a:solidFill>
                  <a:srgbClr val="173D33"/>
                </a:solidFill>
                <a:latin typeface="Arial"/>
                <a:ea typeface="Arial"/>
                <a:cs typeface="Arial"/>
              </a:rPr>
              <a:t>Live exception workspace</a:t>
            </a:r>
          </a:p>
        </p:txBody>
      </p:sp>
      <p:sp>
        <p:nvSpPr>
          <p:cNvPr id="3" name="">
            <a:extLst xmlns:a="http://schemas.openxmlformats.org/drawingml/2006/main">
              <a:ext uri="{FF2B5EF4-FFF2-40B4-BE49-F238E27FC236}">
                <a16:creationId xmlns:a16="http://schemas.microsoft.com/office/drawing/2014/main" id="{25120FCC-73A2-43F9-B1CA-E9ED696C722D}"/>
              </a:ext>
            </a:extLst>
          </p:cNvPr>
          <p:cNvSpPr>
            <a:spLocks xmlns:a="http://schemas.openxmlformats.org/drawingml/2006/main" noGrp="1"/>
          </p:cNvSpPr>
          <p:nvPr/>
        </p:nvSpPr>
        <p:spPr>
          <a:xfrm xmlns:a="http://schemas.openxmlformats.org/drawingml/2006/main">
            <a:off x="647700" y="6334125"/>
            <a:ext cx="933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E8377"/>
                </a:solidFill>
                <a:latin typeface="Arial"/>
                <a:ea typeface="Arial"/>
                <a:cs typeface="Arial"/>
              </a:defRPr>
            </a:pPr>
            <a:r>
              <a:rPr sz="1050" b="0">
                <a:solidFill>
                  <a:srgbClr val="6E8377"/>
                </a:solidFill>
                <a:latin typeface="Arial"/>
                <a:ea typeface="Arial"/>
                <a:cs typeface="Arial"/>
              </a:rPr>
              <a:t>CorridorProof   /   Drunix hackathon prototype</a:t>
            </a:r>
          </a:p>
        </p:txBody>
      </p:sp>
      <p:sp>
        <p:nvSpPr>
          <p:cNvPr id="4" name="">
            <a:extLst xmlns:a="http://schemas.openxmlformats.org/drawingml/2006/main">
              <a:ext uri="{FF2B5EF4-FFF2-40B4-BE49-F238E27FC236}">
                <a16:creationId xmlns:a16="http://schemas.microsoft.com/office/drawing/2014/main" id="{843BDA6F-A565-4065-900F-8BEC18B06DEE}"/>
              </a:ext>
            </a:extLst>
          </p:cNvPr>
          <p:cNvSpPr>
            <a:spLocks xmlns:a="http://schemas.openxmlformats.org/drawingml/2006/main" noGrp="1"/>
          </p:cNvSpPr>
          <p:nvPr/>
        </p:nvSpPr>
        <p:spPr>
          <a:xfrm xmlns:a="http://schemas.openxmlformats.org/drawingml/2006/main">
            <a:off x="11049000" y="633412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E8377"/>
                </a:solidFill>
                <a:latin typeface="Arial"/>
                <a:ea typeface="Arial"/>
                <a:cs typeface="Arial"/>
              </a:defRPr>
            </a:pPr>
            <a:r>
              <a:rPr sz="1050" b="0">
                <a:solidFill>
                  <a:srgbClr val="6E8377"/>
                </a:solidFill>
                <a:latin typeface="Arial"/>
                <a:ea typeface="Arial"/>
                <a:cs typeface="Arial"/>
              </a:rPr>
              <a:t>04</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7b8aa68f023e40a6"/>
          <a:stretch xmlns:a="http://schemas.openxmlformats.org/drawingml/2006/main"/>
        </p:blipFill>
        <p:spPr>
          <a:xfrm xmlns:a="http://schemas.openxmlformats.org/drawingml/2006/main">
            <a:off x="1268306" y="2085975"/>
            <a:ext cx="6245438" cy="3905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434CCEE0-1E77-4398-ACA1-72E8D329FABD}"/>
              </a:ext>
            </a:extLst>
          </p:cNvPr>
          <p:cNvSpPr>
            <a:spLocks xmlns:a="http://schemas.openxmlformats.org/drawingml/2006/main" noGrp="1"/>
          </p:cNvSpPr>
          <p:nvPr/>
        </p:nvSpPr>
        <p:spPr>
          <a:xfrm xmlns:a="http://schemas.openxmlformats.org/drawingml/2006/main">
            <a:off x="8705850" y="2219325"/>
            <a:ext cx="285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327C63"/>
                </a:solidFill>
                <a:latin typeface="Arial"/>
                <a:ea typeface="Arial"/>
                <a:cs typeface="Arial"/>
              </a:defRPr>
            </a:pPr>
            <a:r>
              <a:rPr sz="2025" b="1">
                <a:solidFill>
                  <a:srgbClr val="327C63"/>
                </a:solidFill>
                <a:latin typeface="Arial"/>
                <a:ea typeface="Arial"/>
                <a:cs typeface="Arial"/>
              </a:rPr>
              <a:t>Visible safeguards</a:t>
            </a:r>
          </a:p>
        </p:txBody>
      </p:sp>
      <p:sp>
        <p:nvSpPr>
          <p:cNvPr id="7" name="">
            <a:extLst xmlns:a="http://schemas.openxmlformats.org/drawingml/2006/main">
              <a:ext uri="{FF2B5EF4-FFF2-40B4-BE49-F238E27FC236}">
                <a16:creationId xmlns:a16="http://schemas.microsoft.com/office/drawing/2014/main" id="{5A79ADA3-15F2-4C3D-88EC-7F7D86288A8F}"/>
              </a:ext>
            </a:extLst>
          </p:cNvPr>
          <p:cNvSpPr>
            <a:spLocks xmlns:a="http://schemas.openxmlformats.org/drawingml/2006/main" noGrp="1"/>
          </p:cNvSpPr>
          <p:nvPr/>
        </p:nvSpPr>
        <p:spPr>
          <a:xfrm xmlns:a="http://schemas.openxmlformats.org/drawingml/2006/main">
            <a:off x="8705850" y="2876550"/>
            <a:ext cx="29527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D33"/>
                </a:solidFill>
                <a:latin typeface="Arial"/>
                <a:ea typeface="Arial"/>
                <a:cs typeface="Arial"/>
              </a:defRPr>
            </a:pPr>
            <a:r>
              <a:rPr sz="1875" b="0">
                <a:solidFill>
                  <a:srgbClr val="173D33"/>
                </a:solidFill>
                <a:latin typeface="Arial"/>
                <a:ea typeface="Arial"/>
                <a:cs typeface="Arial"/>
              </a:rPr>
              <a:t>Refund denied while</a:t>
            </a:r>
          </a:p>
          <a:p xmlns:a="http://schemas.openxmlformats.org/drawingml/2006/main">
            <a:pPr>
              <a:defRPr sz="1875" b="0">
                <a:solidFill>
                  <a:srgbClr val="173D33"/>
                </a:solidFill>
                <a:latin typeface="Arial"/>
                <a:ea typeface="Arial"/>
                <a:cs typeface="Arial"/>
              </a:defRPr>
            </a:pPr>
            <a:r>
              <a:rPr sz="1875" b="0">
                <a:solidFill>
                  <a:srgbClr val="173D33"/>
                </a:solidFill>
                <a:latin typeface="Arial"/>
                <a:ea typeface="Arial"/>
                <a:cs typeface="Arial"/>
              </a:rPr>
              <a:t>outcome is unknown</a:t>
            </a:r>
          </a:p>
          <a:p xmlns:a="http://schemas.openxmlformats.org/drawingml/2006/main">
            <a:r>
              <a:t/>
            </a:r>
          </a:p>
          <a:p xmlns:a="http://schemas.openxmlformats.org/drawingml/2006/main">
            <a:pPr>
              <a:defRPr sz="1875" b="0">
                <a:solidFill>
                  <a:srgbClr val="173D33"/>
                </a:solidFill>
                <a:latin typeface="Arial"/>
                <a:ea typeface="Arial"/>
                <a:cs typeface="Arial"/>
              </a:defRPr>
            </a:pPr>
            <a:r>
              <a:rPr sz="1875" b="0">
                <a:solidFill>
                  <a:srgbClr val="173D33"/>
                </a:solidFill>
                <a:latin typeface="Arial"/>
                <a:ea typeface="Arial"/>
                <a:cs typeface="Arial"/>
              </a:rPr>
              <a:t>Two organizations</a:t>
            </a:r>
          </a:p>
          <a:p xmlns:a="http://schemas.openxmlformats.org/drawingml/2006/main">
            <a:pPr>
              <a:defRPr sz="1875" b="0">
                <a:solidFill>
                  <a:srgbClr val="173D33"/>
                </a:solidFill>
                <a:latin typeface="Arial"/>
                <a:ea typeface="Arial"/>
                <a:cs typeface="Arial"/>
              </a:defRPr>
            </a:pPr>
            <a:r>
              <a:rPr sz="1875" b="0">
                <a:solidFill>
                  <a:srgbClr val="173D33"/>
                </a:solidFill>
                <a:latin typeface="Arial"/>
                <a:ea typeface="Arial"/>
                <a:cs typeface="Arial"/>
              </a:rPr>
              <a:t>approve corrections</a:t>
            </a:r>
          </a:p>
          <a:p xmlns:a="http://schemas.openxmlformats.org/drawingml/2006/main">
            <a:r>
              <a:t/>
            </a:r>
          </a:p>
          <a:p xmlns:a="http://schemas.openxmlformats.org/drawingml/2006/main">
            <a:pPr>
              <a:defRPr sz="1875" b="0">
                <a:solidFill>
                  <a:srgbClr val="173D33"/>
                </a:solidFill>
                <a:latin typeface="Arial"/>
                <a:ea typeface="Arial"/>
                <a:cs typeface="Arial"/>
              </a:defRPr>
            </a:pPr>
            <a:r>
              <a:rPr sz="1875" b="0">
                <a:solidFill>
                  <a:srgbClr val="173D33"/>
                </a:solidFill>
                <a:latin typeface="Arial"/>
                <a:ea typeface="Arial"/>
                <a:cs typeface="Arial"/>
              </a:rPr>
              <a:t>VALID commit receipts</a:t>
            </a:r>
          </a:p>
          <a:p xmlns:a="http://schemas.openxmlformats.org/drawingml/2006/main">
            <a:pPr>
              <a:defRPr sz="1875" b="0">
                <a:solidFill>
                  <a:srgbClr val="173D33"/>
                </a:solidFill>
                <a:latin typeface="Arial"/>
                <a:ea typeface="Arial"/>
                <a:cs typeface="Arial"/>
              </a:defRPr>
            </a:pPr>
            <a:r>
              <a:rPr sz="1875" b="0">
                <a:solidFill>
                  <a:srgbClr val="173D33"/>
                </a:solidFill>
                <a:latin typeface="Arial"/>
                <a:ea typeface="Arial"/>
                <a:cs typeface="Arial"/>
              </a:rPr>
              <a:t>for accepted and</a:t>
            </a:r>
          </a:p>
          <a:p xmlns:a="http://schemas.openxmlformats.org/drawingml/2006/main">
            <a:pPr>
              <a:defRPr sz="1875" b="0">
                <a:solidFill>
                  <a:srgbClr val="173D33"/>
                </a:solidFill>
                <a:latin typeface="Arial"/>
                <a:ea typeface="Arial"/>
                <a:cs typeface="Arial"/>
              </a:defRPr>
            </a:pPr>
            <a:r>
              <a:rPr sz="1875" b="0">
                <a:solidFill>
                  <a:srgbClr val="173D33"/>
                </a:solidFill>
                <a:latin typeface="Arial"/>
                <a:ea typeface="Arial"/>
                <a:cs typeface="Arial"/>
              </a:rPr>
              <a:t>denied decisions</a:t>
            </a:r>
          </a:p>
        </p:txBody>
      </p:sp>
    </p:spTree>
    <p:extLst>
      <p:ext uri="{BB962C8B-B14F-4D97-AF65-F5344CB8AC3E}">
        <p14:creationId xmlns:p14="http://schemas.microsoft.com/office/powerpoint/2010/main" val="282413868"/>
      </p:ext>
    </p:extLst>
  </p:cSld>
</p:sld>
</file>

<file path=ppt/slides/slide5.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7C0D74B-E52B-4583-BB35-46BF61F79A40}"/>
              </a:ext>
            </a:extLst>
          </p:cNvPr>
          <p:cNvSpPr>
            <a:spLocks xmlns:a="http://schemas.openxmlformats.org/drawingml/2006/main" noGrp="1"/>
          </p:cNvSpPr>
          <p:nvPr/>
        </p:nvSpPr>
        <p:spPr>
          <a:xfrm xmlns:a="http://schemas.openxmlformats.org/drawingml/2006/main">
            <a:off x="647700" y="40005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327C63"/>
                </a:solidFill>
                <a:latin typeface="Arial"/>
                <a:ea typeface="Arial"/>
                <a:cs typeface="Arial"/>
              </a:defRPr>
            </a:pPr>
            <a:r>
              <a:rPr sz="1125" b="1">
                <a:solidFill>
                  <a:srgbClr val="327C63"/>
                </a:solidFill>
                <a:latin typeface="Arial"/>
                <a:ea typeface="Arial"/>
                <a:cs typeface="Arial"/>
              </a:rPr>
              <a:t>VERIFIED IMPLEMENTATION</a:t>
            </a:r>
          </a:p>
        </p:txBody>
      </p:sp>
      <p:sp>
        <p:nvSpPr>
          <p:cNvPr id="2" name="">
            <a:extLst xmlns:a="http://schemas.openxmlformats.org/drawingml/2006/main">
              <a:ext uri="{FF2B5EF4-FFF2-40B4-BE49-F238E27FC236}">
                <a16:creationId xmlns:a16="http://schemas.microsoft.com/office/drawing/2014/main" id="{4BF30D06-2763-4311-BD39-09649F67477E}"/>
              </a:ext>
            </a:extLst>
          </p:cNvPr>
          <p:cNvSpPr>
            <a:spLocks xmlns:a="http://schemas.openxmlformats.org/drawingml/2006/main" noGrp="1"/>
          </p:cNvSpPr>
          <p:nvPr/>
        </p:nvSpPr>
        <p:spPr>
          <a:xfrm xmlns:a="http://schemas.openxmlformats.org/drawingml/2006/main">
            <a:off x="647700" y="914400"/>
            <a:ext cx="10896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3D33"/>
                </a:solidFill>
                <a:latin typeface="Arial"/>
                <a:ea typeface="Arial"/>
                <a:cs typeface="Arial"/>
              </a:defRPr>
            </a:pPr>
            <a:r>
              <a:rPr sz="3450" b="1">
                <a:solidFill>
                  <a:srgbClr val="173D33"/>
                </a:solidFill>
                <a:latin typeface="Arial"/>
                <a:ea typeface="Arial"/>
                <a:cs typeface="Arial"/>
              </a:rPr>
              <a:t>Evidence and recovery controls</a:t>
            </a:r>
          </a:p>
        </p:txBody>
      </p:sp>
      <p:sp>
        <p:nvSpPr>
          <p:cNvPr id="3" name="">
            <a:extLst xmlns:a="http://schemas.openxmlformats.org/drawingml/2006/main">
              <a:ext uri="{FF2B5EF4-FFF2-40B4-BE49-F238E27FC236}">
                <a16:creationId xmlns:a16="http://schemas.microsoft.com/office/drawing/2014/main" id="{D687A271-54AB-4709-AA51-C002609FFB8E}"/>
              </a:ext>
            </a:extLst>
          </p:cNvPr>
          <p:cNvSpPr>
            <a:spLocks xmlns:a="http://schemas.openxmlformats.org/drawingml/2006/main" noGrp="1"/>
          </p:cNvSpPr>
          <p:nvPr/>
        </p:nvSpPr>
        <p:spPr>
          <a:xfrm xmlns:a="http://schemas.openxmlformats.org/drawingml/2006/main">
            <a:off x="647700" y="6334125"/>
            <a:ext cx="933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E8377"/>
                </a:solidFill>
                <a:latin typeface="Arial"/>
                <a:ea typeface="Arial"/>
                <a:cs typeface="Arial"/>
              </a:defRPr>
            </a:pPr>
            <a:r>
              <a:rPr sz="1050" b="0">
                <a:solidFill>
                  <a:srgbClr val="6E8377"/>
                </a:solidFill>
                <a:latin typeface="Arial"/>
                <a:ea typeface="Arial"/>
                <a:cs typeface="Arial"/>
              </a:rPr>
              <a:t>CorridorProof   /   Drunix hackathon prototype</a:t>
            </a:r>
          </a:p>
        </p:txBody>
      </p:sp>
      <p:sp>
        <p:nvSpPr>
          <p:cNvPr id="4" name="">
            <a:extLst xmlns:a="http://schemas.openxmlformats.org/drawingml/2006/main">
              <a:ext uri="{FF2B5EF4-FFF2-40B4-BE49-F238E27FC236}">
                <a16:creationId xmlns:a16="http://schemas.microsoft.com/office/drawing/2014/main" id="{EC03937B-8258-462C-8EE9-0FE948771B2F}"/>
              </a:ext>
            </a:extLst>
          </p:cNvPr>
          <p:cNvSpPr>
            <a:spLocks xmlns:a="http://schemas.openxmlformats.org/drawingml/2006/main" noGrp="1"/>
          </p:cNvSpPr>
          <p:nvPr/>
        </p:nvSpPr>
        <p:spPr>
          <a:xfrm xmlns:a="http://schemas.openxmlformats.org/drawingml/2006/main">
            <a:off x="11049000" y="633412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E8377"/>
                </a:solidFill>
                <a:latin typeface="Arial"/>
                <a:ea typeface="Arial"/>
                <a:cs typeface="Arial"/>
              </a:defRPr>
            </a:pPr>
            <a:r>
              <a:rPr sz="1050" b="0">
                <a:solidFill>
                  <a:srgbClr val="6E8377"/>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6988FF30-95DA-4618-97FB-895E99F87472}"/>
              </a:ext>
            </a:extLst>
          </p:cNvPr>
          <p:cNvSpPr>
            <a:spLocks xmlns:a="http://schemas.openxmlformats.org/drawingml/2006/main" noGrp="1"/>
          </p:cNvSpPr>
          <p:nvPr/>
        </p:nvSpPr>
        <p:spPr>
          <a:xfrm xmlns:a="http://schemas.openxmlformats.org/drawingml/2006/main">
            <a:off x="647700" y="2286000"/>
            <a:ext cx="1028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327C63"/>
                </a:solidFill>
                <a:latin typeface="Arial"/>
                <a:ea typeface="Arial"/>
                <a:cs typeface="Arial"/>
              </a:defRPr>
            </a:pPr>
            <a:r>
              <a:rPr sz="2400" b="1">
                <a:solidFill>
                  <a:srgbClr val="327C63"/>
                </a:solidFill>
                <a:latin typeface="Arial"/>
                <a:ea typeface="Arial"/>
                <a:cs typeface="Arial"/>
              </a:rPr>
              <a:t>Live ledger comparison</a:t>
            </a:r>
          </a:p>
        </p:txBody>
      </p:sp>
      <p:sp>
        <p:nvSpPr>
          <p:cNvPr id="6" name="">
            <a:extLst xmlns:a="http://schemas.openxmlformats.org/drawingml/2006/main">
              <a:ext uri="{FF2B5EF4-FFF2-40B4-BE49-F238E27FC236}">
                <a16:creationId xmlns:a16="http://schemas.microsoft.com/office/drawing/2014/main" id="{F355D28B-BE6B-4D34-8858-4F49F166B31D}"/>
              </a:ext>
            </a:extLst>
          </p:cNvPr>
          <p:cNvSpPr>
            <a:spLocks xmlns:a="http://schemas.openxmlformats.org/drawingml/2006/main" noGrp="1"/>
          </p:cNvSpPr>
          <p:nvPr/>
        </p:nvSpPr>
        <p:spPr>
          <a:xfrm xmlns:a="http://schemas.openxmlformats.org/drawingml/2006/main">
            <a:off x="647700" y="28670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D33"/>
                </a:solidFill>
                <a:latin typeface="Arial"/>
                <a:ea typeface="Arial"/>
                <a:cs typeface="Arial"/>
              </a:defRPr>
            </a:pPr>
            <a:r>
              <a:rPr sz="2175" b="0">
                <a:solidFill>
                  <a:srgbClr val="173D33"/>
                </a:solidFill>
                <a:latin typeface="Arial"/>
                <a:ea typeface="Arial"/>
                <a:cs typeface="Arial"/>
              </a:rPr>
              <a:t>Detect altered or missing exported records by comparing</a:t>
            </a:r>
          </a:p>
          <a:p xmlns:a="http://schemas.openxmlformats.org/drawingml/2006/main">
            <a:pPr>
              <a:defRPr sz="2175" b="0">
                <a:solidFill>
                  <a:srgbClr val="173D33"/>
                </a:solidFill>
                <a:latin typeface="Arial"/>
                <a:ea typeface="Arial"/>
                <a:cs typeface="Arial"/>
              </a:defRPr>
            </a:pPr>
            <a:r>
              <a:rPr sz="2175" b="0">
                <a:solidFill>
                  <a:srgbClr val="173D33"/>
                </a:solidFill>
                <a:latin typeface="Arial"/>
                <a:ea typeface="Arial"/>
                <a:cs typeface="Arial"/>
              </a:rPr>
              <a:t>with the current certificate-authenticated workspace.</a:t>
            </a:r>
          </a:p>
        </p:txBody>
      </p:sp>
      <p:sp>
        <p:nvSpPr>
          <p:cNvPr id="7" name="">
            <a:extLst xmlns:a="http://schemas.openxmlformats.org/drawingml/2006/main">
              <a:ext uri="{FF2B5EF4-FFF2-40B4-BE49-F238E27FC236}">
                <a16:creationId xmlns:a16="http://schemas.microsoft.com/office/drawing/2014/main" id="{3387A7BC-4B41-4FEF-BFB4-15EECFF7C3A7}"/>
              </a:ext>
            </a:extLst>
          </p:cNvPr>
          <p:cNvSpPr>
            <a:spLocks xmlns:a="http://schemas.openxmlformats.org/drawingml/2006/main" noGrp="1"/>
          </p:cNvSpPr>
          <p:nvPr/>
        </p:nvSpPr>
        <p:spPr>
          <a:xfrm xmlns:a="http://schemas.openxmlformats.org/drawingml/2006/main">
            <a:off x="647700" y="4010025"/>
            <a:ext cx="1000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327C63"/>
                </a:solidFill>
                <a:latin typeface="Arial"/>
                <a:ea typeface="Arial"/>
                <a:cs typeface="Arial"/>
              </a:defRPr>
            </a:pPr>
            <a:r>
              <a:rPr sz="2400" b="1">
                <a:solidFill>
                  <a:srgbClr val="327C63"/>
                </a:solidFill>
                <a:latin typeface="Arial"/>
                <a:ea typeface="Arial"/>
                <a:cs typeface="Arial"/>
              </a:rPr>
              <a:t>Safe request recovery</a:t>
            </a:r>
          </a:p>
        </p:txBody>
      </p:sp>
      <p:sp>
        <p:nvSpPr>
          <p:cNvPr id="8" name="">
            <a:extLst xmlns:a="http://schemas.openxmlformats.org/drawingml/2006/main">
              <a:ext uri="{FF2B5EF4-FFF2-40B4-BE49-F238E27FC236}">
                <a16:creationId xmlns:a16="http://schemas.microsoft.com/office/drawing/2014/main" id="{DA28F72C-1ED3-446C-9488-6A83A8D02343}"/>
              </a:ext>
            </a:extLst>
          </p:cNvPr>
          <p:cNvSpPr>
            <a:spLocks xmlns:a="http://schemas.openxmlformats.org/drawingml/2006/main" noGrp="1"/>
          </p:cNvSpPr>
          <p:nvPr/>
        </p:nvSpPr>
        <p:spPr>
          <a:xfrm xmlns:a="http://schemas.openxmlformats.org/drawingml/2006/main">
            <a:off x="647700" y="4562475"/>
            <a:ext cx="10572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D33"/>
                </a:solidFill>
                <a:latin typeface="Arial"/>
                <a:ea typeface="Arial"/>
                <a:cs typeface="Arial"/>
              </a:defRPr>
            </a:pPr>
            <a:r>
              <a:rPr sz="2175" b="0">
                <a:solidFill>
                  <a:srgbClr val="173D33"/>
                </a:solidFill>
                <a:latin typeface="Arial"/>
                <a:ea typeface="Arial"/>
                <a:cs typeface="Arial"/>
              </a:rPr>
              <a:t>Save the exact request before submission. An uncertain</a:t>
            </a:r>
          </a:p>
          <a:p xmlns:a="http://schemas.openxmlformats.org/drawingml/2006/main">
            <a:pPr>
              <a:defRPr sz="2175" b="0">
                <a:solidFill>
                  <a:srgbClr val="173D33"/>
                </a:solidFill>
                <a:latin typeface="Arial"/>
                <a:ea typeface="Arial"/>
                <a:cs typeface="Arial"/>
              </a:defRPr>
            </a:pPr>
            <a:r>
              <a:rPr sz="2175" b="0">
                <a:solidFill>
                  <a:srgbClr val="173D33"/>
                </a:solidFill>
                <a:latin typeface="Arial"/>
                <a:ea typeface="Arial"/>
                <a:cs typeface="Arial"/>
              </a:rPr>
              <a:t>commit blocks replacement actions until reconciliation.</a:t>
            </a:r>
          </a:p>
        </p:txBody>
      </p:sp>
      <p:sp>
        <p:nvSpPr>
          <p:cNvPr id="9" name="">
            <a:extLst xmlns:a="http://schemas.openxmlformats.org/drawingml/2006/main">
              <a:ext uri="{FF2B5EF4-FFF2-40B4-BE49-F238E27FC236}">
                <a16:creationId xmlns:a16="http://schemas.microsoft.com/office/drawing/2014/main" id="{B7493B03-79E4-47E0-9994-772BCE559A98}"/>
              </a:ext>
            </a:extLst>
          </p:cNvPr>
          <p:cNvSpPr>
            <a:spLocks xmlns:a="http://schemas.openxmlformats.org/drawingml/2006/main" noGrp="1"/>
          </p:cNvSpPr>
          <p:nvPr/>
        </p:nvSpPr>
        <p:spPr>
          <a:xfrm xmlns:a="http://schemas.openxmlformats.org/drawingml/2006/main">
            <a:off x="647700" y="5667375"/>
            <a:ext cx="10810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E8377"/>
                </a:solidFill>
                <a:latin typeface="Arial"/>
                <a:ea typeface="Arial"/>
                <a:cs typeface="Arial"/>
              </a:defRPr>
            </a:pPr>
            <a:r>
              <a:rPr sz="1500" b="0">
                <a:solidFill>
                  <a:srgbClr val="6E8377"/>
                </a:solidFill>
                <a:latin typeface="Arial"/>
                <a:ea typeface="Arial"/>
                <a:cs typeface="Arial"/>
              </a:rPr>
              <a:t>Verified: real concurrent-update conflict, rejected untrusted MSP and restart persistence.</a:t>
            </a:r>
          </a:p>
        </p:txBody>
      </p:sp>
    </p:spTree>
    <p:extLst>
      <p:ext uri="{BB962C8B-B14F-4D97-AF65-F5344CB8AC3E}">
        <p14:creationId xmlns:p14="http://schemas.microsoft.com/office/powerpoint/2010/main" val="571998544"/>
      </p:ext>
    </p:extLst>
  </p:cSld>
</p:sld>
</file>

<file path=ppt/slides/slide6.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A90BEB4F-D27B-43CC-BC7A-C2D8AB40D387}"/>
              </a:ext>
            </a:extLst>
          </p:cNvPr>
          <p:cNvSpPr>
            <a:spLocks xmlns:a="http://schemas.openxmlformats.org/drawingml/2006/main" noGrp="1"/>
          </p:cNvSpPr>
          <p:nvPr/>
        </p:nvSpPr>
        <p:spPr>
          <a:xfrm xmlns:a="http://schemas.openxmlformats.org/drawingml/2006/main">
            <a:off x="647700" y="40005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327C63"/>
                </a:solidFill>
                <a:latin typeface="Arial"/>
                <a:ea typeface="Arial"/>
                <a:cs typeface="Arial"/>
              </a:defRPr>
            </a:pPr>
            <a:r>
              <a:rPr sz="1125" b="1">
                <a:solidFill>
                  <a:srgbClr val="327C63"/>
                </a:solidFill>
                <a:latin typeface="Arial"/>
                <a:ea typeface="Arial"/>
                <a:cs typeface="Arial"/>
              </a:rPr>
              <a:t>TECHNICAL IMPLEMENTATION</a:t>
            </a:r>
          </a:p>
        </p:txBody>
      </p:sp>
      <p:sp>
        <p:nvSpPr>
          <p:cNvPr id="2" name="">
            <a:extLst xmlns:a="http://schemas.openxmlformats.org/drawingml/2006/main">
              <a:ext uri="{FF2B5EF4-FFF2-40B4-BE49-F238E27FC236}">
                <a16:creationId xmlns:a16="http://schemas.microsoft.com/office/drawing/2014/main" id="{D1B4095C-900D-48D0-B3DE-4BC07D1A306B}"/>
              </a:ext>
            </a:extLst>
          </p:cNvPr>
          <p:cNvSpPr>
            <a:spLocks xmlns:a="http://schemas.openxmlformats.org/drawingml/2006/main" noGrp="1"/>
          </p:cNvSpPr>
          <p:nvPr/>
        </p:nvSpPr>
        <p:spPr>
          <a:xfrm xmlns:a="http://schemas.openxmlformats.org/drawingml/2006/main">
            <a:off x="647700" y="914400"/>
            <a:ext cx="10896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3D33"/>
                </a:solidFill>
                <a:latin typeface="Arial"/>
                <a:ea typeface="Arial"/>
                <a:cs typeface="Arial"/>
              </a:defRPr>
            </a:pPr>
            <a:r>
              <a:rPr sz="3450" b="1">
                <a:solidFill>
                  <a:srgbClr val="173D33"/>
                </a:solidFill>
                <a:latin typeface="Arial"/>
                <a:ea typeface="Arial"/>
                <a:cs typeface="Arial"/>
              </a:rPr>
              <a:t>Live dashboard architecture</a:t>
            </a:r>
          </a:p>
        </p:txBody>
      </p:sp>
      <p:sp>
        <p:nvSpPr>
          <p:cNvPr id="3" name="">
            <a:extLst xmlns:a="http://schemas.openxmlformats.org/drawingml/2006/main">
              <a:ext uri="{FF2B5EF4-FFF2-40B4-BE49-F238E27FC236}">
                <a16:creationId xmlns:a16="http://schemas.microsoft.com/office/drawing/2014/main" id="{F3F1273B-E566-4A85-82C4-0B29C9E305B7}"/>
              </a:ext>
            </a:extLst>
          </p:cNvPr>
          <p:cNvSpPr>
            <a:spLocks xmlns:a="http://schemas.openxmlformats.org/drawingml/2006/main" noGrp="1"/>
          </p:cNvSpPr>
          <p:nvPr/>
        </p:nvSpPr>
        <p:spPr>
          <a:xfrm xmlns:a="http://schemas.openxmlformats.org/drawingml/2006/main">
            <a:off x="647700" y="6334125"/>
            <a:ext cx="933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E8377"/>
                </a:solidFill>
                <a:latin typeface="Arial"/>
                <a:ea typeface="Arial"/>
                <a:cs typeface="Arial"/>
              </a:defRPr>
            </a:pPr>
            <a:r>
              <a:rPr sz="1050" b="0">
                <a:solidFill>
                  <a:srgbClr val="6E8377"/>
                </a:solidFill>
                <a:latin typeface="Arial"/>
                <a:ea typeface="Arial"/>
                <a:cs typeface="Arial"/>
              </a:rPr>
              <a:t>CorridorProof   /   Drunix hackathon prototype</a:t>
            </a:r>
          </a:p>
        </p:txBody>
      </p:sp>
      <p:sp>
        <p:nvSpPr>
          <p:cNvPr id="4" name="">
            <a:extLst xmlns:a="http://schemas.openxmlformats.org/drawingml/2006/main">
              <a:ext uri="{FF2B5EF4-FFF2-40B4-BE49-F238E27FC236}">
                <a16:creationId xmlns:a16="http://schemas.microsoft.com/office/drawing/2014/main" id="{B2D30207-DA8B-4E83-82C9-B9C0DC12D41B}"/>
              </a:ext>
            </a:extLst>
          </p:cNvPr>
          <p:cNvSpPr>
            <a:spLocks xmlns:a="http://schemas.openxmlformats.org/drawingml/2006/main" noGrp="1"/>
          </p:cNvSpPr>
          <p:nvPr/>
        </p:nvSpPr>
        <p:spPr>
          <a:xfrm xmlns:a="http://schemas.openxmlformats.org/drawingml/2006/main">
            <a:off x="11049000" y="633412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E8377"/>
                </a:solidFill>
                <a:latin typeface="Arial"/>
                <a:ea typeface="Arial"/>
                <a:cs typeface="Arial"/>
              </a:defRPr>
            </a:pPr>
            <a:r>
              <a:rPr sz="1050" b="0">
                <a:solidFill>
                  <a:srgbClr val="6E8377"/>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F34DF5A4-1897-4DAD-987A-75966CC777C3}"/>
              </a:ext>
            </a:extLst>
          </p:cNvPr>
          <p:cNvSpPr>
            <a:spLocks xmlns:a="http://schemas.openxmlformats.org/drawingml/2006/main" noGrp="1"/>
          </p:cNvSpPr>
          <p:nvPr/>
        </p:nvSpPr>
        <p:spPr>
          <a:xfrm xmlns:a="http://schemas.openxmlformats.org/drawingml/2006/main">
            <a:off x="647700" y="2133600"/>
            <a:ext cx="1028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327C63"/>
                </a:solidFill>
                <a:latin typeface="Arial"/>
                <a:ea typeface="Arial"/>
                <a:cs typeface="Arial"/>
              </a:defRPr>
            </a:pPr>
            <a:r>
              <a:rPr sz="1275" b="1">
                <a:solidFill>
                  <a:srgbClr val="327C63"/>
                </a:solidFill>
                <a:latin typeface="Arial"/>
                <a:ea typeface="Arial"/>
                <a:cs typeface="Arial"/>
              </a:rPr>
              <a:t>APPLICATION REQUEST PATH</a:t>
            </a:r>
          </a:p>
        </p:txBody>
      </p:sp>
      <p:sp>
        <p:nvSpPr>
          <p:cNvPr id="6" name="">
            <a:extLst xmlns:a="http://schemas.openxmlformats.org/drawingml/2006/main">
              <a:ext uri="{FF2B5EF4-FFF2-40B4-BE49-F238E27FC236}">
                <a16:creationId xmlns:a16="http://schemas.microsoft.com/office/drawing/2014/main" id="{7EB6D8EC-53E1-4964-8A87-0B7584D19DFE}"/>
              </a:ext>
            </a:extLst>
          </p:cNvPr>
          <p:cNvSpPr>
            <a:spLocks xmlns:a="http://schemas.openxmlformats.org/drawingml/2006/main" noGrp="1"/>
          </p:cNvSpPr>
          <p:nvPr/>
        </p:nvSpPr>
        <p:spPr>
          <a:xfrm xmlns:a="http://schemas.openxmlformats.org/drawingml/2006/main">
            <a:off x="647700" y="2724150"/>
            <a:ext cx="226695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AFCAB9"/>
            </a:solidFill>
          </a:ln>
        </p:spPr>
        <p:txBody>
          <a:bodyPr xmlns:a="http://schemas.openxmlformats.org/drawingml/2006/main">
            <a:noAutofit/>
          </a:bodyPr>
          <a:lstStyle xmlns:a="http://schemas.openxmlformats.org/drawingml/2006/main"/>
          <a:p xmlns:a="http://schemas.openxmlformats.org/drawingml/2006/main">
            <a:pPr>
              <a:defRPr sz="1800" b="1">
                <a:solidFill>
                  <a:srgbClr val="173D33"/>
                </a:solidFill>
                <a:latin typeface="Arial"/>
                <a:ea typeface="Arial"/>
                <a:cs typeface="Arial"/>
              </a:defRPr>
            </a:pPr>
            <a:r>
              <a:rPr sz="1800" b="1">
                <a:solidFill>
                  <a:srgbClr val="173D33"/>
                </a:solidFill>
                <a:latin typeface="Arial"/>
                <a:ea typeface="Arial"/>
                <a:cs typeface="Arial"/>
              </a:rPr>
              <a:t>Browser</a:t>
            </a:r>
          </a:p>
          <a:p xmlns:a="http://schemas.openxmlformats.org/drawingml/2006/main">
            <a:pPr>
              <a:defRPr sz="1800" b="1">
                <a:solidFill>
                  <a:srgbClr val="173D33"/>
                </a:solidFill>
                <a:latin typeface="Arial"/>
                <a:ea typeface="Arial"/>
                <a:cs typeface="Arial"/>
              </a:defRPr>
            </a:pPr>
            <a:r>
              <a:rPr sz="1800" b="1">
                <a:solidFill>
                  <a:srgbClr val="173D33"/>
                </a:solidFill>
                <a:latin typeface="Arial"/>
                <a:ea typeface="Arial"/>
                <a:cs typeface="Arial"/>
              </a:rPr>
              <a:t>dashboard</a:t>
            </a:r>
          </a:p>
        </p:txBody>
      </p:sp>
      <p:sp>
        <p:nvSpPr>
          <p:cNvPr id="7" name="">
            <a:extLst xmlns:a="http://schemas.openxmlformats.org/drawingml/2006/main">
              <a:ext uri="{FF2B5EF4-FFF2-40B4-BE49-F238E27FC236}">
                <a16:creationId xmlns:a16="http://schemas.microsoft.com/office/drawing/2014/main" id="{09FAFA74-3BCE-49D5-A400-1E9BCA5FFAC2}"/>
              </a:ext>
            </a:extLst>
          </p:cNvPr>
          <p:cNvSpPr>
            <a:spLocks xmlns:a="http://schemas.openxmlformats.org/drawingml/2006/main" noGrp="1"/>
          </p:cNvSpPr>
          <p:nvPr/>
        </p:nvSpPr>
        <p:spPr>
          <a:xfrm xmlns:a="http://schemas.openxmlformats.org/drawingml/2006/main">
            <a:off x="4067175" y="2724150"/>
            <a:ext cx="310515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AFCAB9"/>
            </a:solidFill>
          </a:ln>
        </p:spPr>
        <p:txBody>
          <a:bodyPr xmlns:a="http://schemas.openxmlformats.org/drawingml/2006/main">
            <a:noAutofit/>
          </a:bodyPr>
          <a:lstStyle xmlns:a="http://schemas.openxmlformats.org/drawingml/2006/main"/>
          <a:p xmlns:a="http://schemas.openxmlformats.org/drawingml/2006/main">
            <a:pPr>
              <a:defRPr sz="1800" b="1">
                <a:solidFill>
                  <a:srgbClr val="173D33"/>
                </a:solidFill>
                <a:latin typeface="Arial"/>
                <a:ea typeface="Arial"/>
                <a:cs typeface="Arial"/>
              </a:defRPr>
            </a:pPr>
            <a:r>
              <a:rPr sz="1800" b="1">
                <a:solidFill>
                  <a:srgbClr val="173D33"/>
                </a:solidFill>
                <a:latin typeface="Arial"/>
                <a:ea typeface="Arial"/>
                <a:cs typeface="Arial"/>
              </a:rPr>
              <a:t>Node HTTP API</a:t>
            </a:r>
          </a:p>
          <a:p xmlns:a="http://schemas.openxmlformats.org/drawingml/2006/main">
            <a:pPr>
              <a:defRPr sz="1800" b="1">
                <a:solidFill>
                  <a:srgbClr val="173D33"/>
                </a:solidFill>
                <a:latin typeface="Arial"/>
                <a:ea typeface="Arial"/>
                <a:cs typeface="Arial"/>
              </a:defRPr>
            </a:pPr>
            <a:r>
              <a:rPr sz="1800" b="1">
                <a:solidFill>
                  <a:srgbClr val="173D33"/>
                </a:solidFill>
                <a:latin typeface="Arial"/>
                <a:ea typeface="Arial"/>
                <a:cs typeface="Arial"/>
              </a:rPr>
              <a:t>Requests + operations</a:t>
            </a:r>
          </a:p>
        </p:txBody>
      </p:sp>
      <p:sp>
        <p:nvSpPr>
          <p:cNvPr id="8" name="">
            <a:extLst xmlns:a="http://schemas.openxmlformats.org/drawingml/2006/main">
              <a:ext uri="{FF2B5EF4-FFF2-40B4-BE49-F238E27FC236}">
                <a16:creationId xmlns:a16="http://schemas.microsoft.com/office/drawing/2014/main" id="{D04878E4-A4DE-4BDD-B8DC-37C01B22AC73}"/>
              </a:ext>
            </a:extLst>
          </p:cNvPr>
          <p:cNvSpPr>
            <a:spLocks xmlns:a="http://schemas.openxmlformats.org/drawingml/2006/main" noGrp="1"/>
          </p:cNvSpPr>
          <p:nvPr/>
        </p:nvSpPr>
        <p:spPr>
          <a:xfrm xmlns:a="http://schemas.openxmlformats.org/drawingml/2006/main">
            <a:off x="8324850" y="2724150"/>
            <a:ext cx="321945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AFCAB9"/>
            </a:solidFill>
          </a:ln>
        </p:spPr>
        <p:txBody>
          <a:bodyPr xmlns:a="http://schemas.openxmlformats.org/drawingml/2006/main">
            <a:noAutofit/>
          </a:bodyPr>
          <a:lstStyle xmlns:a="http://schemas.openxmlformats.org/drawingml/2006/main"/>
          <a:p xmlns:a="http://schemas.openxmlformats.org/drawingml/2006/main">
            <a:pPr>
              <a:defRPr sz="1800" b="1">
                <a:solidFill>
                  <a:srgbClr val="173D33"/>
                </a:solidFill>
                <a:latin typeface="Arial"/>
                <a:ea typeface="Arial"/>
                <a:cs typeface="Arial"/>
              </a:defRPr>
            </a:pPr>
            <a:r>
              <a:rPr sz="1800" b="1">
                <a:solidFill>
                  <a:srgbClr val="173D33"/>
                </a:solidFill>
                <a:latin typeface="Arial"/>
                <a:ea typeface="Arial"/>
                <a:cs typeface="Arial"/>
              </a:rPr>
              <a:t>Go gateway</a:t>
            </a:r>
          </a:p>
          <a:p xmlns:a="http://schemas.openxmlformats.org/drawingml/2006/main">
            <a:pPr>
              <a:defRPr sz="1800" b="1">
                <a:solidFill>
                  <a:srgbClr val="173D33"/>
                </a:solidFill>
                <a:latin typeface="Arial"/>
                <a:ea typeface="Arial"/>
                <a:cs typeface="Arial"/>
              </a:defRPr>
            </a:pPr>
            <a:r>
              <a:rPr sz="1800" b="1">
                <a:solidFill>
                  <a:srgbClr val="173D33"/>
                </a:solidFill>
                <a:latin typeface="Arial"/>
                <a:ea typeface="Arial"/>
                <a:cs typeface="Arial"/>
              </a:rPr>
              <a:t>TLS + commit check</a:t>
            </a:r>
          </a:p>
        </p:txBody>
      </p:sp>
      <p:sp>
        <p:nvSpPr>
          <p:cNvPr id="9" name="">
            <a:extLst xmlns:a="http://schemas.openxmlformats.org/drawingml/2006/main">
              <a:ext uri="{FF2B5EF4-FFF2-40B4-BE49-F238E27FC236}">
                <a16:creationId xmlns:a16="http://schemas.microsoft.com/office/drawing/2014/main" id="{6C614B0A-323A-4219-B230-8F2AF49DBF55}"/>
              </a:ext>
            </a:extLst>
          </p:cNvPr>
          <p:cNvSpPr>
            <a:spLocks xmlns:a="http://schemas.openxmlformats.org/drawingml/2006/main" noGrp="1"/>
          </p:cNvSpPr>
          <p:nvPr/>
        </p:nvSpPr>
        <p:spPr>
          <a:xfrm xmlns:a="http://schemas.openxmlformats.org/drawingml/2006/main">
            <a:off x="3095625" y="3114675"/>
            <a:ext cx="95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E8377"/>
                </a:solidFill>
                <a:latin typeface="Arial"/>
                <a:ea typeface="Arial"/>
                <a:cs typeface="Arial"/>
              </a:defRPr>
            </a:pPr>
            <a:r>
              <a:rPr sz="1500" b="0">
                <a:solidFill>
                  <a:srgbClr val="6E8377"/>
                </a:solidFill>
                <a:latin typeface="Arial"/>
                <a:ea typeface="Arial"/>
                <a:cs typeface="Arial"/>
              </a:rPr>
              <a:t>calls</a:t>
            </a:r>
          </a:p>
        </p:txBody>
      </p:sp>
      <p:sp>
        <p:nvSpPr>
          <p:cNvPr id="10" name="">
            <a:extLst xmlns:a="http://schemas.openxmlformats.org/drawingml/2006/main">
              <a:ext uri="{FF2B5EF4-FFF2-40B4-BE49-F238E27FC236}">
                <a16:creationId xmlns:a16="http://schemas.microsoft.com/office/drawing/2014/main" id="{11CF7111-1189-460F-9B5E-8BACFE4D6025}"/>
              </a:ext>
            </a:extLst>
          </p:cNvPr>
          <p:cNvSpPr>
            <a:spLocks xmlns:a="http://schemas.openxmlformats.org/drawingml/2006/main" noGrp="1"/>
          </p:cNvSpPr>
          <p:nvPr/>
        </p:nvSpPr>
        <p:spPr>
          <a:xfrm xmlns:a="http://schemas.openxmlformats.org/drawingml/2006/main">
            <a:off x="7372350" y="3114675"/>
            <a:ext cx="95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E8377"/>
                </a:solidFill>
                <a:latin typeface="Arial"/>
                <a:ea typeface="Arial"/>
                <a:cs typeface="Arial"/>
              </a:defRPr>
            </a:pPr>
            <a:r>
              <a:rPr sz="1500" b="0">
                <a:solidFill>
                  <a:srgbClr val="6E8377"/>
                </a:solidFill>
                <a:latin typeface="Arial"/>
                <a:ea typeface="Arial"/>
                <a:cs typeface="Arial"/>
              </a:rPr>
              <a:t>submits</a:t>
            </a:r>
          </a:p>
        </p:txBody>
      </p:sp>
      <p:sp>
        <p:nvSpPr>
          <p:cNvPr id="11" name="">
            <a:extLst xmlns:a="http://schemas.openxmlformats.org/drawingml/2006/main">
              <a:ext uri="{FF2B5EF4-FFF2-40B4-BE49-F238E27FC236}">
                <a16:creationId xmlns:a16="http://schemas.microsoft.com/office/drawing/2014/main" id="{00695A33-5445-4B10-BD3A-33EB38F97885}"/>
              </a:ext>
            </a:extLst>
          </p:cNvPr>
          <p:cNvSpPr>
            <a:spLocks xmlns:a="http://schemas.openxmlformats.org/drawingml/2006/main" noGrp="1"/>
          </p:cNvSpPr>
          <p:nvPr/>
        </p:nvSpPr>
        <p:spPr>
          <a:xfrm xmlns:a="http://schemas.openxmlformats.org/drawingml/2006/main">
            <a:off x="647700" y="4333875"/>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327C63"/>
                </a:solidFill>
                <a:latin typeface="Arial"/>
                <a:ea typeface="Arial"/>
                <a:cs typeface="Arial"/>
              </a:defRPr>
            </a:pPr>
            <a:r>
              <a:rPr sz="1275" b="1">
                <a:solidFill>
                  <a:srgbClr val="327C63"/>
                </a:solidFill>
                <a:latin typeface="Arial"/>
                <a:ea typeface="Arial"/>
                <a:cs typeface="Arial"/>
              </a:rPr>
              <a:t>POLICY AND LEDGER</a:t>
            </a:r>
          </a:p>
        </p:txBody>
      </p:sp>
      <p:sp>
        <p:nvSpPr>
          <p:cNvPr id="12" name="">
            <a:extLst xmlns:a="http://schemas.openxmlformats.org/drawingml/2006/main">
              <a:ext uri="{FF2B5EF4-FFF2-40B4-BE49-F238E27FC236}">
                <a16:creationId xmlns:a16="http://schemas.microsoft.com/office/drawing/2014/main" id="{8D4AA56B-98D5-4716-8312-91A5ACCD3844}"/>
              </a:ext>
            </a:extLst>
          </p:cNvPr>
          <p:cNvSpPr>
            <a:spLocks xmlns:a="http://schemas.openxmlformats.org/drawingml/2006/main" noGrp="1"/>
          </p:cNvSpPr>
          <p:nvPr/>
        </p:nvSpPr>
        <p:spPr>
          <a:xfrm xmlns:a="http://schemas.openxmlformats.org/drawingml/2006/main">
            <a:off x="647700" y="4848225"/>
            <a:ext cx="310515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AFCAB9"/>
            </a:solidFill>
          </a:ln>
        </p:spPr>
        <p:txBody>
          <a:bodyPr xmlns:a="http://schemas.openxmlformats.org/drawingml/2006/main">
            <a:noAutofit/>
          </a:bodyPr>
          <a:lstStyle xmlns:a="http://schemas.openxmlformats.org/drawingml/2006/main"/>
          <a:p xmlns:a="http://schemas.openxmlformats.org/drawingml/2006/main">
            <a:pPr>
              <a:defRPr sz="1800" b="1">
                <a:solidFill>
                  <a:srgbClr val="173D33"/>
                </a:solidFill>
                <a:latin typeface="Arial"/>
                <a:ea typeface="Arial"/>
                <a:cs typeface="Arial"/>
              </a:defRPr>
            </a:pPr>
            <a:r>
              <a:rPr sz="1800" b="1">
                <a:solidFill>
                  <a:srgbClr val="173D33"/>
                </a:solidFill>
                <a:latin typeface="Arial"/>
                <a:ea typeface="Arial"/>
                <a:cs typeface="Arial"/>
              </a:rPr>
              <a:t>Go chaincode</a:t>
            </a:r>
          </a:p>
          <a:p xmlns:a="http://schemas.openxmlformats.org/drawingml/2006/main">
            <a:pPr>
              <a:defRPr sz="1800" b="1">
                <a:solidFill>
                  <a:srgbClr val="173D33"/>
                </a:solidFill>
                <a:latin typeface="Arial"/>
                <a:ea typeface="Arial"/>
                <a:cs typeface="Arial"/>
              </a:defRPr>
            </a:pPr>
            <a:r>
              <a:rPr sz="1800" b="1">
                <a:solidFill>
                  <a:srgbClr val="173D33"/>
                </a:solidFill>
                <a:latin typeface="Arial"/>
                <a:ea typeface="Arial"/>
                <a:cs typeface="Arial"/>
              </a:rPr>
              <a:t>MSP + policy</a:t>
            </a:r>
          </a:p>
        </p:txBody>
      </p:sp>
      <p:sp>
        <p:nvSpPr>
          <p:cNvPr id="13" name="">
            <a:extLst xmlns:a="http://schemas.openxmlformats.org/drawingml/2006/main">
              <a:ext uri="{FF2B5EF4-FFF2-40B4-BE49-F238E27FC236}">
                <a16:creationId xmlns:a16="http://schemas.microsoft.com/office/drawing/2014/main" id="{AC88224B-D239-4338-9818-120CE87AD06B}"/>
              </a:ext>
            </a:extLst>
          </p:cNvPr>
          <p:cNvSpPr>
            <a:spLocks xmlns:a="http://schemas.openxmlformats.org/drawingml/2006/main" noGrp="1"/>
          </p:cNvSpPr>
          <p:nvPr/>
        </p:nvSpPr>
        <p:spPr>
          <a:xfrm xmlns:a="http://schemas.openxmlformats.org/drawingml/2006/main">
            <a:off x="4810125" y="4848225"/>
            <a:ext cx="295275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AFCAB9"/>
            </a:solidFill>
          </a:ln>
        </p:spPr>
        <p:txBody>
          <a:bodyPr xmlns:a="http://schemas.openxmlformats.org/drawingml/2006/main">
            <a:noAutofit/>
          </a:bodyPr>
          <a:lstStyle xmlns:a="http://schemas.openxmlformats.org/drawingml/2006/main"/>
          <a:p xmlns:a="http://schemas.openxmlformats.org/drawingml/2006/main">
            <a:pPr>
              <a:defRPr sz="1800" b="1">
                <a:solidFill>
                  <a:srgbClr val="173D33"/>
                </a:solidFill>
                <a:latin typeface="Arial"/>
                <a:ea typeface="Arial"/>
                <a:cs typeface="Arial"/>
              </a:defRPr>
            </a:pPr>
            <a:r>
              <a:rPr sz="1800" b="1">
                <a:solidFill>
                  <a:srgbClr val="173D33"/>
                </a:solidFill>
                <a:latin typeface="Arial"/>
                <a:ea typeface="Arial"/>
                <a:cs typeface="Arial"/>
              </a:rPr>
              <a:t>Drunix network</a:t>
            </a:r>
          </a:p>
          <a:p xmlns:a="http://schemas.openxmlformats.org/drawingml/2006/main">
            <a:pPr>
              <a:defRPr sz="1800" b="1">
                <a:solidFill>
                  <a:srgbClr val="173D33"/>
                </a:solidFill>
                <a:latin typeface="Arial"/>
                <a:ea typeface="Arial"/>
                <a:cs typeface="Arial"/>
              </a:defRPr>
            </a:pPr>
            <a:r>
              <a:rPr sz="1800" b="1">
                <a:solidFill>
                  <a:srgbClr val="173D33"/>
                </a:solidFill>
                <a:latin typeface="Arial"/>
                <a:ea typeface="Arial"/>
                <a:cs typeface="Arial"/>
              </a:rPr>
              <a:t>Org1 AND Org2</a:t>
            </a:r>
          </a:p>
        </p:txBody>
      </p:sp>
      <p:sp>
        <p:nvSpPr>
          <p:cNvPr id="14" name="">
            <a:extLst xmlns:a="http://schemas.openxmlformats.org/drawingml/2006/main">
              <a:ext uri="{FF2B5EF4-FFF2-40B4-BE49-F238E27FC236}">
                <a16:creationId xmlns:a16="http://schemas.microsoft.com/office/drawing/2014/main" id="{34AB5A3A-D2B2-44B2-BB3A-3FAC8E99CA96}"/>
              </a:ext>
            </a:extLst>
          </p:cNvPr>
          <p:cNvSpPr>
            <a:spLocks xmlns:a="http://schemas.openxmlformats.org/drawingml/2006/main" noGrp="1"/>
          </p:cNvSpPr>
          <p:nvPr/>
        </p:nvSpPr>
        <p:spPr>
          <a:xfrm xmlns:a="http://schemas.openxmlformats.org/drawingml/2006/main">
            <a:off x="8820150" y="4848225"/>
            <a:ext cx="272415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AFCAB9"/>
            </a:solidFill>
          </a:ln>
        </p:spPr>
        <p:txBody>
          <a:bodyPr xmlns:a="http://schemas.openxmlformats.org/drawingml/2006/main">
            <a:noAutofit/>
          </a:bodyPr>
          <a:lstStyle xmlns:a="http://schemas.openxmlformats.org/drawingml/2006/main"/>
          <a:p xmlns:a="http://schemas.openxmlformats.org/drawingml/2006/main">
            <a:pPr>
              <a:defRPr sz="1800" b="1">
                <a:solidFill>
                  <a:srgbClr val="173D33"/>
                </a:solidFill>
                <a:latin typeface="Arial"/>
                <a:ea typeface="Arial"/>
                <a:cs typeface="Arial"/>
              </a:defRPr>
            </a:pPr>
            <a:r>
              <a:rPr sz="1800" b="1">
                <a:solidFill>
                  <a:srgbClr val="173D33"/>
                </a:solidFill>
                <a:latin typeface="Arial"/>
                <a:ea typeface="Arial"/>
                <a:cs typeface="Arial"/>
              </a:rPr>
              <a:t>YugabyteDB</a:t>
            </a:r>
          </a:p>
          <a:p xmlns:a="http://schemas.openxmlformats.org/drawingml/2006/main">
            <a:pPr>
              <a:defRPr sz="1800" b="1">
                <a:solidFill>
                  <a:srgbClr val="173D33"/>
                </a:solidFill>
                <a:latin typeface="Arial"/>
                <a:ea typeface="Arial"/>
                <a:cs typeface="Arial"/>
              </a:defRPr>
            </a:pPr>
            <a:r>
              <a:rPr sz="1800" b="1">
                <a:solidFill>
                  <a:srgbClr val="173D33"/>
                </a:solidFill>
                <a:latin typeface="Arial"/>
                <a:ea typeface="Arial"/>
                <a:cs typeface="Arial"/>
              </a:rPr>
              <a:t>State stores</a:t>
            </a:r>
          </a:p>
        </p:txBody>
      </p:sp>
      <p:sp>
        <p:nvSpPr>
          <p:cNvPr id="15" name="">
            <a:extLst xmlns:a="http://schemas.openxmlformats.org/drawingml/2006/main">
              <a:ext uri="{FF2B5EF4-FFF2-40B4-BE49-F238E27FC236}">
                <a16:creationId xmlns:a16="http://schemas.microsoft.com/office/drawing/2014/main" id="{72D893C1-ED99-424A-AF64-54D0F1012CE1}"/>
              </a:ext>
            </a:extLst>
          </p:cNvPr>
          <p:cNvSpPr>
            <a:spLocks xmlns:a="http://schemas.openxmlformats.org/drawingml/2006/main" noGrp="1"/>
          </p:cNvSpPr>
          <p:nvPr/>
        </p:nvSpPr>
        <p:spPr>
          <a:xfrm xmlns:a="http://schemas.openxmlformats.org/drawingml/2006/main">
            <a:off x="3790950" y="5200650"/>
            <a:ext cx="10191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E8377"/>
                </a:solidFill>
                <a:latin typeface="Arial"/>
                <a:ea typeface="Arial"/>
                <a:cs typeface="Arial"/>
              </a:defRPr>
            </a:pPr>
            <a:r>
              <a:rPr sz="1350" b="0">
                <a:solidFill>
                  <a:srgbClr val="6E8377"/>
                </a:solidFill>
                <a:latin typeface="Arial"/>
                <a:ea typeface="Arial"/>
                <a:cs typeface="Arial"/>
              </a:rPr>
              <a:t>endorsed by</a:t>
            </a:r>
          </a:p>
        </p:txBody>
      </p:sp>
      <p:sp>
        <p:nvSpPr>
          <p:cNvPr id="16" name="">
            <a:extLst xmlns:a="http://schemas.openxmlformats.org/drawingml/2006/main">
              <a:ext uri="{FF2B5EF4-FFF2-40B4-BE49-F238E27FC236}">
                <a16:creationId xmlns:a16="http://schemas.microsoft.com/office/drawing/2014/main" id="{72F93D4A-0B13-4BFF-9533-9E9B426A9379}"/>
              </a:ext>
            </a:extLst>
          </p:cNvPr>
          <p:cNvSpPr>
            <a:spLocks xmlns:a="http://schemas.openxmlformats.org/drawingml/2006/main" noGrp="1"/>
          </p:cNvSpPr>
          <p:nvPr/>
        </p:nvSpPr>
        <p:spPr>
          <a:xfrm xmlns:a="http://schemas.openxmlformats.org/drawingml/2006/main">
            <a:off x="7905750" y="5200650"/>
            <a:ext cx="914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E8377"/>
                </a:solidFill>
                <a:latin typeface="Arial"/>
                <a:ea typeface="Arial"/>
                <a:cs typeface="Arial"/>
              </a:defRPr>
            </a:pPr>
            <a:r>
              <a:rPr sz="1500" b="0">
                <a:solidFill>
                  <a:srgbClr val="6E8377"/>
                </a:solidFill>
                <a:latin typeface="Arial"/>
                <a:ea typeface="Arial"/>
                <a:cs typeface="Arial"/>
              </a:rPr>
              <a:t>persists</a:t>
            </a:r>
          </a:p>
        </p:txBody>
      </p:sp>
      <p:sp>
        <p:nvSpPr>
          <p:cNvPr id="17" name="">
            <a:extLst xmlns:a="http://schemas.openxmlformats.org/drawingml/2006/main">
              <a:ext uri="{FF2B5EF4-FFF2-40B4-BE49-F238E27FC236}">
                <a16:creationId xmlns:a16="http://schemas.microsoft.com/office/drawing/2014/main" id="{05BCA1A9-A297-4E8C-BCAD-07B6E4F740DB}"/>
              </a:ext>
            </a:extLst>
          </p:cNvPr>
          <p:cNvSpPr>
            <a:spLocks xmlns:a="http://schemas.openxmlformats.org/drawingml/2006/main" noGrp="1"/>
          </p:cNvSpPr>
          <p:nvPr/>
        </p:nvSpPr>
        <p:spPr>
          <a:xfrm xmlns:a="http://schemas.openxmlformats.org/drawingml/2006/main">
            <a:off x="647700" y="6019800"/>
            <a:ext cx="10810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E8377"/>
                </a:solidFill>
                <a:latin typeface="Arial"/>
                <a:ea typeface="Arial"/>
                <a:cs typeface="Arial"/>
              </a:defRPr>
            </a:pPr>
            <a:r>
              <a:rPr sz="1275" b="0">
                <a:solidFill>
                  <a:srgbClr val="6E8377"/>
                </a:solidFill>
                <a:latin typeface="Arial"/>
                <a:ea typeface="Arial"/>
                <a:cs typeface="Arial"/>
              </a:rPr>
              <a:t>Local test network includes documented SQL bookmark fixes. Payments are simulated.</a:t>
            </a:r>
          </a:p>
        </p:txBody>
      </p:sp>
    </p:spTree>
    <p:extLst>
      <p:ext uri="{BB962C8B-B14F-4D97-AF65-F5344CB8AC3E}">
        <p14:creationId xmlns:p14="http://schemas.microsoft.com/office/powerpoint/2010/main" val="1468734665"/>
      </p:ext>
    </p:extLst>
  </p:cSld>
</p:sld>
</file>

<file path=ppt/slides/slide7.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E03FE2A-3393-49AF-B873-EAE9705048FE}"/>
              </a:ext>
            </a:extLst>
          </p:cNvPr>
          <p:cNvSpPr>
            <a:spLocks xmlns:a="http://schemas.openxmlformats.org/drawingml/2006/main" noGrp="1"/>
          </p:cNvSpPr>
          <p:nvPr/>
        </p:nvSpPr>
        <p:spPr>
          <a:xfrm xmlns:a="http://schemas.openxmlformats.org/drawingml/2006/main">
            <a:off x="647700" y="40005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327C63"/>
                </a:solidFill>
                <a:latin typeface="Arial"/>
                <a:ea typeface="Arial"/>
                <a:cs typeface="Arial"/>
              </a:defRPr>
            </a:pPr>
            <a:r>
              <a:rPr sz="1125" b="1">
                <a:solidFill>
                  <a:srgbClr val="327C63"/>
                </a:solidFill>
                <a:latin typeface="Arial"/>
                <a:ea typeface="Arial"/>
                <a:cs typeface="Arial"/>
              </a:rPr>
              <a:t>ADAPTER AND DECISION SAFEGUARDS</a:t>
            </a:r>
          </a:p>
        </p:txBody>
      </p:sp>
      <p:sp>
        <p:nvSpPr>
          <p:cNvPr id="2" name="">
            <a:extLst xmlns:a="http://schemas.openxmlformats.org/drawingml/2006/main">
              <a:ext uri="{FF2B5EF4-FFF2-40B4-BE49-F238E27FC236}">
                <a16:creationId xmlns:a16="http://schemas.microsoft.com/office/drawing/2014/main" id="{276FE56F-6AAD-4D3E-9934-1E7D244DAB89}"/>
              </a:ext>
            </a:extLst>
          </p:cNvPr>
          <p:cNvSpPr>
            <a:spLocks xmlns:a="http://schemas.openxmlformats.org/drawingml/2006/main" noGrp="1"/>
          </p:cNvSpPr>
          <p:nvPr/>
        </p:nvSpPr>
        <p:spPr>
          <a:xfrm xmlns:a="http://schemas.openxmlformats.org/drawingml/2006/main">
            <a:off x="647700" y="914400"/>
            <a:ext cx="10896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3D33"/>
                </a:solidFill>
                <a:latin typeface="Arial"/>
                <a:ea typeface="Arial"/>
                <a:cs typeface="Arial"/>
              </a:defRPr>
            </a:pPr>
            <a:r>
              <a:rPr sz="3450" b="1">
                <a:solidFill>
                  <a:srgbClr val="173D33"/>
                </a:solidFill>
                <a:latin typeface="Arial"/>
                <a:ea typeface="Arial"/>
                <a:cs typeface="Arial"/>
              </a:rPr>
              <a:t>Structured status intake</a:t>
            </a:r>
          </a:p>
        </p:txBody>
      </p:sp>
      <p:sp>
        <p:nvSpPr>
          <p:cNvPr id="3" name="">
            <a:extLst xmlns:a="http://schemas.openxmlformats.org/drawingml/2006/main">
              <a:ext uri="{FF2B5EF4-FFF2-40B4-BE49-F238E27FC236}">
                <a16:creationId xmlns:a16="http://schemas.microsoft.com/office/drawing/2014/main" id="{F0902656-151D-4C72-8705-C8EAA190B50A}"/>
              </a:ext>
            </a:extLst>
          </p:cNvPr>
          <p:cNvSpPr>
            <a:spLocks xmlns:a="http://schemas.openxmlformats.org/drawingml/2006/main" noGrp="1"/>
          </p:cNvSpPr>
          <p:nvPr/>
        </p:nvSpPr>
        <p:spPr>
          <a:xfrm xmlns:a="http://schemas.openxmlformats.org/drawingml/2006/main">
            <a:off x="647700" y="6334125"/>
            <a:ext cx="933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E8377"/>
                </a:solidFill>
                <a:latin typeface="Arial"/>
                <a:ea typeface="Arial"/>
                <a:cs typeface="Arial"/>
              </a:defRPr>
            </a:pPr>
            <a:r>
              <a:rPr sz="1050" b="0">
                <a:solidFill>
                  <a:srgbClr val="6E8377"/>
                </a:solidFill>
                <a:latin typeface="Arial"/>
                <a:ea typeface="Arial"/>
                <a:cs typeface="Arial"/>
              </a:rPr>
              <a:t>CorridorProof   /   Drunix hackathon prototype</a:t>
            </a:r>
          </a:p>
        </p:txBody>
      </p:sp>
      <p:sp>
        <p:nvSpPr>
          <p:cNvPr id="4" name="">
            <a:extLst xmlns:a="http://schemas.openxmlformats.org/drawingml/2006/main">
              <a:ext uri="{FF2B5EF4-FFF2-40B4-BE49-F238E27FC236}">
                <a16:creationId xmlns:a16="http://schemas.microsoft.com/office/drawing/2014/main" id="{25DB60A8-EC90-4BCF-9739-68B393016F63}"/>
              </a:ext>
            </a:extLst>
          </p:cNvPr>
          <p:cNvSpPr>
            <a:spLocks xmlns:a="http://schemas.openxmlformats.org/drawingml/2006/main" noGrp="1"/>
          </p:cNvSpPr>
          <p:nvPr/>
        </p:nvSpPr>
        <p:spPr>
          <a:xfrm xmlns:a="http://schemas.openxmlformats.org/drawingml/2006/main">
            <a:off x="11049000" y="633412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E8377"/>
                </a:solidFill>
                <a:latin typeface="Arial"/>
                <a:ea typeface="Arial"/>
                <a:cs typeface="Arial"/>
              </a:defRPr>
            </a:pPr>
            <a:r>
              <a:rPr sz="1050" b="0">
                <a:solidFill>
                  <a:srgbClr val="6E8377"/>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4C76043D-3F97-4778-B6D7-1EBE142E3BFE}"/>
              </a:ext>
            </a:extLst>
          </p:cNvPr>
          <p:cNvSpPr>
            <a:spLocks xmlns:a="http://schemas.openxmlformats.org/drawingml/2006/main" noGrp="1"/>
          </p:cNvSpPr>
          <p:nvPr/>
        </p:nvSpPr>
        <p:spPr>
          <a:xfrm xmlns:a="http://schemas.openxmlformats.org/drawingml/2006/main">
            <a:off x="647700" y="2247900"/>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327C63"/>
                </a:solidFill>
                <a:latin typeface="Arial"/>
                <a:ea typeface="Arial"/>
                <a:cs typeface="Arial"/>
              </a:defRPr>
            </a:pPr>
            <a:r>
              <a:rPr sz="2400" b="1">
                <a:solidFill>
                  <a:srgbClr val="327C63"/>
                </a:solidFill>
                <a:latin typeface="Arial"/>
                <a:ea typeface="Arial"/>
                <a:cs typeface="Arial"/>
              </a:rPr>
              <a:t>Bind the report to its commitment</a:t>
            </a:r>
          </a:p>
        </p:txBody>
      </p:sp>
      <p:sp>
        <p:nvSpPr>
          <p:cNvPr id="6" name="">
            <a:extLst xmlns:a="http://schemas.openxmlformats.org/drawingml/2006/main">
              <a:ext uri="{FF2B5EF4-FFF2-40B4-BE49-F238E27FC236}">
                <a16:creationId xmlns:a16="http://schemas.microsoft.com/office/drawing/2014/main" id="{DA7952E3-DC69-4B46-B90A-03A877626182}"/>
              </a:ext>
            </a:extLst>
          </p:cNvPr>
          <p:cNvSpPr>
            <a:spLocks xmlns:a="http://schemas.openxmlformats.org/drawingml/2006/main" noGrp="1"/>
          </p:cNvSpPr>
          <p:nvPr/>
        </p:nvSpPr>
        <p:spPr>
          <a:xfrm xmlns:a="http://schemas.openxmlformats.org/drawingml/2006/main">
            <a:off x="647700" y="2857500"/>
            <a:ext cx="106680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D33"/>
                </a:solidFill>
                <a:latin typeface="Arial"/>
                <a:ea typeface="Arial"/>
                <a:cs typeface="Arial"/>
              </a:defRPr>
            </a:pPr>
            <a:r>
              <a:rPr sz="2175" b="0">
                <a:solidFill>
                  <a:srgbClr val="173D33"/>
                </a:solidFill>
                <a:latin typeface="Arial"/>
                <a:ea typeface="Arial"/>
                <a:cs typeface="Arial"/>
              </a:rPr>
              <a:t>Validate case, quote, currency, amount and message identity.</a:t>
            </a:r>
          </a:p>
          <a:p xmlns:a="http://schemas.openxmlformats.org/drawingml/2006/main">
            <a:pPr>
              <a:defRPr sz="2175" b="0">
                <a:solidFill>
                  <a:srgbClr val="173D33"/>
                </a:solidFill>
                <a:latin typeface="Arial"/>
                <a:ea typeface="Arial"/>
                <a:cs typeface="Arial"/>
              </a:defRPr>
            </a:pPr>
            <a:r>
              <a:rPr sz="2175" b="0">
                <a:solidFill>
                  <a:srgbClr val="173D33"/>
                </a:solidFill>
                <a:latin typeface="Arial"/>
                <a:ea typeface="Arial"/>
                <a:cs typeface="Arial"/>
              </a:rPr>
              <a:t>Credited, rejected and blocked reports enter existing policy.</a:t>
            </a:r>
          </a:p>
        </p:txBody>
      </p:sp>
      <p:sp>
        <p:nvSpPr>
          <p:cNvPr id="7" name="">
            <a:extLst xmlns:a="http://schemas.openxmlformats.org/drawingml/2006/main">
              <a:ext uri="{FF2B5EF4-FFF2-40B4-BE49-F238E27FC236}">
                <a16:creationId xmlns:a16="http://schemas.microsoft.com/office/drawing/2014/main" id="{2BD61602-7A3F-4902-9877-7F680D704142}"/>
              </a:ext>
            </a:extLst>
          </p:cNvPr>
          <p:cNvSpPr>
            <a:spLocks xmlns:a="http://schemas.openxmlformats.org/drawingml/2006/main" noGrp="1"/>
          </p:cNvSpPr>
          <p:nvPr/>
        </p:nvSpPr>
        <p:spPr>
          <a:xfrm xmlns:a="http://schemas.openxmlformats.org/drawingml/2006/main">
            <a:off x="647700" y="4038600"/>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327C63"/>
                </a:solidFill>
                <a:latin typeface="Arial"/>
                <a:ea typeface="Arial"/>
                <a:cs typeface="Arial"/>
              </a:defRPr>
            </a:pPr>
            <a:r>
              <a:rPr sz="2400" b="1">
                <a:solidFill>
                  <a:srgbClr val="327C63"/>
                </a:solidFill>
                <a:latin typeface="Arial"/>
                <a:ea typeface="Arial"/>
                <a:cs typeface="Arial"/>
              </a:rPr>
              <a:t>Hold uncertainty and contradictions</a:t>
            </a:r>
          </a:p>
        </p:txBody>
      </p:sp>
      <p:sp>
        <p:nvSpPr>
          <p:cNvPr id="8" name="">
            <a:extLst xmlns:a="http://schemas.openxmlformats.org/drawingml/2006/main">
              <a:ext uri="{FF2B5EF4-FFF2-40B4-BE49-F238E27FC236}">
                <a16:creationId xmlns:a16="http://schemas.microsoft.com/office/drawing/2014/main" id="{7079C7D0-A5BD-4A8F-AA08-ACB9A15556B0}"/>
              </a:ext>
            </a:extLst>
          </p:cNvPr>
          <p:cNvSpPr>
            <a:spLocks xmlns:a="http://schemas.openxmlformats.org/drawingml/2006/main" noGrp="1"/>
          </p:cNvSpPr>
          <p:nvPr/>
        </p:nvSpPr>
        <p:spPr>
          <a:xfrm xmlns:a="http://schemas.openxmlformats.org/drawingml/2006/main">
            <a:off x="647700" y="4610100"/>
            <a:ext cx="10668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D33"/>
                </a:solidFill>
                <a:latin typeface="Arial"/>
                <a:ea typeface="Arial"/>
                <a:cs typeface="Arial"/>
              </a:defRPr>
            </a:pPr>
            <a:r>
              <a:rPr sz="2175" b="0">
                <a:solidFill>
                  <a:srgbClr val="173D33"/>
                </a:solidFill>
                <a:latin typeface="Arial"/>
                <a:ea typeface="Arial"/>
                <a:cs typeface="Arial"/>
              </a:rPr>
              <a:t>Pending and unposted reports cannot prove beneficiary credit.</a:t>
            </a:r>
          </a:p>
          <a:p xmlns:a="http://schemas.openxmlformats.org/drawingml/2006/main">
            <a:pPr>
              <a:defRPr sz="2175" b="0">
                <a:solidFill>
                  <a:srgbClr val="173D33"/>
                </a:solidFill>
                <a:latin typeface="Arial"/>
                <a:ea typeface="Arial"/>
                <a:cs typeface="Arial"/>
              </a:defRPr>
            </a:pPr>
            <a:r>
              <a:rPr sz="2175" b="0">
                <a:solidFill>
                  <a:srgbClr val="173D33"/>
                </a:solidFill>
                <a:latin typeface="Arial"/>
                <a:ea typeface="Arial"/>
                <a:cs typeface="Arial"/>
              </a:rPr>
              <a:t>Save the original request; replay exactly and reject changed contents.</a:t>
            </a:r>
          </a:p>
        </p:txBody>
      </p:sp>
      <p:sp>
        <p:nvSpPr>
          <p:cNvPr id="9" name="">
            <a:extLst xmlns:a="http://schemas.openxmlformats.org/drawingml/2006/main">
              <a:ext uri="{FF2B5EF4-FFF2-40B4-BE49-F238E27FC236}">
                <a16:creationId xmlns:a16="http://schemas.microsoft.com/office/drawing/2014/main" id="{3E76AB78-9052-4B42-A3E8-532C08DA73C1}"/>
              </a:ext>
            </a:extLst>
          </p:cNvPr>
          <p:cNvSpPr>
            <a:spLocks xmlns:a="http://schemas.openxmlformats.org/drawingml/2006/main" noGrp="1"/>
          </p:cNvSpPr>
          <p:nvPr/>
        </p:nvSpPr>
        <p:spPr>
          <a:xfrm xmlns:a="http://schemas.openxmlformats.org/drawingml/2006/main">
            <a:off x="647700" y="5743575"/>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E8377"/>
                </a:solidFill>
                <a:latin typeface="Arial"/>
                <a:ea typeface="Arial"/>
                <a:cs typeface="Arial"/>
              </a:defRPr>
            </a:pPr>
            <a:r>
              <a:rPr sz="1500" b="0">
                <a:solidFill>
                  <a:srgbClr val="6E8377"/>
                </a:solidFill>
                <a:latin typeface="Arial"/>
                <a:ea typeface="Arial"/>
                <a:cs typeface="Arial"/>
              </a:rPr>
              <a:t>Synthetic JSON adapter. No bank connection or ISO 20022 certification claimed.</a:t>
            </a:r>
          </a:p>
        </p:txBody>
      </p:sp>
    </p:spTree>
    <p:extLst>
      <p:ext uri="{BB962C8B-B14F-4D97-AF65-F5344CB8AC3E}">
        <p14:creationId xmlns:p14="http://schemas.microsoft.com/office/powerpoint/2010/main" val="225309681"/>
      </p:ext>
    </p:extLst>
  </p:cSld>
</p:sld>
</file>

<file path=ppt/slides/slide8.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B669CBB-C450-482C-AA65-1B90746888FB}"/>
              </a:ext>
            </a:extLst>
          </p:cNvPr>
          <p:cNvSpPr>
            <a:spLocks xmlns:a="http://schemas.openxmlformats.org/drawingml/2006/main" noGrp="1"/>
          </p:cNvSpPr>
          <p:nvPr/>
        </p:nvSpPr>
        <p:spPr>
          <a:xfrm xmlns:a="http://schemas.openxmlformats.org/drawingml/2006/main">
            <a:off x="647700" y="40005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327C63"/>
                </a:solidFill>
                <a:latin typeface="Arial"/>
                <a:ea typeface="Arial"/>
                <a:cs typeface="Arial"/>
              </a:defRPr>
            </a:pPr>
            <a:r>
              <a:rPr sz="1125" b="1">
                <a:solidFill>
                  <a:srgbClr val="327C63"/>
                </a:solidFill>
                <a:latin typeface="Arial"/>
                <a:ea typeface="Arial"/>
                <a:cs typeface="Arial"/>
              </a:rPr>
              <a:t>OWNERSHIP AND INSPECTION</a:t>
            </a:r>
          </a:p>
        </p:txBody>
      </p:sp>
      <p:sp>
        <p:nvSpPr>
          <p:cNvPr id="2" name="">
            <a:extLst xmlns:a="http://schemas.openxmlformats.org/drawingml/2006/main">
              <a:ext uri="{FF2B5EF4-FFF2-40B4-BE49-F238E27FC236}">
                <a16:creationId xmlns:a16="http://schemas.microsoft.com/office/drawing/2014/main" id="{CB3BF395-D6EC-4226-BC21-0D7E432B6386}"/>
              </a:ext>
            </a:extLst>
          </p:cNvPr>
          <p:cNvSpPr>
            <a:spLocks xmlns:a="http://schemas.openxmlformats.org/drawingml/2006/main" noGrp="1"/>
          </p:cNvSpPr>
          <p:nvPr/>
        </p:nvSpPr>
        <p:spPr>
          <a:xfrm xmlns:a="http://schemas.openxmlformats.org/drawingml/2006/main">
            <a:off x="647700" y="914400"/>
            <a:ext cx="10896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3D33"/>
                </a:solidFill>
                <a:latin typeface="Arial"/>
                <a:ea typeface="Arial"/>
                <a:cs typeface="Arial"/>
              </a:defRPr>
            </a:pPr>
            <a:r>
              <a:rPr sz="3450" b="1">
                <a:solidFill>
                  <a:srgbClr val="173D33"/>
                </a:solidFill>
                <a:latin typeface="Arial"/>
                <a:ea typeface="Arial"/>
                <a:cs typeface="Arial"/>
              </a:rPr>
              <a:t>Operations control room</a:t>
            </a:r>
          </a:p>
        </p:txBody>
      </p:sp>
      <p:sp>
        <p:nvSpPr>
          <p:cNvPr id="3" name="">
            <a:extLst xmlns:a="http://schemas.openxmlformats.org/drawingml/2006/main">
              <a:ext uri="{FF2B5EF4-FFF2-40B4-BE49-F238E27FC236}">
                <a16:creationId xmlns:a16="http://schemas.microsoft.com/office/drawing/2014/main" id="{DDC24733-2D62-4C3A-B53B-073B25B1787D}"/>
              </a:ext>
            </a:extLst>
          </p:cNvPr>
          <p:cNvSpPr>
            <a:spLocks xmlns:a="http://schemas.openxmlformats.org/drawingml/2006/main" noGrp="1"/>
          </p:cNvSpPr>
          <p:nvPr/>
        </p:nvSpPr>
        <p:spPr>
          <a:xfrm xmlns:a="http://schemas.openxmlformats.org/drawingml/2006/main">
            <a:off x="647700" y="6334125"/>
            <a:ext cx="933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E8377"/>
                </a:solidFill>
                <a:latin typeface="Arial"/>
                <a:ea typeface="Arial"/>
                <a:cs typeface="Arial"/>
              </a:defRPr>
            </a:pPr>
            <a:r>
              <a:rPr sz="1050" b="0">
                <a:solidFill>
                  <a:srgbClr val="6E8377"/>
                </a:solidFill>
                <a:latin typeface="Arial"/>
                <a:ea typeface="Arial"/>
                <a:cs typeface="Arial"/>
              </a:rPr>
              <a:t>CorridorProof   /   Drunix hackathon prototype</a:t>
            </a:r>
          </a:p>
        </p:txBody>
      </p:sp>
      <p:sp>
        <p:nvSpPr>
          <p:cNvPr id="4" name="">
            <a:extLst xmlns:a="http://schemas.openxmlformats.org/drawingml/2006/main">
              <a:ext uri="{FF2B5EF4-FFF2-40B4-BE49-F238E27FC236}">
                <a16:creationId xmlns:a16="http://schemas.microsoft.com/office/drawing/2014/main" id="{17B709DA-1E4D-4F06-AB73-E17FB93D700F}"/>
              </a:ext>
            </a:extLst>
          </p:cNvPr>
          <p:cNvSpPr>
            <a:spLocks xmlns:a="http://schemas.openxmlformats.org/drawingml/2006/main" noGrp="1"/>
          </p:cNvSpPr>
          <p:nvPr/>
        </p:nvSpPr>
        <p:spPr>
          <a:xfrm xmlns:a="http://schemas.openxmlformats.org/drawingml/2006/main">
            <a:off x="11049000" y="633412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E8377"/>
                </a:solidFill>
                <a:latin typeface="Arial"/>
                <a:ea typeface="Arial"/>
                <a:cs typeface="Arial"/>
              </a:defRPr>
            </a:pPr>
            <a:r>
              <a:rPr sz="1050" b="0">
                <a:solidFill>
                  <a:srgbClr val="6E8377"/>
                </a:solidFill>
                <a:latin typeface="Arial"/>
                <a:ea typeface="Arial"/>
                <a:cs typeface="Arial"/>
              </a:rPr>
              <a:t>08</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0635db41411b40a2"/>
          <a:stretch xmlns:a="http://schemas.openxmlformats.org/drawingml/2006/main"/>
        </p:blipFill>
        <p:spPr>
          <a:xfrm xmlns:a="http://schemas.openxmlformats.org/drawingml/2006/main">
            <a:off x="1612543" y="2095500"/>
            <a:ext cx="5556964" cy="3905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DC99D43C-E42F-4BA8-97E7-C224C1A702D7}"/>
              </a:ext>
            </a:extLst>
          </p:cNvPr>
          <p:cNvSpPr>
            <a:spLocks xmlns:a="http://schemas.openxmlformats.org/drawingml/2006/main" noGrp="1"/>
          </p:cNvSpPr>
          <p:nvPr/>
        </p:nvSpPr>
        <p:spPr>
          <a:xfrm xmlns:a="http://schemas.openxmlformats.org/drawingml/2006/main">
            <a:off x="8705850" y="2276475"/>
            <a:ext cx="285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327C63"/>
                </a:solidFill>
                <a:latin typeface="Arial"/>
                <a:ea typeface="Arial"/>
                <a:cs typeface="Arial"/>
              </a:defRPr>
            </a:pPr>
            <a:r>
              <a:rPr sz="2025" b="1">
                <a:solidFill>
                  <a:srgbClr val="327C63"/>
                </a:solidFill>
                <a:latin typeface="Arial"/>
                <a:ea typeface="Arial"/>
                <a:cs typeface="Arial"/>
              </a:rPr>
              <a:t>Who acts next?</a:t>
            </a:r>
          </a:p>
        </p:txBody>
      </p:sp>
      <p:sp>
        <p:nvSpPr>
          <p:cNvPr id="7" name="">
            <a:extLst xmlns:a="http://schemas.openxmlformats.org/drawingml/2006/main">
              <a:ext uri="{FF2B5EF4-FFF2-40B4-BE49-F238E27FC236}">
                <a16:creationId xmlns:a16="http://schemas.microsoft.com/office/drawing/2014/main" id="{8496246C-BB6C-45E0-839E-8D9E6C945022}"/>
              </a:ext>
            </a:extLst>
          </p:cNvPr>
          <p:cNvSpPr>
            <a:spLocks xmlns:a="http://schemas.openxmlformats.org/drawingml/2006/main" noGrp="1"/>
          </p:cNvSpPr>
          <p:nvPr/>
        </p:nvSpPr>
        <p:spPr>
          <a:xfrm xmlns:a="http://schemas.openxmlformats.org/drawingml/2006/main">
            <a:off x="8705850" y="2952750"/>
            <a:ext cx="29527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73D33"/>
                </a:solidFill>
                <a:latin typeface="Arial"/>
                <a:ea typeface="Arial"/>
                <a:cs typeface="Arial"/>
              </a:defRPr>
            </a:pPr>
            <a:r>
              <a:rPr sz="1800" b="0">
                <a:solidFill>
                  <a:srgbClr val="173D33"/>
                </a:solidFill>
                <a:latin typeface="Arial"/>
                <a:ea typeface="Arial"/>
                <a:cs typeface="Arial"/>
              </a:rPr>
              <a:t>Missing approvals</a:t>
            </a:r>
          </a:p>
          <a:p xmlns:a="http://schemas.openxmlformats.org/drawingml/2006/main">
            <a:pPr>
              <a:defRPr sz="1800" b="0">
                <a:solidFill>
                  <a:srgbClr val="173D33"/>
                </a:solidFill>
                <a:latin typeface="Arial"/>
                <a:ea typeface="Arial"/>
                <a:cs typeface="Arial"/>
              </a:defRPr>
            </a:pPr>
            <a:r>
              <a:rPr sz="1800" b="0">
                <a:solidFill>
                  <a:srgbClr val="173D33"/>
                </a:solidFill>
                <a:latin typeface="Arial"/>
                <a:ea typeface="Arial"/>
                <a:cs typeface="Arial"/>
              </a:rPr>
              <a:t>Next organization</a:t>
            </a:r>
          </a:p>
          <a:p xmlns:a="http://schemas.openxmlformats.org/drawingml/2006/main">
            <a:pPr>
              <a:defRPr sz="1800" b="0">
                <a:solidFill>
                  <a:srgbClr val="173D33"/>
                </a:solidFill>
                <a:latin typeface="Arial"/>
                <a:ea typeface="Arial"/>
                <a:cs typeface="Arial"/>
              </a:defRPr>
            </a:pPr>
            <a:r>
              <a:rPr sz="1800" b="0">
                <a:solidFill>
                  <a:srgbClr val="173D33"/>
                </a:solidFill>
                <a:latin typeface="Arial"/>
                <a:ea typeface="Arial"/>
                <a:cs typeface="Arial"/>
              </a:rPr>
              <a:t>Idle time and review</a:t>
            </a:r>
          </a:p>
          <a:p xmlns:a="http://schemas.openxmlformats.org/drawingml/2006/main">
            <a:r>
              <a:t/>
            </a:r>
          </a:p>
          <a:p xmlns:a="http://schemas.openxmlformats.org/drawingml/2006/main">
            <a:pPr>
              <a:defRPr sz="1800" b="0">
                <a:solidFill>
                  <a:srgbClr val="173D33"/>
                </a:solidFill>
                <a:latin typeface="Arial"/>
                <a:ea typeface="Arial"/>
                <a:cs typeface="Arial"/>
              </a:defRPr>
            </a:pPr>
            <a:r>
              <a:rPr sz="1800" b="0">
                <a:solidFill>
                  <a:srgbClr val="173D33"/>
                </a:solidFill>
                <a:latin typeface="Arial"/>
                <a:ea typeface="Arial"/>
                <a:cs typeface="Arial"/>
              </a:rPr>
              <a:t>Case dossier with full</a:t>
            </a:r>
          </a:p>
          <a:p xmlns:a="http://schemas.openxmlformats.org/drawingml/2006/main">
            <a:pPr>
              <a:defRPr sz="1800" b="0">
                <a:solidFill>
                  <a:srgbClr val="173D33"/>
                </a:solidFill>
                <a:latin typeface="Arial"/>
                <a:ea typeface="Arial"/>
                <a:cs typeface="Arial"/>
              </a:defRPr>
            </a:pPr>
            <a:r>
              <a:rPr sz="1800" b="0">
                <a:solidFill>
                  <a:srgbClr val="173D33"/>
                </a:solidFill>
                <a:latin typeface="Arial"/>
                <a:ea typeface="Arial"/>
                <a:cs typeface="Arial"/>
              </a:rPr>
              <a:t>verification context</a:t>
            </a:r>
          </a:p>
          <a:p xmlns:a="http://schemas.openxmlformats.org/drawingml/2006/main">
            <a:r>
              <a:t/>
            </a:r>
          </a:p>
          <a:p xmlns:a="http://schemas.openxmlformats.org/drawingml/2006/main">
            <a:pPr>
              <a:defRPr sz="1800" b="0">
                <a:solidFill>
                  <a:srgbClr val="173D33"/>
                </a:solidFill>
                <a:latin typeface="Arial"/>
                <a:ea typeface="Arial"/>
                <a:cs typeface="Arial"/>
              </a:defRPr>
            </a:pPr>
            <a:r>
              <a:rPr sz="1800" b="0">
                <a:solidFill>
                  <a:srgbClr val="173D33"/>
                </a:solidFill>
                <a:latin typeface="Arial"/>
                <a:ea typeface="Arial"/>
                <a:cs typeface="Arial"/>
              </a:rPr>
              <a:t>Fresh Org1 / Org2</a:t>
            </a:r>
          </a:p>
          <a:p xmlns:a="http://schemas.openxmlformats.org/drawingml/2006/main">
            <a:pPr>
              <a:defRPr sz="1800" b="0">
                <a:solidFill>
                  <a:srgbClr val="173D33"/>
                </a:solidFill>
                <a:latin typeface="Arial"/>
                <a:ea typeface="Arial"/>
                <a:cs typeface="Arial"/>
              </a:defRPr>
            </a:pPr>
            <a:r>
              <a:rPr sz="1800" b="0">
                <a:solidFill>
                  <a:srgbClr val="173D33"/>
                </a:solidFill>
                <a:latin typeface="Arial"/>
                <a:ea typeface="Arial"/>
                <a:cs typeface="Arial"/>
              </a:rPr>
              <a:t>snapshot comparison</a:t>
            </a:r>
          </a:p>
        </p:txBody>
      </p:sp>
    </p:spTree>
    <p:extLst>
      <p:ext uri="{BB962C8B-B14F-4D97-AF65-F5344CB8AC3E}">
        <p14:creationId xmlns:p14="http://schemas.microsoft.com/office/powerpoint/2010/main" val="513119624"/>
      </p:ext>
    </p:extLst>
  </p:cSld>
</p:sld>
</file>

<file path=ppt/slides/slide9.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F6D41C8-098D-41A0-8F92-0C263EB4992F}"/>
              </a:ext>
            </a:extLst>
          </p:cNvPr>
          <p:cNvSpPr>
            <a:spLocks xmlns:a="http://schemas.openxmlformats.org/drawingml/2006/main" noGrp="1"/>
          </p:cNvSpPr>
          <p:nvPr/>
        </p:nvSpPr>
        <p:spPr>
          <a:xfrm xmlns:a="http://schemas.openxmlformats.org/drawingml/2006/main">
            <a:off x="647700" y="40005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327C63"/>
                </a:solidFill>
                <a:latin typeface="Arial"/>
                <a:ea typeface="Arial"/>
                <a:cs typeface="Arial"/>
              </a:defRPr>
            </a:pPr>
            <a:r>
              <a:rPr sz="1125" b="1">
                <a:solidFill>
                  <a:srgbClr val="327C63"/>
                </a:solidFill>
                <a:latin typeface="Arial"/>
                <a:ea typeface="Arial"/>
                <a:cs typeface="Arial"/>
              </a:rPr>
              <a:t>MARKET POSITION</a:t>
            </a:r>
          </a:p>
        </p:txBody>
      </p:sp>
      <p:sp>
        <p:nvSpPr>
          <p:cNvPr id="2" name="">
            <a:extLst xmlns:a="http://schemas.openxmlformats.org/drawingml/2006/main">
              <a:ext uri="{FF2B5EF4-FFF2-40B4-BE49-F238E27FC236}">
                <a16:creationId xmlns:a16="http://schemas.microsoft.com/office/drawing/2014/main" id="{225EBEEC-2FA3-4A6E-9854-ACDF5BE4DF60}"/>
              </a:ext>
            </a:extLst>
          </p:cNvPr>
          <p:cNvSpPr>
            <a:spLocks xmlns:a="http://schemas.openxmlformats.org/drawingml/2006/main" noGrp="1"/>
          </p:cNvSpPr>
          <p:nvPr/>
        </p:nvSpPr>
        <p:spPr>
          <a:xfrm xmlns:a="http://schemas.openxmlformats.org/drawingml/2006/main">
            <a:off x="647700" y="914400"/>
            <a:ext cx="10896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3D33"/>
                </a:solidFill>
                <a:latin typeface="Arial"/>
                <a:ea typeface="Arial"/>
                <a:cs typeface="Arial"/>
              </a:defRPr>
            </a:pPr>
            <a:r>
              <a:rPr sz="3450" b="1">
                <a:solidFill>
                  <a:srgbClr val="173D33"/>
                </a:solidFill>
                <a:latin typeface="Arial"/>
                <a:ea typeface="Arial"/>
                <a:cs typeface="Arial"/>
              </a:rPr>
              <a:t>Existing products and the governance hypothesis</a:t>
            </a:r>
          </a:p>
        </p:txBody>
      </p:sp>
      <p:sp>
        <p:nvSpPr>
          <p:cNvPr id="3" name="">
            <a:extLst xmlns:a="http://schemas.openxmlformats.org/drawingml/2006/main">
              <a:ext uri="{FF2B5EF4-FFF2-40B4-BE49-F238E27FC236}">
                <a16:creationId xmlns:a16="http://schemas.microsoft.com/office/drawing/2014/main" id="{A0D38981-A927-4790-BA03-59D2DAFB5937}"/>
              </a:ext>
            </a:extLst>
          </p:cNvPr>
          <p:cNvSpPr>
            <a:spLocks xmlns:a="http://schemas.openxmlformats.org/drawingml/2006/main" noGrp="1"/>
          </p:cNvSpPr>
          <p:nvPr/>
        </p:nvSpPr>
        <p:spPr>
          <a:xfrm xmlns:a="http://schemas.openxmlformats.org/drawingml/2006/main">
            <a:off x="647700" y="6334125"/>
            <a:ext cx="933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E8377"/>
                </a:solidFill>
                <a:latin typeface="Arial"/>
                <a:ea typeface="Arial"/>
                <a:cs typeface="Arial"/>
              </a:defRPr>
            </a:pPr>
            <a:r>
              <a:rPr sz="1050" b="0">
                <a:solidFill>
                  <a:srgbClr val="6E8377"/>
                </a:solidFill>
                <a:latin typeface="Arial"/>
                <a:ea typeface="Arial"/>
                <a:cs typeface="Arial"/>
              </a:rPr>
              <a:t>CorridorProof   /   Drunix hackathon prototype</a:t>
            </a:r>
          </a:p>
        </p:txBody>
      </p:sp>
      <p:sp>
        <p:nvSpPr>
          <p:cNvPr id="4" name="">
            <a:extLst xmlns:a="http://schemas.openxmlformats.org/drawingml/2006/main">
              <a:ext uri="{FF2B5EF4-FFF2-40B4-BE49-F238E27FC236}">
                <a16:creationId xmlns:a16="http://schemas.microsoft.com/office/drawing/2014/main" id="{3897C564-629A-457A-A31F-49AE35652095}"/>
              </a:ext>
            </a:extLst>
          </p:cNvPr>
          <p:cNvSpPr>
            <a:spLocks xmlns:a="http://schemas.openxmlformats.org/drawingml/2006/main" noGrp="1"/>
          </p:cNvSpPr>
          <p:nvPr/>
        </p:nvSpPr>
        <p:spPr>
          <a:xfrm xmlns:a="http://schemas.openxmlformats.org/drawingml/2006/main">
            <a:off x="11049000" y="633412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E8377"/>
                </a:solidFill>
                <a:latin typeface="Arial"/>
                <a:ea typeface="Arial"/>
                <a:cs typeface="Arial"/>
              </a:defRPr>
            </a:pPr>
            <a:r>
              <a:rPr sz="1050" b="0">
                <a:solidFill>
                  <a:srgbClr val="6E8377"/>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BE2FDA4A-7CF6-43F5-8D3C-1FB70D230BD2}"/>
              </a:ext>
            </a:extLst>
          </p:cNvPr>
          <p:cNvSpPr>
            <a:spLocks xmlns:a="http://schemas.openxmlformats.org/drawingml/2006/main" noGrp="1"/>
          </p:cNvSpPr>
          <p:nvPr/>
        </p:nvSpPr>
        <p:spPr>
          <a:xfrm xmlns:a="http://schemas.openxmlformats.org/drawingml/2006/main">
            <a:off x="647700" y="2276475"/>
            <a:ext cx="10287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327C63"/>
                </a:solidFill>
                <a:latin typeface="Arial"/>
                <a:ea typeface="Arial"/>
                <a:cs typeface="Arial"/>
              </a:defRPr>
            </a:pPr>
            <a:r>
              <a:rPr sz="2400" b="1">
                <a:solidFill>
                  <a:srgbClr val="327C63"/>
                </a:solidFill>
                <a:latin typeface="Arial"/>
                <a:ea typeface="Arial"/>
                <a:cs typeface="Arial"/>
              </a:rPr>
              <a:t>Swift / Nexus service desk</a:t>
            </a:r>
          </a:p>
        </p:txBody>
      </p:sp>
      <p:sp>
        <p:nvSpPr>
          <p:cNvPr id="6" name="">
            <a:extLst xmlns:a="http://schemas.openxmlformats.org/drawingml/2006/main">
              <a:ext uri="{FF2B5EF4-FFF2-40B4-BE49-F238E27FC236}">
                <a16:creationId xmlns:a16="http://schemas.microsoft.com/office/drawing/2014/main" id="{10A946AA-33F3-48C1-AF7E-D81D309D46F8}"/>
              </a:ext>
            </a:extLst>
          </p:cNvPr>
          <p:cNvSpPr>
            <a:spLocks xmlns:a="http://schemas.openxmlformats.org/drawingml/2006/main" noGrp="1"/>
          </p:cNvSpPr>
          <p:nvPr/>
        </p:nvSpPr>
        <p:spPr>
          <a:xfrm xmlns:a="http://schemas.openxmlformats.org/drawingml/2006/main">
            <a:off x="647700" y="286702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D33"/>
                </a:solidFill>
                <a:latin typeface="Arial"/>
                <a:ea typeface="Arial"/>
                <a:cs typeface="Arial"/>
              </a:defRPr>
            </a:pPr>
            <a:r>
              <a:rPr sz="2175" b="0">
                <a:solidFill>
                  <a:srgbClr val="173D33"/>
                </a:solidFill>
                <a:latin typeface="Arial"/>
                <a:ea typeface="Arial"/>
                <a:cs typeface="Arial"/>
              </a:rPr>
              <a:t>Established investigation workflows. We must validate</a:t>
            </a:r>
          </a:p>
          <a:p xmlns:a="http://schemas.openxmlformats.org/drawingml/2006/main">
            <a:pPr>
              <a:defRPr sz="2175" b="0">
                <a:solidFill>
                  <a:srgbClr val="173D33"/>
                </a:solidFill>
                <a:latin typeface="Arial"/>
                <a:ea typeface="Arial"/>
                <a:cs typeface="Arial"/>
              </a:defRPr>
            </a:pPr>
            <a:r>
              <a:rPr sz="2175" b="0">
                <a:solidFill>
                  <a:srgbClr val="173D33"/>
                </a:solidFill>
                <a:latin typeface="Arial"/>
                <a:ea typeface="Arial"/>
                <a:cs typeface="Arial"/>
              </a:rPr>
              <a:t>what a specific corridor partner still needs.</a:t>
            </a:r>
          </a:p>
        </p:txBody>
      </p:sp>
      <p:sp>
        <p:nvSpPr>
          <p:cNvPr id="7" name="">
            <a:extLst xmlns:a="http://schemas.openxmlformats.org/drawingml/2006/main">
              <a:ext uri="{FF2B5EF4-FFF2-40B4-BE49-F238E27FC236}">
                <a16:creationId xmlns:a16="http://schemas.microsoft.com/office/drawing/2014/main" id="{A31226A3-A24E-4F41-A763-86002CB3DF74}"/>
              </a:ext>
            </a:extLst>
          </p:cNvPr>
          <p:cNvSpPr>
            <a:spLocks xmlns:a="http://schemas.openxmlformats.org/drawingml/2006/main" noGrp="1"/>
          </p:cNvSpPr>
          <p:nvPr/>
        </p:nvSpPr>
        <p:spPr>
          <a:xfrm xmlns:a="http://schemas.openxmlformats.org/drawingml/2006/main">
            <a:off x="647700" y="4038600"/>
            <a:ext cx="10382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327C63"/>
                </a:solidFill>
                <a:latin typeface="Arial"/>
                <a:ea typeface="Arial"/>
                <a:cs typeface="Arial"/>
              </a:defRPr>
            </a:pPr>
            <a:r>
              <a:rPr sz="2400" b="1">
                <a:solidFill>
                  <a:srgbClr val="327C63"/>
                </a:solidFill>
                <a:latin typeface="Arial"/>
                <a:ea typeface="Arial"/>
                <a:cs typeface="Arial"/>
              </a:rPr>
              <a:t>CorridorProof hypothesis</a:t>
            </a:r>
          </a:p>
        </p:txBody>
      </p:sp>
      <p:sp>
        <p:nvSpPr>
          <p:cNvPr id="8" name="">
            <a:extLst xmlns:a="http://schemas.openxmlformats.org/drawingml/2006/main">
              <a:ext uri="{FF2B5EF4-FFF2-40B4-BE49-F238E27FC236}">
                <a16:creationId xmlns:a16="http://schemas.microsoft.com/office/drawing/2014/main" id="{795B64F1-1BEC-4C1C-8459-A02BE2B284A6}"/>
              </a:ext>
            </a:extLst>
          </p:cNvPr>
          <p:cNvSpPr>
            <a:spLocks xmlns:a="http://schemas.openxmlformats.org/drawingml/2006/main" noGrp="1"/>
          </p:cNvSpPr>
          <p:nvPr/>
        </p:nvSpPr>
        <p:spPr>
          <a:xfrm xmlns:a="http://schemas.openxmlformats.org/drawingml/2006/main">
            <a:off x="647700" y="4581525"/>
            <a:ext cx="10572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D33"/>
                </a:solidFill>
                <a:latin typeface="Arial"/>
                <a:ea typeface="Arial"/>
                <a:cs typeface="Arial"/>
              </a:defRPr>
            </a:pPr>
            <a:r>
              <a:rPr sz="2175" b="0">
                <a:solidFill>
                  <a:srgbClr val="173D33"/>
                </a:solidFill>
                <a:latin typeface="Arial"/>
                <a:ea typeface="Arial"/>
                <a:cs typeface="Arial"/>
              </a:rPr>
              <a:t>Independent operators jointly govern accepted evidence</a:t>
            </a:r>
          </a:p>
          <a:p xmlns:a="http://schemas.openxmlformats.org/drawingml/2006/main">
            <a:pPr>
              <a:defRPr sz="2175" b="0">
                <a:solidFill>
                  <a:srgbClr val="173D33"/>
                </a:solidFill>
                <a:latin typeface="Arial"/>
                <a:ea typeface="Arial"/>
                <a:cs typeface="Arial"/>
              </a:defRPr>
            </a:pPr>
            <a:r>
              <a:rPr sz="2175" b="0">
                <a:solidFill>
                  <a:srgbClr val="173D33"/>
                </a:solidFill>
                <a:latin typeface="Arial"/>
                <a:ea typeface="Arial"/>
                <a:cs typeface="Arial"/>
              </a:rPr>
              <a:t>and resolution changes without unilateral edit authority.</a:t>
            </a:r>
          </a:p>
        </p:txBody>
      </p:sp>
      <p:sp>
        <p:nvSpPr>
          <p:cNvPr id="9" name="">
            <a:extLst xmlns:a="http://schemas.openxmlformats.org/drawingml/2006/main">
              <a:ext uri="{FF2B5EF4-FFF2-40B4-BE49-F238E27FC236}">
                <a16:creationId xmlns:a16="http://schemas.microsoft.com/office/drawing/2014/main" id="{D58CAB06-2089-42FF-A6D4-77D2DC1CEF80}"/>
              </a:ext>
            </a:extLst>
          </p:cNvPr>
          <p:cNvSpPr>
            <a:spLocks xmlns:a="http://schemas.openxmlformats.org/drawingml/2006/main" noGrp="1"/>
          </p:cNvSpPr>
          <p:nvPr/>
        </p:nvSpPr>
        <p:spPr>
          <a:xfrm xmlns:a="http://schemas.openxmlformats.org/drawingml/2006/main">
            <a:off x="647700" y="5686425"/>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E8377"/>
                </a:solidFill>
                <a:latin typeface="Arial"/>
                <a:ea typeface="Arial"/>
                <a:cs typeface="Arial"/>
              </a:defRPr>
            </a:pPr>
            <a:r>
              <a:rPr sz="1500" b="0">
                <a:solidFill>
                  <a:srgbClr val="6E8377"/>
                </a:solidFill>
                <a:latin typeface="Arial"/>
                <a:ea typeface="Arial"/>
                <a:cs typeface="Arial"/>
              </a:rPr>
              <a:t>A trusted shared database remains a valid option when independent governance is unnecessary.</a:t>
            </a:r>
          </a:p>
        </p:txBody>
      </p:sp>
    </p:spTree>
    <p:extLst>
      <p:ext uri="{BB962C8B-B14F-4D97-AF65-F5344CB8AC3E}">
        <p14:creationId xmlns:p14="http://schemas.microsoft.com/office/powerpoint/2010/main" val="1633910500"/>
      </p:ext>
    </p:extLst>
  </p:cSld>
</p:sld>
</file>

<file path=ppt/slides/slide10.xml><?xml version="1.0" encoding="utf-8"?>
<p:sld xmlns:p="http://schemas.openxmlformats.org/presentationml/2006/main">
  <p:cSld>
    <p:bg>
      <p:bgPr>
        <a:solidFill xmlns:a="http://schemas.openxmlformats.org/drawingml/2006/main">
          <a:srgbClr val="173D33"/>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AC35F2C-2BCF-4A1D-A635-87E520E310EB}"/>
              </a:ext>
            </a:extLst>
          </p:cNvPr>
          <p:cNvSpPr>
            <a:spLocks xmlns:a="http://schemas.openxmlformats.org/drawingml/2006/main" noGrp="1"/>
          </p:cNvSpPr>
          <p:nvPr/>
        </p:nvSpPr>
        <p:spPr>
          <a:xfrm xmlns:a="http://schemas.openxmlformats.org/drawingml/2006/main">
            <a:off x="647700" y="40005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93D5B7"/>
                </a:solidFill>
                <a:latin typeface="Arial"/>
                <a:ea typeface="Arial"/>
                <a:cs typeface="Arial"/>
              </a:defRPr>
            </a:pPr>
            <a:r>
              <a:rPr sz="1125" b="1">
                <a:solidFill>
                  <a:srgbClr val="93D5B7"/>
                </a:solidFill>
                <a:latin typeface="Arial"/>
                <a:ea typeface="Arial"/>
                <a:cs typeface="Arial"/>
              </a:rPr>
              <a:t>PILOT AND BUSINESS MODEL</a:t>
            </a:r>
          </a:p>
        </p:txBody>
      </p:sp>
      <p:sp>
        <p:nvSpPr>
          <p:cNvPr id="2" name="">
            <a:extLst xmlns:a="http://schemas.openxmlformats.org/drawingml/2006/main">
              <a:ext uri="{FF2B5EF4-FFF2-40B4-BE49-F238E27FC236}">
                <a16:creationId xmlns:a16="http://schemas.microsoft.com/office/drawing/2014/main" id="{02D3ACB0-E195-4FDE-957E-0826F61B6A3C}"/>
              </a:ext>
            </a:extLst>
          </p:cNvPr>
          <p:cNvSpPr>
            <a:spLocks xmlns:a="http://schemas.openxmlformats.org/drawingml/2006/main" noGrp="1"/>
          </p:cNvSpPr>
          <p:nvPr/>
        </p:nvSpPr>
        <p:spPr>
          <a:xfrm xmlns:a="http://schemas.openxmlformats.org/drawingml/2006/main">
            <a:off x="647700" y="914400"/>
            <a:ext cx="10896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A corridor pilot is the next commercial gate</a:t>
            </a:r>
          </a:p>
        </p:txBody>
      </p:sp>
      <p:sp>
        <p:nvSpPr>
          <p:cNvPr id="3" name="">
            <a:extLst xmlns:a="http://schemas.openxmlformats.org/drawingml/2006/main">
              <a:ext uri="{FF2B5EF4-FFF2-40B4-BE49-F238E27FC236}">
                <a16:creationId xmlns:a16="http://schemas.microsoft.com/office/drawing/2014/main" id="{57F8CD33-B4E4-40C2-B286-FDB2D315BD27}"/>
              </a:ext>
            </a:extLst>
          </p:cNvPr>
          <p:cNvSpPr>
            <a:spLocks xmlns:a="http://schemas.openxmlformats.org/drawingml/2006/main" noGrp="1"/>
          </p:cNvSpPr>
          <p:nvPr/>
        </p:nvSpPr>
        <p:spPr>
          <a:xfrm xmlns:a="http://schemas.openxmlformats.org/drawingml/2006/main">
            <a:off x="647700" y="6334125"/>
            <a:ext cx="933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93D5B7"/>
                </a:solidFill>
                <a:latin typeface="Arial"/>
                <a:ea typeface="Arial"/>
                <a:cs typeface="Arial"/>
              </a:defRPr>
            </a:pPr>
            <a:r>
              <a:rPr sz="1050" b="0">
                <a:solidFill>
                  <a:srgbClr val="93D5B7"/>
                </a:solidFill>
                <a:latin typeface="Arial"/>
                <a:ea typeface="Arial"/>
                <a:cs typeface="Arial"/>
              </a:rPr>
              <a:t>CorridorProof   /   Drunix hackathon prototype</a:t>
            </a:r>
          </a:p>
        </p:txBody>
      </p:sp>
      <p:sp>
        <p:nvSpPr>
          <p:cNvPr id="4" name="">
            <a:extLst xmlns:a="http://schemas.openxmlformats.org/drawingml/2006/main">
              <a:ext uri="{FF2B5EF4-FFF2-40B4-BE49-F238E27FC236}">
                <a16:creationId xmlns:a16="http://schemas.microsoft.com/office/drawing/2014/main" id="{B15A165B-A51B-40C9-B753-CA397847FC27}"/>
              </a:ext>
            </a:extLst>
          </p:cNvPr>
          <p:cNvSpPr>
            <a:spLocks xmlns:a="http://schemas.openxmlformats.org/drawingml/2006/main" noGrp="1"/>
          </p:cNvSpPr>
          <p:nvPr/>
        </p:nvSpPr>
        <p:spPr>
          <a:xfrm xmlns:a="http://schemas.openxmlformats.org/drawingml/2006/main">
            <a:off x="11049000" y="633412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93D5B7"/>
                </a:solidFill>
                <a:latin typeface="Arial"/>
                <a:ea typeface="Arial"/>
                <a:cs typeface="Arial"/>
              </a:defRPr>
            </a:pPr>
            <a:r>
              <a:rPr sz="1050" b="0">
                <a:solidFill>
                  <a:srgbClr val="93D5B7"/>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04B3E629-FF0D-491D-9514-BC7A5E25D02A}"/>
              </a:ext>
            </a:extLst>
          </p:cNvPr>
          <p:cNvSpPr>
            <a:spLocks xmlns:a="http://schemas.openxmlformats.org/drawingml/2006/main" noGrp="1"/>
          </p:cNvSpPr>
          <p:nvPr/>
        </p:nvSpPr>
        <p:spPr>
          <a:xfrm xmlns:a="http://schemas.openxmlformats.org/drawingml/2006/main">
            <a:off x="647700" y="223837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93D5B7"/>
                </a:solidFill>
                <a:latin typeface="Arial"/>
                <a:ea typeface="Arial"/>
                <a:cs typeface="Arial"/>
              </a:defRPr>
            </a:pPr>
            <a:r>
              <a:rPr sz="1800" b="1">
                <a:solidFill>
                  <a:srgbClr val="93D5B7"/>
                </a:solidFill>
                <a:latin typeface="Arial"/>
                <a:ea typeface="Arial"/>
                <a:cs typeface="Arial"/>
              </a:rPr>
              <a:t>Candidate buyer</a:t>
            </a:r>
          </a:p>
        </p:txBody>
      </p:sp>
      <p:sp>
        <p:nvSpPr>
          <p:cNvPr id="6" name="">
            <a:extLst xmlns:a="http://schemas.openxmlformats.org/drawingml/2006/main">
              <a:ext uri="{FF2B5EF4-FFF2-40B4-BE49-F238E27FC236}">
                <a16:creationId xmlns:a16="http://schemas.microsoft.com/office/drawing/2014/main" id="{BA9F780C-4202-4424-AC3F-15A7749BB10F}"/>
              </a:ext>
            </a:extLst>
          </p:cNvPr>
          <p:cNvSpPr>
            <a:spLocks xmlns:a="http://schemas.openxmlformats.org/drawingml/2006/main" noGrp="1"/>
          </p:cNvSpPr>
          <p:nvPr/>
        </p:nvSpPr>
        <p:spPr>
          <a:xfrm xmlns:a="http://schemas.openxmlformats.org/drawingml/2006/main">
            <a:off x="647700" y="2781300"/>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FFFFFF"/>
                </a:solidFill>
                <a:latin typeface="Arial"/>
                <a:ea typeface="Arial"/>
                <a:cs typeface="Arial"/>
              </a:defRPr>
            </a:pPr>
            <a:r>
              <a:rPr sz="2700" b="1">
                <a:solidFill>
                  <a:srgbClr val="FFFFFF"/>
                </a:solidFill>
                <a:latin typeface="Arial"/>
                <a:ea typeface="Arial"/>
                <a:cs typeface="Arial"/>
              </a:rPr>
              <a:t>Sender and receiver PSP operations teams</a:t>
            </a:r>
          </a:p>
        </p:txBody>
      </p:sp>
      <p:sp>
        <p:nvSpPr>
          <p:cNvPr id="7" name="">
            <a:extLst xmlns:a="http://schemas.openxmlformats.org/drawingml/2006/main">
              <a:ext uri="{FF2B5EF4-FFF2-40B4-BE49-F238E27FC236}">
                <a16:creationId xmlns:a16="http://schemas.microsoft.com/office/drawing/2014/main" id="{7E3180A1-03AC-4B29-99A9-96EBAF3A984C}"/>
              </a:ext>
            </a:extLst>
          </p:cNvPr>
          <p:cNvSpPr>
            <a:spLocks xmlns:a="http://schemas.openxmlformats.org/drawingml/2006/main" noGrp="1"/>
          </p:cNvSpPr>
          <p:nvPr/>
        </p:nvSpPr>
        <p:spPr>
          <a:xfrm xmlns:a="http://schemas.openxmlformats.org/drawingml/2006/main">
            <a:off x="647700" y="373380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93D5B7"/>
                </a:solidFill>
                <a:latin typeface="Arial"/>
                <a:ea typeface="Arial"/>
                <a:cs typeface="Arial"/>
              </a:defRPr>
            </a:pPr>
            <a:r>
              <a:rPr sz="1800" b="1">
                <a:solidFill>
                  <a:srgbClr val="93D5B7"/>
                </a:solidFill>
                <a:latin typeface="Arial"/>
                <a:ea typeface="Arial"/>
                <a:cs typeface="Arial"/>
              </a:rPr>
              <a:t>Shadow pilot</a:t>
            </a:r>
          </a:p>
        </p:txBody>
      </p:sp>
      <p:sp>
        <p:nvSpPr>
          <p:cNvPr id="8" name="">
            <a:extLst xmlns:a="http://schemas.openxmlformats.org/drawingml/2006/main">
              <a:ext uri="{FF2B5EF4-FFF2-40B4-BE49-F238E27FC236}">
                <a16:creationId xmlns:a16="http://schemas.microsoft.com/office/drawing/2014/main" id="{FE65FF67-984D-4226-BF23-E166FA3727D1}"/>
              </a:ext>
            </a:extLst>
          </p:cNvPr>
          <p:cNvSpPr>
            <a:spLocks xmlns:a="http://schemas.openxmlformats.org/drawingml/2006/main" noGrp="1"/>
          </p:cNvSpPr>
          <p:nvPr/>
        </p:nvSpPr>
        <p:spPr>
          <a:xfrm xmlns:a="http://schemas.openxmlformats.org/drawingml/2006/main">
            <a:off x="647700" y="4267200"/>
            <a:ext cx="10668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FFFFF"/>
                </a:solidFill>
                <a:latin typeface="Arial"/>
                <a:ea typeface="Arial"/>
                <a:cs typeface="Arial"/>
              </a:defRPr>
            </a:pPr>
            <a:r>
              <a:rPr sz="2175" b="0">
                <a:solidFill>
                  <a:srgbClr val="FFFFFF"/>
                </a:solidFill>
                <a:latin typeface="Arial"/>
                <a:ea typeface="Arial"/>
                <a:cs typeface="Arial"/>
              </a:rPr>
              <a:t>Replay de-identified exceptions against the current workflow.</a:t>
            </a:r>
          </a:p>
          <a:p xmlns:a="http://schemas.openxmlformats.org/drawingml/2006/main">
            <a:pPr>
              <a:defRPr sz="2175" b="0">
                <a:solidFill>
                  <a:srgbClr val="FFFFFF"/>
                </a:solidFill>
                <a:latin typeface="Arial"/>
                <a:ea typeface="Arial"/>
                <a:cs typeface="Arial"/>
              </a:defRPr>
            </a:pPr>
            <a:r>
              <a:rPr sz="2175" b="0">
                <a:solidFill>
                  <a:srgbClr val="FFFFFF"/>
                </a:solidFill>
                <a:latin typeface="Arial"/>
                <a:ea typeface="Arial"/>
                <a:cs typeface="Arial"/>
              </a:rPr>
              <a:t>Measure operator effort and unsafe-decision prevention.</a:t>
            </a:r>
          </a:p>
        </p:txBody>
      </p:sp>
      <p:sp>
        <p:nvSpPr>
          <p:cNvPr id="9" name="">
            <a:extLst xmlns:a="http://schemas.openxmlformats.org/drawingml/2006/main">
              <a:ext uri="{FF2B5EF4-FFF2-40B4-BE49-F238E27FC236}">
                <a16:creationId xmlns:a16="http://schemas.microsoft.com/office/drawing/2014/main" id="{FD8663D0-9507-4A08-B771-788EA83B3A59}"/>
              </a:ext>
            </a:extLst>
          </p:cNvPr>
          <p:cNvSpPr>
            <a:spLocks xmlns:a="http://schemas.openxmlformats.org/drawingml/2006/main" noGrp="1"/>
          </p:cNvSpPr>
          <p:nvPr/>
        </p:nvSpPr>
        <p:spPr>
          <a:xfrm xmlns:a="http://schemas.openxmlformats.org/drawingml/2006/main">
            <a:off x="647700" y="5543550"/>
            <a:ext cx="10668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93D5B7"/>
                </a:solidFill>
                <a:latin typeface="Arial"/>
                <a:ea typeface="Arial"/>
                <a:cs typeface="Arial"/>
              </a:defRPr>
            </a:pPr>
            <a:r>
              <a:rPr sz="1650" b="0">
                <a:solidFill>
                  <a:srgbClr val="93D5B7"/>
                </a:solidFill>
                <a:latin typeface="Arial"/>
                <a:ea typeface="Arial"/>
                <a:cs typeface="Arial"/>
              </a:rPr>
              <a:t>Subscription plus integration is a pricing hypothesis.</a:t>
            </a:r>
          </a:p>
          <a:p xmlns:a="http://schemas.openxmlformats.org/drawingml/2006/main">
            <a:pPr>
              <a:defRPr sz="1650" b="0">
                <a:solidFill>
                  <a:srgbClr val="93D5B7"/>
                </a:solidFill>
                <a:latin typeface="Arial"/>
                <a:ea typeface="Arial"/>
                <a:cs typeface="Arial"/>
              </a:defRPr>
            </a:pPr>
            <a:r>
              <a:rPr sz="1650" b="0">
                <a:solidFill>
                  <a:srgbClr val="93D5B7"/>
                </a:solidFill>
                <a:latin typeface="Arial"/>
                <a:ea typeface="Arial"/>
                <a:cs typeface="Arial"/>
              </a:rPr>
              <a:t>No customer adoption or operational savings claimed.</a:t>
            </a:r>
          </a:p>
        </p:txBody>
      </p:sp>
    </p:spTree>
    <p:extLst>
      <p:ext uri="{BB962C8B-B14F-4D97-AF65-F5344CB8AC3E}">
        <p14:creationId xmlns:p14="http://schemas.microsoft.com/office/powerpoint/2010/main" val="148683118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2026-09-30T16:48:46.2680000Z</dcterms:created>
  <dcterms:modified xsi:type="dcterms:W3CDTF">2026-09-30T16:48:46.2680000Z</dcterms:modified>
</coreProperties>
</file>
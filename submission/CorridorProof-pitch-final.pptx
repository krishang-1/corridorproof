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cef9e7e8d894b5f" /><Relationship Type="http://schemas.openxmlformats.org/officeDocument/2006/relationships/extended-properties" Target="/docProps/app.xml" Id="Raf1c4fe8a3754b4c" /><Relationship Type="http://schemas.openxmlformats.org/officeDocument/2006/relationships/officeDocument" Target="/ppt/presentation.xml" Id="R1fd73fc590194de1" /></Relationships>
</file>

<file path=ppt/presentation.xml><?xml version="1.0" encoding="utf-8"?>
<p:presentation xmlns:p="http://schemas.openxmlformats.org/presentationml/2006/main">
  <p:sldMasterIdLst>
    <p:sldMasterId xmlns:r="http://schemas.openxmlformats.org/officeDocument/2006/relationships" id="2147483648" r:id="R194795262b0c4d3f"/>
  </p:sldMasterIdLst>
  <p:notesMasterIdLst>
    <p:notesMasterId xmlns:r="http://schemas.openxmlformats.org/officeDocument/2006/relationships" r:id="Ra60ea17ca2e54fa1"/>
  </p:notesMasterIdLst>
  <p:sldIdLst>
    <p:sldId xmlns:r="http://schemas.openxmlformats.org/officeDocument/2006/relationships" id="256" r:id="R9afa30acc97641ee"/>
    <p:sldId xmlns:r="http://schemas.openxmlformats.org/officeDocument/2006/relationships" id="257" r:id="R3c4ba30b13324174"/>
    <p:sldId xmlns:r="http://schemas.openxmlformats.org/officeDocument/2006/relationships" id="258" r:id="R2bac0d01ef1f4b9d"/>
    <p:sldId xmlns:r="http://schemas.openxmlformats.org/officeDocument/2006/relationships" id="259" r:id="R65d55e32b15d4a62"/>
    <p:sldId xmlns:r="http://schemas.openxmlformats.org/officeDocument/2006/relationships" id="260" r:id="R7ad6eea8db934bf7"/>
    <p:sldId xmlns:r="http://schemas.openxmlformats.org/officeDocument/2006/relationships" id="261" r:id="R6ac87f2fc8784e61"/>
    <p:sldId xmlns:r="http://schemas.openxmlformats.org/officeDocument/2006/relationships" id="262" r:id="Rd2ab85b79c3243f6"/>
    <p:sldId xmlns:r="http://schemas.openxmlformats.org/officeDocument/2006/relationships" id="263" r:id="Re3eec79ee07944a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c8ecf822954811" /><Relationship Type="http://schemas.openxmlformats.org/officeDocument/2006/relationships/slideMaster" Target="/ppt/slideMasters/slideMaster1.xml" Id="R194795262b0c4d3f" /><Relationship Type="http://schemas.openxmlformats.org/officeDocument/2006/relationships/notesMaster" Target="/ppt/notesMasters/notesMaster1.xml" Id="Ra60ea17ca2e54fa1" /><Relationship Type="http://schemas.openxmlformats.org/officeDocument/2006/relationships/presProps" Target="/ppt/presProps.xml" Id="R3a67153641cb4d01" /><Relationship Type="http://schemas.openxmlformats.org/officeDocument/2006/relationships/tableStyles" Target="/ppt/tableStyles.xml" Id="Ra793767dd42f490c" /><Relationship Type="http://schemas.openxmlformats.org/officeDocument/2006/relationships/slide" Target="/ppt/slides/slide1.xml" Id="R9afa30acc97641ee" /><Relationship Type="http://schemas.openxmlformats.org/officeDocument/2006/relationships/slide" Target="/ppt/slides/slide2.xml" Id="R3c4ba30b13324174" /><Relationship Type="http://schemas.openxmlformats.org/officeDocument/2006/relationships/slide" Target="/ppt/slides/slide3.xml" Id="R2bac0d01ef1f4b9d" /><Relationship Type="http://schemas.openxmlformats.org/officeDocument/2006/relationships/slide" Target="/ppt/slides/slide4.xml" Id="R65d55e32b15d4a62" /><Relationship Type="http://schemas.openxmlformats.org/officeDocument/2006/relationships/slide" Target="/ppt/slides/slide5.xml" Id="R7ad6eea8db934bf7" /><Relationship Type="http://schemas.openxmlformats.org/officeDocument/2006/relationships/slide" Target="/ppt/slides/slide6.xml" Id="R6ac87f2fc8784e61" /><Relationship Type="http://schemas.openxmlformats.org/officeDocument/2006/relationships/slide" Target="/ppt/slides/slide7.xml" Id="Rd2ab85b79c3243f6" /><Relationship Type="http://schemas.openxmlformats.org/officeDocument/2006/relationships/slide" Target="/ppt/slides/slide8.xml" Id="Re3eec79ee07944a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b9a464d9a7a42d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520b60aa014627" /><Relationship Type="http://schemas.openxmlformats.org/officeDocument/2006/relationships/notesMaster" Target="/ppt/notesMasters/notesMaster1.xml" Id="R32106752be5f4d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e85d5e3ca2b245b7" /><Relationship Type="http://schemas.openxmlformats.org/officeDocument/2006/relationships/notesMaster" Target="/ppt/notesMasters/notesMaster1.xml" Id="Re586ddb7a8ea4cb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b3c27ee3ea949f4" /><Relationship Type="http://schemas.openxmlformats.org/officeDocument/2006/relationships/notesMaster" Target="/ppt/notesMasters/notesMaster1.xml" Id="Rceaaf940fab24466" /></Relationships>
</file>

<file path=ppt/notesSlides/_rels/notesSlide4.xml.rels>&#65279;<?xml version="1.0" encoding="utf-8"?><Relationships xmlns="http://schemas.openxmlformats.org/package/2006/relationships"><Relationship Type="http://schemas.openxmlformats.org/officeDocument/2006/relationships/slide" Target="/ppt/slides/slide4.xml" Id="R57c7944959b04113" /><Relationship Type="http://schemas.openxmlformats.org/officeDocument/2006/relationships/notesMaster" Target="/ppt/notesMasters/notesMaster1.xml" Id="R7590177e7da4492e"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91828611d541cf" /><Relationship Type="http://schemas.openxmlformats.org/officeDocument/2006/relationships/notesMaster" Target="/ppt/notesMasters/notesMaster1.xml" Id="Reb07bfa48a01416b" /></Relationships>
</file>

<file path=ppt/notesSlides/_rels/notesSlide6.xml.rels>&#65279;<?xml version="1.0" encoding="utf-8"?><Relationships xmlns="http://schemas.openxmlformats.org/package/2006/relationships"><Relationship Type="http://schemas.openxmlformats.org/officeDocument/2006/relationships/slide" Target="/ppt/slides/slide6.xml" Id="R4343e6eb87f94986" /><Relationship Type="http://schemas.openxmlformats.org/officeDocument/2006/relationships/notesMaster" Target="/ppt/notesMasters/notesMaster1.xml" Id="Rbb4c5f3325674d98" /></Relationships>
</file>

<file path=ppt/notesSlides/_rels/notesSlide7.xml.rels>&#65279;<?xml version="1.0" encoding="utf-8"?><Relationships xmlns="http://schemas.openxmlformats.org/package/2006/relationships"><Relationship Type="http://schemas.openxmlformats.org/officeDocument/2006/relationships/slide" Target="/ppt/slides/slide7.xml" Id="R634978532a704e17" /><Relationship Type="http://schemas.openxmlformats.org/officeDocument/2006/relationships/notesMaster" Target="/ppt/notesMasters/notesMaster1.xml" Id="R31df759bfcaa4862" /></Relationships>
</file>

<file path=ppt/notesSlides/_rels/notesSlide8.xml.rels>&#65279;<?xml version="1.0" encoding="utf-8"?><Relationships xmlns="http://schemas.openxmlformats.org/package/2006/relationships"><Relationship Type="http://schemas.openxmlformats.org/officeDocument/2006/relationships/slide" Target="/ppt/slides/slide8.xml" Id="R993d5c5e2eec4f74" /><Relationship Type="http://schemas.openxmlformats.org/officeDocument/2006/relationships/notesMaster" Target="/ppt/notesMasters/notesMaster1.xml" Id="R2d84fe446f5441f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Synthetic prototype. No real funds, institutional identities or live Drunix network. Team identity and portal PS wording require 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checked 30 September 2026. Nexus https://docs.nexusglobalpayments.org/payment-processing/key-points describes first-release manual investigations, recalls and disputes and possible future automation. This is documentation, not proof of present deployed release status. FSB Deputy Secretary General remarks, 8 July 2026 https://www.fsb.org/2026/07/cross-border-payments-towards-the-next-chapter/ identify data quality/operational integration frictions, with disclaimer that views do not necessarily represent FSB/members. Swift https://www.swift.com/products/case-management proves an established competitive category, not our savings.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Nexus payment-priority handling https://docs.nexusglobalpayments.org/payment-processing/time-critical-vs-non-time-critical-payments distinguishes scheme-specific status and cancellation behavior. Our rule is a conservative prototype policy, not a universal Nexus cancellation implementation. Node/Go shared conformance tests and browser flow implement the illustrated sequence.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of the locally implemented app, synthetic data. Browser-tested timeout/blocked-refund, late credit/joint closure, shortfall dual approval/correction and evidence alteration. Payments never leave the local application. Drunix network unavailable.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sources src/integrity.js, src/store.js, src/policy.js. Tests check quote-event alteration, removed/truncated events, mismatched snapshots, replay and restart. Completeness and institutional identity need independently pinned public keys and witnessed heads. Local server holds every demo private key. Signatures do not establish truth of external rail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See docs/ARCHITECTURE.md and DECISIONS.md. Node.js24 HTTP/SQLite/Ed25519 signed local journal, browser-native dashboard. Separate Go chaincode and TLS certificate-bound Gateway CLI compile. Dashboard-to-live integration and live Drunix deployment unverified. Official repository pinned ddc0eae778158d3f8a96605cfeda383ae5eafcfc. https://github.com/npci/drunix/blob/main/drunix-network/test-network/README.md. Native editable architecture nodes describe required implementation evidence, not decorative graphics.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Nexus investigation service desk and possible future ISO20022 automation: https://docs.nexusglobalpayments.org/payment-processing/key-points. Swift Case Management and network-agnostic E&amp;I: https://www.swift.com/products/case-management and https://www.swift.com/news-events/news/transforming-exceptions-and-investigations. Trusted database alternative is our architecture inference. No feature superiority or unmet buyer need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Hypotheses, not validated outcomes. Candidate buyers: PSP operations teams or corridor operator. Shadow pilot should compare existing workflows and trusted-database baseline with Drunix. Measure staff minutes, counterparty contacts, evidence rework and resolution time excluding rail waiting. No partners, savings percentage, market size or pricing 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ca127d55d64b5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a5ac29d8f3b487a" /><Relationship Type="http://schemas.openxmlformats.org/officeDocument/2006/relationships/slideLayout" Target="/ppt/slideLayouts/slideLayout1.xml" Id="R7a54cb1b718740d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a54cb1b718740d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b90184a688a436b" /><Relationship Type="http://schemas.openxmlformats.org/officeDocument/2006/relationships/notesSlide" Target="/ppt/notesSlides/notesSlide1.xml" Id="Rb80e24569b36478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01b704b0169478f" /><Relationship Type="http://schemas.openxmlformats.org/officeDocument/2006/relationships/notesSlide" Target="/ppt/notesSlides/notesSlide2.xml" Id="R2e85e1b4869b447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0eb1cc7b1e2443a" /><Relationship Type="http://schemas.openxmlformats.org/officeDocument/2006/relationships/notesSlide" Target="/ppt/notesSlides/notesSlide3.xml" Id="R6631addae79d446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6f89b148533495a" /><Relationship Type="http://schemas.openxmlformats.org/officeDocument/2006/relationships/image" Target="/ppt/media/image.jpeg" Id="R72461a5630f34902" /><Relationship Type="http://schemas.openxmlformats.org/officeDocument/2006/relationships/notesSlide" Target="/ppt/notesSlides/notesSlide4.xml" Id="R72c20a98eb2d487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174b3d3c6b64d6e" /><Relationship Type="http://schemas.openxmlformats.org/officeDocument/2006/relationships/notesSlide" Target="/ppt/notesSlides/notesSlide5.xml" Id="R1f1e9b652668490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8cc2bd6be89439f" /><Relationship Type="http://schemas.openxmlformats.org/officeDocument/2006/relationships/notesSlide" Target="/ppt/notesSlides/notesSlide6.xml" Id="R2457a7c7810d44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390e288ca3b45e9" /><Relationship Type="http://schemas.openxmlformats.org/officeDocument/2006/relationships/notesSlide" Target="/ppt/notesSlides/notesSlide7.xml" Id="Ra11997b948684a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95b214261d2491b" /><Relationship Type="http://schemas.openxmlformats.org/officeDocument/2006/relationships/notesSlide" Target="/ppt/notesSlides/notesSlide8.xml" Id="Rbc5d959e18bc4f5e" /></Relationships>
</file>

<file path=ppt/slides/slide1.xml><?xml version="1.0" encoding="utf-8"?>
<p:sld xmlns:p="http://schemas.openxmlformats.org/presentationml/2006/main">
  <p:cSld>
    <p:bg>
      <p:bgPr>
        <a:solidFill xmlns:a="http://schemas.openxmlformats.org/drawingml/2006/main">
          <a:srgbClr val="173D3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3C0FBEA-0A69-426F-83F9-1B69D93895FC}"/>
              </a:ext>
            </a:extLst>
          </p:cNvPr>
          <p:cNvSpPr>
            <a:spLocks xmlns:a="http://schemas.openxmlformats.org/drawingml/2006/main" noGrp="1"/>
          </p:cNvSpPr>
          <p:nvPr/>
        </p:nvSpPr>
        <p:spPr>
          <a:xfrm xmlns:a="http://schemas.openxmlformats.org/drawingml/2006/main">
            <a:off x="647700" y="4000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93D5B7"/>
                </a:solidFill>
                <a:latin typeface="Arial"/>
                <a:ea typeface="Arial"/>
                <a:cs typeface="Arial"/>
              </a:defRPr>
            </a:pPr>
            <a:r>
              <a:rPr sz="1125" b="1">
                <a:solidFill>
                  <a:srgbClr val="93D5B7"/>
                </a:solidFill>
                <a:latin typeface="Arial"/>
                <a:ea typeface="Arial"/>
                <a:cs typeface="Arial"/>
              </a:rPr>
              <a:t>CROSS-BORDER EXCEPTION OPERATIONS</a:t>
            </a:r>
          </a:p>
        </p:txBody>
      </p:sp>
      <p:sp>
        <p:nvSpPr>
          <p:cNvPr id="2" name="">
            <a:extLst xmlns:a="http://schemas.openxmlformats.org/drawingml/2006/main">
              <a:ext uri="{FF2B5EF4-FFF2-40B4-BE49-F238E27FC236}">
                <a16:creationId xmlns:a16="http://schemas.microsoft.com/office/drawing/2014/main" id="{01FDE713-099E-42DF-A7C9-C576E53C4C57}"/>
              </a:ext>
            </a:extLst>
          </p:cNvPr>
          <p:cNvSpPr>
            <a:spLocks xmlns:a="http://schemas.openxmlformats.org/drawingml/2006/main" noGrp="1"/>
          </p:cNvSpPr>
          <p:nvPr/>
        </p:nvSpPr>
        <p:spPr>
          <a:xfrm xmlns:a="http://schemas.openxmlformats.org/drawingml/2006/main">
            <a:off x="647700" y="91440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CorridorProof</a:t>
            </a:r>
          </a:p>
        </p:txBody>
      </p:sp>
      <p:sp>
        <p:nvSpPr>
          <p:cNvPr id="3" name="">
            <a:extLst xmlns:a="http://schemas.openxmlformats.org/drawingml/2006/main">
              <a:ext uri="{FF2B5EF4-FFF2-40B4-BE49-F238E27FC236}">
                <a16:creationId xmlns:a16="http://schemas.microsoft.com/office/drawing/2014/main" id="{2BA516FF-A6C9-4FC9-B823-069D1271AC24}"/>
              </a:ext>
            </a:extLst>
          </p:cNvPr>
          <p:cNvSpPr>
            <a:spLocks xmlns:a="http://schemas.openxmlformats.org/drawingml/2006/main" noGrp="1"/>
          </p:cNvSpPr>
          <p:nvPr/>
        </p:nvSpPr>
        <p:spPr>
          <a:xfrm xmlns:a="http://schemas.openxmlformats.org/drawingml/2006/main">
            <a:off x="647700" y="633412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3D5B7"/>
                </a:solidFill>
                <a:latin typeface="Arial"/>
                <a:ea typeface="Arial"/>
                <a:cs typeface="Arial"/>
              </a:defRPr>
            </a:pPr>
            <a:r>
              <a:rPr sz="1050" b="0">
                <a:solidFill>
                  <a:srgbClr val="93D5B7"/>
                </a:solidFill>
                <a:latin typeface="Arial"/>
                <a:ea typeface="Arial"/>
                <a:cs typeface="Arial"/>
              </a:rPr>
              <a:t>CorridorProof   /   Drunix hackathon prototype</a:t>
            </a:r>
          </a:p>
        </p:txBody>
      </p:sp>
      <p:sp>
        <p:nvSpPr>
          <p:cNvPr id="4" name="">
            <a:extLst xmlns:a="http://schemas.openxmlformats.org/drawingml/2006/main">
              <a:ext uri="{FF2B5EF4-FFF2-40B4-BE49-F238E27FC236}">
                <a16:creationId xmlns:a16="http://schemas.microsoft.com/office/drawing/2014/main" id="{69903982-9632-4A39-979C-B0B4B09316ED}"/>
              </a:ext>
            </a:extLst>
          </p:cNvPr>
          <p:cNvSpPr>
            <a:spLocks xmlns:a="http://schemas.openxmlformats.org/drawingml/2006/main" noGrp="1"/>
          </p:cNvSpPr>
          <p:nvPr/>
        </p:nvSpPr>
        <p:spPr>
          <a:xfrm xmlns:a="http://schemas.openxmlformats.org/drawingml/2006/main">
            <a:off x="1104900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3D5B7"/>
                </a:solidFill>
                <a:latin typeface="Arial"/>
                <a:ea typeface="Arial"/>
                <a:cs typeface="Arial"/>
              </a:defRPr>
            </a:pPr>
            <a:r>
              <a:rPr sz="1050" b="0">
                <a:solidFill>
                  <a:srgbClr val="93D5B7"/>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E9F0708D-8EF0-44E8-A52C-9095FB952E4A}"/>
              </a:ext>
            </a:extLst>
          </p:cNvPr>
          <p:cNvSpPr>
            <a:spLocks xmlns:a="http://schemas.openxmlformats.org/drawingml/2006/main" noGrp="1"/>
          </p:cNvSpPr>
          <p:nvPr/>
        </p:nvSpPr>
        <p:spPr>
          <a:xfrm xmlns:a="http://schemas.openxmlformats.org/drawingml/2006/main">
            <a:off x="647700" y="2266950"/>
            <a:ext cx="100012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FFFFFF"/>
                </a:solidFill>
                <a:latin typeface="Arial"/>
                <a:ea typeface="Arial"/>
                <a:cs typeface="Arial"/>
              </a:defRPr>
            </a:pPr>
            <a:r>
              <a:rPr sz="4200" b="1">
                <a:solidFill>
                  <a:srgbClr val="FFFFFF"/>
                </a:solidFill>
                <a:latin typeface="Arial"/>
                <a:ea typeface="Arial"/>
                <a:cs typeface="Arial"/>
              </a:rPr>
              <a:t>Shared evidence for</a:t>
            </a:r>
          </a:p>
          <a:p xmlns:a="http://schemas.openxmlformats.org/drawingml/2006/main">
            <a:pPr>
              <a:defRPr sz="4200" b="1">
                <a:solidFill>
                  <a:srgbClr val="FFFFFF"/>
                </a:solidFill>
                <a:latin typeface="Arial"/>
                <a:ea typeface="Arial"/>
                <a:cs typeface="Arial"/>
              </a:defRPr>
            </a:pPr>
            <a:r>
              <a:rPr sz="4200" b="1">
                <a:solidFill>
                  <a:srgbClr val="FFFFFF"/>
                </a:solidFill>
                <a:latin typeface="Arial"/>
                <a:ea typeface="Arial"/>
                <a:cs typeface="Arial"/>
              </a:rPr>
              <a:t>uncertain payment outcomes</a:t>
            </a:r>
          </a:p>
        </p:txBody>
      </p:sp>
      <p:sp>
        <p:nvSpPr>
          <p:cNvPr id="6" name="">
            <a:extLst xmlns:a="http://schemas.openxmlformats.org/drawingml/2006/main">
              <a:ext uri="{FF2B5EF4-FFF2-40B4-BE49-F238E27FC236}">
                <a16:creationId xmlns:a16="http://schemas.microsoft.com/office/drawing/2014/main" id="{944AD53A-5ABB-43BF-A87F-F882F5D44DF5}"/>
              </a:ext>
            </a:extLst>
          </p:cNvPr>
          <p:cNvSpPr>
            <a:spLocks xmlns:a="http://schemas.openxmlformats.org/drawingml/2006/main" noGrp="1"/>
          </p:cNvSpPr>
          <p:nvPr/>
        </p:nvSpPr>
        <p:spPr>
          <a:xfrm xmlns:a="http://schemas.openxmlformats.org/drawingml/2006/main">
            <a:off x="647700" y="4210050"/>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93D5B7"/>
                </a:solidFill>
                <a:latin typeface="Arial"/>
                <a:ea typeface="Arial"/>
                <a:cs typeface="Arial"/>
              </a:defRPr>
            </a:pPr>
            <a:r>
              <a:rPr sz="2175" b="0">
                <a:solidFill>
                  <a:srgbClr val="93D5B7"/>
                </a:solidFill>
                <a:latin typeface="Arial"/>
                <a:ea typeface="Arial"/>
                <a:cs typeface="Arial"/>
              </a:rPr>
              <a:t>Sender and receiver teams agree a safe resolution</a:t>
            </a:r>
          </a:p>
          <a:p xmlns:a="http://schemas.openxmlformats.org/drawingml/2006/main">
            <a:pPr>
              <a:defRPr sz="2175" b="0">
                <a:solidFill>
                  <a:srgbClr val="93D5B7"/>
                </a:solidFill>
                <a:latin typeface="Arial"/>
                <a:ea typeface="Arial"/>
                <a:cs typeface="Arial"/>
              </a:defRPr>
            </a:pPr>
            <a:r>
              <a:rPr sz="2175" b="0">
                <a:solidFill>
                  <a:srgbClr val="93D5B7"/>
                </a:solidFill>
                <a:latin typeface="Arial"/>
                <a:ea typeface="Arial"/>
                <a:cs typeface="Arial"/>
              </a:rPr>
              <a:t>from an attributable case record.</a:t>
            </a:r>
          </a:p>
        </p:txBody>
      </p:sp>
      <p:sp>
        <p:nvSpPr>
          <p:cNvPr id="7" name="">
            <a:extLst xmlns:a="http://schemas.openxmlformats.org/drawingml/2006/main">
              <a:ext uri="{FF2B5EF4-FFF2-40B4-BE49-F238E27FC236}">
                <a16:creationId xmlns:a16="http://schemas.microsoft.com/office/drawing/2014/main" id="{5FE90085-0AA2-4397-9F57-9EA3B03826B0}"/>
              </a:ext>
            </a:extLst>
          </p:cNvPr>
          <p:cNvSpPr>
            <a:spLocks xmlns:a="http://schemas.openxmlformats.org/drawingml/2006/main" noGrp="1"/>
          </p:cNvSpPr>
          <p:nvPr/>
        </p:nvSpPr>
        <p:spPr>
          <a:xfrm xmlns:a="http://schemas.openxmlformats.org/drawingml/2006/main">
            <a:off x="647700" y="554355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FFFFFF"/>
                </a:solidFill>
                <a:latin typeface="Arial"/>
                <a:ea typeface="Arial"/>
                <a:cs typeface="Arial"/>
              </a:defRPr>
            </a:pPr>
            <a:r>
              <a:rPr sz="1500" b="0">
                <a:solidFill>
                  <a:srgbClr val="FFFFFF"/>
                </a:solidFill>
                <a:latin typeface="Arial"/>
                <a:ea typeface="Arial"/>
                <a:cs typeface="Arial"/>
              </a:rPr>
              <a:t>Local signed demo   /   Go chaincode and Gateway CLI supplied</a:t>
            </a:r>
          </a:p>
        </p:txBody>
      </p:sp>
    </p:spTree>
    <p:extLst>
      <p:ext uri="{BB962C8B-B14F-4D97-AF65-F5344CB8AC3E}">
        <p14:creationId xmlns:p14="http://schemas.microsoft.com/office/powerpoint/2010/main" val="1968947892"/>
      </p:ext>
    </p:extLst>
  </p:cSld>
</p:sld>
</file>

<file path=ppt/slides/slide2.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60780A3-9E65-430B-8F71-4671F2133665}"/>
              </a:ext>
            </a:extLst>
          </p:cNvPr>
          <p:cNvSpPr>
            <a:spLocks xmlns:a="http://schemas.openxmlformats.org/drawingml/2006/main" noGrp="1"/>
          </p:cNvSpPr>
          <p:nvPr/>
        </p:nvSpPr>
        <p:spPr>
          <a:xfrm xmlns:a="http://schemas.openxmlformats.org/drawingml/2006/main">
            <a:off x="647700" y="4000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27C63"/>
                </a:solidFill>
                <a:latin typeface="Arial"/>
                <a:ea typeface="Arial"/>
                <a:cs typeface="Arial"/>
              </a:defRPr>
            </a:pPr>
            <a:r>
              <a:rPr sz="1125" b="1">
                <a:solidFill>
                  <a:srgbClr val="327C63"/>
                </a:solidFill>
                <a:latin typeface="Arial"/>
                <a:ea typeface="Arial"/>
                <a:cs typeface="Arial"/>
              </a:rPr>
              <a:t>PROBLEM EVIDENCE</a:t>
            </a:r>
          </a:p>
        </p:txBody>
      </p:sp>
      <p:sp>
        <p:nvSpPr>
          <p:cNvPr id="2" name="">
            <a:extLst xmlns:a="http://schemas.openxmlformats.org/drawingml/2006/main">
              <a:ext uri="{FF2B5EF4-FFF2-40B4-BE49-F238E27FC236}">
                <a16:creationId xmlns:a16="http://schemas.microsoft.com/office/drawing/2014/main" id="{DA406EEB-5CE3-4631-AD3D-04BB66EC73DB}"/>
              </a:ext>
            </a:extLst>
          </p:cNvPr>
          <p:cNvSpPr>
            <a:spLocks xmlns:a="http://schemas.openxmlformats.org/drawingml/2006/main" noGrp="1"/>
          </p:cNvSpPr>
          <p:nvPr/>
        </p:nvSpPr>
        <p:spPr>
          <a:xfrm xmlns:a="http://schemas.openxmlformats.org/drawingml/2006/main">
            <a:off x="647700" y="91440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D33"/>
                </a:solidFill>
                <a:latin typeface="Arial"/>
                <a:ea typeface="Arial"/>
                <a:cs typeface="Arial"/>
              </a:defRPr>
            </a:pPr>
            <a:r>
              <a:rPr sz="3450" b="1">
                <a:solidFill>
                  <a:srgbClr val="173D33"/>
                </a:solidFill>
                <a:latin typeface="Arial"/>
                <a:ea typeface="Arial"/>
                <a:cs typeface="Arial"/>
              </a:rPr>
              <a:t>Manual exceptions remain a documented requirement</a:t>
            </a:r>
          </a:p>
        </p:txBody>
      </p:sp>
      <p:sp>
        <p:nvSpPr>
          <p:cNvPr id="3" name="">
            <a:extLst xmlns:a="http://schemas.openxmlformats.org/drawingml/2006/main">
              <a:ext uri="{FF2B5EF4-FFF2-40B4-BE49-F238E27FC236}">
                <a16:creationId xmlns:a16="http://schemas.microsoft.com/office/drawing/2014/main" id="{49ABB249-709F-4FCD-87CD-9472ED95A74C}"/>
              </a:ext>
            </a:extLst>
          </p:cNvPr>
          <p:cNvSpPr>
            <a:spLocks xmlns:a="http://schemas.openxmlformats.org/drawingml/2006/main" noGrp="1"/>
          </p:cNvSpPr>
          <p:nvPr/>
        </p:nvSpPr>
        <p:spPr>
          <a:xfrm xmlns:a="http://schemas.openxmlformats.org/drawingml/2006/main">
            <a:off x="647700" y="633412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CorridorProof   /   Drunix hackathon prototype</a:t>
            </a:r>
          </a:p>
        </p:txBody>
      </p:sp>
      <p:sp>
        <p:nvSpPr>
          <p:cNvPr id="4" name="">
            <a:extLst xmlns:a="http://schemas.openxmlformats.org/drawingml/2006/main">
              <a:ext uri="{FF2B5EF4-FFF2-40B4-BE49-F238E27FC236}">
                <a16:creationId xmlns:a16="http://schemas.microsoft.com/office/drawing/2014/main" id="{FED91E9C-102C-40C7-BD6D-E7AA8672E009}"/>
              </a:ext>
            </a:extLst>
          </p:cNvPr>
          <p:cNvSpPr>
            <a:spLocks xmlns:a="http://schemas.openxmlformats.org/drawingml/2006/main" noGrp="1"/>
          </p:cNvSpPr>
          <p:nvPr/>
        </p:nvSpPr>
        <p:spPr>
          <a:xfrm xmlns:a="http://schemas.openxmlformats.org/drawingml/2006/main">
            <a:off x="1104900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8600F865-E265-48B3-82F3-FF2DE888FBD1}"/>
              </a:ext>
            </a:extLst>
          </p:cNvPr>
          <p:cNvSpPr>
            <a:spLocks xmlns:a="http://schemas.openxmlformats.org/drawingml/2006/main" noGrp="1"/>
          </p:cNvSpPr>
          <p:nvPr/>
        </p:nvSpPr>
        <p:spPr>
          <a:xfrm xmlns:a="http://schemas.openxmlformats.org/drawingml/2006/main">
            <a:off x="647700" y="2333625"/>
            <a:ext cx="1047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3D33"/>
                </a:solidFill>
                <a:latin typeface="Arial"/>
                <a:ea typeface="Arial"/>
                <a:cs typeface="Arial"/>
              </a:defRPr>
            </a:pPr>
            <a:r>
              <a:rPr sz="2700" b="1">
                <a:solidFill>
                  <a:srgbClr val="173D33"/>
                </a:solidFill>
                <a:latin typeface="Arial"/>
                <a:ea typeface="Arial"/>
                <a:cs typeface="Arial"/>
              </a:rPr>
              <a:t>Nexus documentation describes manual handling of</a:t>
            </a:r>
          </a:p>
          <a:p xmlns:a="http://schemas.openxmlformats.org/drawingml/2006/main">
            <a:pPr>
              <a:defRPr sz="2700" b="1">
                <a:solidFill>
                  <a:srgbClr val="173D33"/>
                </a:solidFill>
                <a:latin typeface="Arial"/>
                <a:ea typeface="Arial"/>
                <a:cs typeface="Arial"/>
              </a:defRPr>
            </a:pPr>
            <a:r>
              <a:rPr sz="2700" b="1">
                <a:solidFill>
                  <a:srgbClr val="173D33"/>
                </a:solidFill>
                <a:latin typeface="Arial"/>
                <a:ea typeface="Arial"/>
                <a:cs typeface="Arial"/>
              </a:rPr>
              <a:t>investigations, recalls and disputes in its first release.</a:t>
            </a:r>
          </a:p>
        </p:txBody>
      </p:sp>
      <p:sp>
        <p:nvSpPr>
          <p:cNvPr id="6" name="">
            <a:extLst xmlns:a="http://schemas.openxmlformats.org/drawingml/2006/main">
              <a:ext uri="{FF2B5EF4-FFF2-40B4-BE49-F238E27FC236}">
                <a16:creationId xmlns:a16="http://schemas.microsoft.com/office/drawing/2014/main" id="{61978C5D-0532-4C07-B1DE-1731AB1E7BAA}"/>
              </a:ext>
            </a:extLst>
          </p:cNvPr>
          <p:cNvSpPr>
            <a:spLocks xmlns:a="http://schemas.openxmlformats.org/drawingml/2006/main" noGrp="1"/>
          </p:cNvSpPr>
          <p:nvPr/>
        </p:nvSpPr>
        <p:spPr>
          <a:xfrm xmlns:a="http://schemas.openxmlformats.org/drawingml/2006/main">
            <a:off x="647700" y="3771900"/>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327C63"/>
                </a:solidFill>
                <a:latin typeface="Arial"/>
                <a:ea typeface="Arial"/>
                <a:cs typeface="Arial"/>
              </a:defRPr>
            </a:pPr>
            <a:r>
              <a:rPr sz="1725" b="1">
                <a:solidFill>
                  <a:srgbClr val="327C63"/>
                </a:solidFill>
                <a:latin typeface="Arial"/>
                <a:ea typeface="Arial"/>
                <a:cs typeface="Arial"/>
              </a:rPr>
              <a:t>Our narrow question</a:t>
            </a:r>
          </a:p>
        </p:txBody>
      </p:sp>
      <p:sp>
        <p:nvSpPr>
          <p:cNvPr id="7" name="">
            <a:extLst xmlns:a="http://schemas.openxmlformats.org/drawingml/2006/main">
              <a:ext uri="{FF2B5EF4-FFF2-40B4-BE49-F238E27FC236}">
                <a16:creationId xmlns:a16="http://schemas.microsoft.com/office/drawing/2014/main" id="{20CAAD76-B6E0-4DF3-98F9-9D3970CE024E}"/>
              </a:ext>
            </a:extLst>
          </p:cNvPr>
          <p:cNvSpPr>
            <a:spLocks xmlns:a="http://schemas.openxmlformats.org/drawingml/2006/main" noGrp="1"/>
          </p:cNvSpPr>
          <p:nvPr/>
        </p:nvSpPr>
        <p:spPr>
          <a:xfrm xmlns:a="http://schemas.openxmlformats.org/drawingml/2006/main">
            <a:off x="647700" y="42767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D33"/>
                </a:solidFill>
                <a:latin typeface="Arial"/>
                <a:ea typeface="Arial"/>
                <a:cs typeface="Arial"/>
              </a:defRPr>
            </a:pPr>
            <a:r>
              <a:rPr sz="2325" b="0">
                <a:solidFill>
                  <a:srgbClr val="173D33"/>
                </a:solidFill>
                <a:latin typeface="Arial"/>
                <a:ea typeface="Arial"/>
                <a:cs typeface="Arial"/>
              </a:rPr>
              <a:t>Can two operations teams share the evidence and</a:t>
            </a:r>
          </a:p>
          <a:p xmlns:a="http://schemas.openxmlformats.org/drawingml/2006/main">
            <a:pPr>
              <a:defRPr sz="2325" b="0">
                <a:solidFill>
                  <a:srgbClr val="173D33"/>
                </a:solidFill>
                <a:latin typeface="Arial"/>
                <a:ea typeface="Arial"/>
                <a:cs typeface="Arial"/>
              </a:defRPr>
            </a:pPr>
            <a:r>
              <a:rPr sz="2325" b="0">
                <a:solidFill>
                  <a:srgbClr val="173D33"/>
                </a:solidFill>
                <a:latin typeface="Arial"/>
                <a:ea typeface="Arial"/>
                <a:cs typeface="Arial"/>
              </a:rPr>
              <a:t>approvals needed to resolve uncertain payouts safely?</a:t>
            </a:r>
          </a:p>
        </p:txBody>
      </p:sp>
      <p:sp>
        <p:nvSpPr>
          <p:cNvPr id="8" name="">
            <a:extLst xmlns:a="http://schemas.openxmlformats.org/drawingml/2006/main">
              <a:ext uri="{FF2B5EF4-FFF2-40B4-BE49-F238E27FC236}">
                <a16:creationId xmlns:a16="http://schemas.microsoft.com/office/drawing/2014/main" id="{87CE99AB-6C09-427E-AF78-0366C2C647A8}"/>
              </a:ext>
            </a:extLst>
          </p:cNvPr>
          <p:cNvSpPr>
            <a:spLocks xmlns:a="http://schemas.openxmlformats.org/drawingml/2006/main" noGrp="1"/>
          </p:cNvSpPr>
          <p:nvPr/>
        </p:nvSpPr>
        <p:spPr>
          <a:xfrm xmlns:a="http://schemas.openxmlformats.org/drawingml/2006/main">
            <a:off x="647700" y="56578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E8377"/>
                </a:solidFill>
                <a:latin typeface="Arial"/>
                <a:ea typeface="Arial"/>
                <a:cs typeface="Arial"/>
              </a:defRPr>
            </a:pPr>
            <a:r>
              <a:rPr sz="1500" b="0">
                <a:solidFill>
                  <a:srgbClr val="6E8377"/>
                </a:solidFill>
                <a:latin typeface="Arial"/>
                <a:ea typeface="Arial"/>
                <a:cs typeface="Arial"/>
              </a:rPr>
              <a:t>Documentation supports the problem. Partner demand and savings remain unvalidated.</a:t>
            </a:r>
          </a:p>
        </p:txBody>
      </p:sp>
    </p:spTree>
    <p:extLst>
      <p:ext uri="{BB962C8B-B14F-4D97-AF65-F5344CB8AC3E}">
        <p14:creationId xmlns:p14="http://schemas.microsoft.com/office/powerpoint/2010/main" val="494348337"/>
      </p:ext>
    </p:extLst>
  </p:cSld>
</p:sld>
</file>

<file path=ppt/slides/slide3.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89E084D-D128-4D83-B4E5-572B606ED265}"/>
              </a:ext>
            </a:extLst>
          </p:cNvPr>
          <p:cNvSpPr>
            <a:spLocks xmlns:a="http://schemas.openxmlformats.org/drawingml/2006/main" noGrp="1"/>
          </p:cNvSpPr>
          <p:nvPr/>
        </p:nvSpPr>
        <p:spPr>
          <a:xfrm xmlns:a="http://schemas.openxmlformats.org/drawingml/2006/main">
            <a:off x="647700" y="4000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27C63"/>
                </a:solidFill>
                <a:latin typeface="Arial"/>
                <a:ea typeface="Arial"/>
                <a:cs typeface="Arial"/>
              </a:defRPr>
            </a:pPr>
            <a:r>
              <a:rPr sz="1125" b="1">
                <a:solidFill>
                  <a:srgbClr val="327C63"/>
                </a:solidFill>
                <a:latin typeface="Arial"/>
                <a:ea typeface="Arial"/>
                <a:cs typeface="Arial"/>
              </a:rPr>
              <a:t>CORE SAFEGUARD</a:t>
            </a:r>
          </a:p>
        </p:txBody>
      </p:sp>
      <p:sp>
        <p:nvSpPr>
          <p:cNvPr id="2" name="">
            <a:extLst xmlns:a="http://schemas.openxmlformats.org/drawingml/2006/main">
              <a:ext uri="{FF2B5EF4-FFF2-40B4-BE49-F238E27FC236}">
                <a16:creationId xmlns:a16="http://schemas.microsoft.com/office/drawing/2014/main" id="{DD321FD6-E1C5-4458-9D37-8D3F3DC9DC4E}"/>
              </a:ext>
            </a:extLst>
          </p:cNvPr>
          <p:cNvSpPr>
            <a:spLocks xmlns:a="http://schemas.openxmlformats.org/drawingml/2006/main" noGrp="1"/>
          </p:cNvSpPr>
          <p:nvPr/>
        </p:nvSpPr>
        <p:spPr>
          <a:xfrm xmlns:a="http://schemas.openxmlformats.org/drawingml/2006/main">
            <a:off x="647700" y="91440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D33"/>
                </a:solidFill>
                <a:latin typeface="Arial"/>
                <a:ea typeface="Arial"/>
                <a:cs typeface="Arial"/>
              </a:defRPr>
            </a:pPr>
            <a:r>
              <a:rPr sz="3450" b="1">
                <a:solidFill>
                  <a:srgbClr val="173D33"/>
                </a:solidFill>
                <a:latin typeface="Arial"/>
                <a:ea typeface="Arial"/>
                <a:cs typeface="Arial"/>
              </a:rPr>
              <a:t>Unknown payout outcomes need reconciliation</a:t>
            </a:r>
          </a:p>
        </p:txBody>
      </p:sp>
      <p:sp>
        <p:nvSpPr>
          <p:cNvPr id="3" name="">
            <a:extLst xmlns:a="http://schemas.openxmlformats.org/drawingml/2006/main">
              <a:ext uri="{FF2B5EF4-FFF2-40B4-BE49-F238E27FC236}">
                <a16:creationId xmlns:a16="http://schemas.microsoft.com/office/drawing/2014/main" id="{0F090B11-56D5-4A03-AD35-9779095AC97A}"/>
              </a:ext>
            </a:extLst>
          </p:cNvPr>
          <p:cNvSpPr>
            <a:spLocks xmlns:a="http://schemas.openxmlformats.org/drawingml/2006/main" noGrp="1"/>
          </p:cNvSpPr>
          <p:nvPr/>
        </p:nvSpPr>
        <p:spPr>
          <a:xfrm xmlns:a="http://schemas.openxmlformats.org/drawingml/2006/main">
            <a:off x="647700" y="633412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CorridorProof   /   Drunix hackathon prototype</a:t>
            </a:r>
          </a:p>
        </p:txBody>
      </p:sp>
      <p:sp>
        <p:nvSpPr>
          <p:cNvPr id="4" name="">
            <a:extLst xmlns:a="http://schemas.openxmlformats.org/drawingml/2006/main">
              <a:ext uri="{FF2B5EF4-FFF2-40B4-BE49-F238E27FC236}">
                <a16:creationId xmlns:a16="http://schemas.microsoft.com/office/drawing/2014/main" id="{9767BA82-33BC-49E3-A770-F4F2C8627B63}"/>
              </a:ext>
            </a:extLst>
          </p:cNvPr>
          <p:cNvSpPr>
            <a:spLocks xmlns:a="http://schemas.openxmlformats.org/drawingml/2006/main" noGrp="1"/>
          </p:cNvSpPr>
          <p:nvPr/>
        </p:nvSpPr>
        <p:spPr>
          <a:xfrm xmlns:a="http://schemas.openxmlformats.org/drawingml/2006/main">
            <a:off x="1104900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8B36ABAC-BC49-44D3-851C-E66423BDF765}"/>
              </a:ext>
            </a:extLst>
          </p:cNvPr>
          <p:cNvSpPr>
            <a:spLocks xmlns:a="http://schemas.openxmlformats.org/drawingml/2006/main" noGrp="1"/>
          </p:cNvSpPr>
          <p:nvPr/>
        </p:nvSpPr>
        <p:spPr>
          <a:xfrm xmlns:a="http://schemas.openxmlformats.org/drawingml/2006/main">
            <a:off x="647700" y="2333625"/>
            <a:ext cx="4476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3D33"/>
                </a:solidFill>
                <a:latin typeface="Arial"/>
                <a:ea typeface="Arial"/>
                <a:cs typeface="Arial"/>
              </a:defRPr>
            </a:pPr>
            <a:r>
              <a:rPr sz="2850" b="1">
                <a:solidFill>
                  <a:srgbClr val="173D33"/>
                </a:solidFill>
                <a:latin typeface="Arial"/>
                <a:ea typeface="Arial"/>
                <a:cs typeface="Arial"/>
              </a:rPr>
              <a:t>Missing response</a:t>
            </a:r>
          </a:p>
        </p:txBody>
      </p:sp>
      <p:sp>
        <p:nvSpPr>
          <p:cNvPr id="6" name="">
            <a:extLst xmlns:a="http://schemas.openxmlformats.org/drawingml/2006/main">
              <a:ext uri="{FF2B5EF4-FFF2-40B4-BE49-F238E27FC236}">
                <a16:creationId xmlns:a16="http://schemas.microsoft.com/office/drawing/2014/main" id="{1F064A9C-6728-4CF4-B3F3-D74CE4697B13}"/>
              </a:ext>
            </a:extLst>
          </p:cNvPr>
          <p:cNvSpPr>
            <a:spLocks xmlns:a="http://schemas.openxmlformats.org/drawingml/2006/main" noGrp="1"/>
          </p:cNvSpPr>
          <p:nvPr/>
        </p:nvSpPr>
        <p:spPr>
          <a:xfrm xmlns:a="http://schemas.openxmlformats.org/drawingml/2006/main">
            <a:off x="6191250" y="2333625"/>
            <a:ext cx="5048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327C63"/>
                </a:solidFill>
                <a:latin typeface="Arial"/>
                <a:ea typeface="Arial"/>
                <a:cs typeface="Arial"/>
              </a:defRPr>
            </a:pPr>
            <a:r>
              <a:rPr sz="2850" b="1">
                <a:solidFill>
                  <a:srgbClr val="327C63"/>
                </a:solidFill>
                <a:latin typeface="Arial"/>
                <a:ea typeface="Arial"/>
                <a:cs typeface="Arial"/>
              </a:rPr>
              <a:t>Status stays unknown</a:t>
            </a:r>
          </a:p>
        </p:txBody>
      </p:sp>
      <p:sp>
        <p:nvSpPr>
          <p:cNvPr id="7" name="">
            <a:extLst xmlns:a="http://schemas.openxmlformats.org/drawingml/2006/main">
              <a:ext uri="{FF2B5EF4-FFF2-40B4-BE49-F238E27FC236}">
                <a16:creationId xmlns:a16="http://schemas.microsoft.com/office/drawing/2014/main" id="{D45A0314-6CA7-454D-B07D-372E64AB36F4}"/>
              </a:ext>
            </a:extLst>
          </p:cNvPr>
          <p:cNvSpPr>
            <a:spLocks xmlns:a="http://schemas.openxmlformats.org/drawingml/2006/main" noGrp="1"/>
          </p:cNvSpPr>
          <p:nvPr/>
        </p:nvSpPr>
        <p:spPr>
          <a:xfrm xmlns:a="http://schemas.openxmlformats.org/drawingml/2006/main">
            <a:off x="647700" y="3067050"/>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D33"/>
                </a:solidFill>
                <a:latin typeface="Arial"/>
                <a:ea typeface="Arial"/>
                <a:cs typeface="Arial"/>
              </a:defRPr>
            </a:pPr>
            <a:r>
              <a:rPr sz="2100" b="0">
                <a:solidFill>
                  <a:srgbClr val="173D33"/>
                </a:solidFill>
                <a:latin typeface="Arial"/>
                <a:ea typeface="Arial"/>
                <a:cs typeface="Arial"/>
              </a:rPr>
              <a:t>A timeout records an exception.</a:t>
            </a:r>
          </a:p>
          <a:p xmlns:a="http://schemas.openxmlformats.org/drawingml/2006/main">
            <a:pPr>
              <a:defRPr sz="2100" b="0">
                <a:solidFill>
                  <a:srgbClr val="173D33"/>
                </a:solidFill>
                <a:latin typeface="Arial"/>
                <a:ea typeface="Arial"/>
                <a:cs typeface="Arial"/>
              </a:defRPr>
            </a:pPr>
            <a:r>
              <a:rPr sz="2100" b="0">
                <a:solidFill>
                  <a:srgbClr val="173D33"/>
                </a:solidFill>
                <a:latin typeface="Arial"/>
                <a:ea typeface="Arial"/>
                <a:cs typeface="Arial"/>
              </a:rPr>
              <a:t>It cannot approve a refund.</a:t>
            </a:r>
          </a:p>
        </p:txBody>
      </p:sp>
      <p:sp>
        <p:nvSpPr>
          <p:cNvPr id="8" name="">
            <a:extLst xmlns:a="http://schemas.openxmlformats.org/drawingml/2006/main">
              <a:ext uri="{FF2B5EF4-FFF2-40B4-BE49-F238E27FC236}">
                <a16:creationId xmlns:a16="http://schemas.microsoft.com/office/drawing/2014/main" id="{BA74A341-780D-486C-B6EF-17C423847267}"/>
              </a:ext>
            </a:extLst>
          </p:cNvPr>
          <p:cNvSpPr>
            <a:spLocks xmlns:a="http://schemas.openxmlformats.org/drawingml/2006/main" noGrp="1"/>
          </p:cNvSpPr>
          <p:nvPr/>
        </p:nvSpPr>
        <p:spPr>
          <a:xfrm xmlns:a="http://schemas.openxmlformats.org/drawingml/2006/main">
            <a:off x="6191250" y="306705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D33"/>
                </a:solidFill>
                <a:latin typeface="Arial"/>
                <a:ea typeface="Arial"/>
                <a:cs typeface="Arial"/>
              </a:defRPr>
            </a:pPr>
            <a:r>
              <a:rPr sz="2100" b="0">
                <a:solidFill>
                  <a:srgbClr val="173D33"/>
                </a:solidFill>
                <a:latin typeface="Arial"/>
                <a:ea typeface="Arial"/>
                <a:cs typeface="Arial"/>
              </a:rPr>
              <a:t>Receiver evidence determines</a:t>
            </a:r>
          </a:p>
          <a:p xmlns:a="http://schemas.openxmlformats.org/drawingml/2006/main">
            <a:pPr>
              <a:defRPr sz="2100" b="0">
                <a:solidFill>
                  <a:srgbClr val="173D33"/>
                </a:solidFill>
                <a:latin typeface="Arial"/>
                <a:ea typeface="Arial"/>
                <a:cs typeface="Arial"/>
              </a:defRPr>
            </a:pPr>
            <a:r>
              <a:rPr sz="2100" b="0">
                <a:solidFill>
                  <a:srgbClr val="173D33"/>
                </a:solidFill>
                <a:latin typeface="Arial"/>
                <a:ea typeface="Arial"/>
                <a:cs typeface="Arial"/>
              </a:rPr>
              <a:t>the next resolution step.</a:t>
            </a:r>
          </a:p>
        </p:txBody>
      </p:sp>
      <p:sp>
        <p:nvSpPr>
          <p:cNvPr id="9" name="">
            <a:extLst xmlns:a="http://schemas.openxmlformats.org/drawingml/2006/main">
              <a:ext uri="{FF2B5EF4-FFF2-40B4-BE49-F238E27FC236}">
                <a16:creationId xmlns:a16="http://schemas.microsoft.com/office/drawing/2014/main" id="{19917DFE-DC68-4883-98C3-7DDCFA010A9F}"/>
              </a:ext>
            </a:extLst>
          </p:cNvPr>
          <p:cNvSpPr>
            <a:spLocks xmlns:a="http://schemas.openxmlformats.org/drawingml/2006/main" noGrp="1"/>
          </p:cNvSpPr>
          <p:nvPr/>
        </p:nvSpPr>
        <p:spPr>
          <a:xfrm xmlns:a="http://schemas.openxmlformats.org/drawingml/2006/main">
            <a:off x="647700" y="4533900"/>
            <a:ext cx="3810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27C63"/>
                </a:solidFill>
                <a:latin typeface="Arial"/>
                <a:ea typeface="Arial"/>
                <a:cs typeface="Arial"/>
              </a:defRPr>
            </a:pPr>
            <a:r>
              <a:rPr sz="2100" b="1">
                <a:solidFill>
                  <a:srgbClr val="327C63"/>
                </a:solidFill>
                <a:latin typeface="Arial"/>
                <a:ea typeface="Arial"/>
                <a:cs typeface="Arial"/>
              </a:rPr>
              <a:t>Late credit</a:t>
            </a:r>
          </a:p>
        </p:txBody>
      </p:sp>
      <p:sp>
        <p:nvSpPr>
          <p:cNvPr id="10" name="">
            <a:extLst xmlns:a="http://schemas.openxmlformats.org/drawingml/2006/main">
              <a:ext uri="{FF2B5EF4-FFF2-40B4-BE49-F238E27FC236}">
                <a16:creationId xmlns:a16="http://schemas.microsoft.com/office/drawing/2014/main" id="{A99AEBF7-4418-4ACD-B696-FDB6120C5327}"/>
              </a:ext>
            </a:extLst>
          </p:cNvPr>
          <p:cNvSpPr>
            <a:spLocks xmlns:a="http://schemas.openxmlformats.org/drawingml/2006/main" noGrp="1"/>
          </p:cNvSpPr>
          <p:nvPr/>
        </p:nvSpPr>
        <p:spPr>
          <a:xfrm xmlns:a="http://schemas.openxmlformats.org/drawingml/2006/main">
            <a:off x="647700" y="50196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Both parties acknowledge closure. No refund occurs.</a:t>
            </a:r>
          </a:p>
        </p:txBody>
      </p:sp>
    </p:spTree>
    <p:extLst>
      <p:ext uri="{BB962C8B-B14F-4D97-AF65-F5344CB8AC3E}">
        <p14:creationId xmlns:p14="http://schemas.microsoft.com/office/powerpoint/2010/main" val="728266630"/>
      </p:ext>
    </p:extLst>
  </p:cSld>
</p:sld>
</file>

<file path=ppt/slides/slide4.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234E4B6-DE1D-43E7-AD85-9446A6140A39}"/>
              </a:ext>
            </a:extLst>
          </p:cNvPr>
          <p:cNvSpPr>
            <a:spLocks xmlns:a="http://schemas.openxmlformats.org/drawingml/2006/main" noGrp="1"/>
          </p:cNvSpPr>
          <p:nvPr/>
        </p:nvSpPr>
        <p:spPr>
          <a:xfrm xmlns:a="http://schemas.openxmlformats.org/drawingml/2006/main">
            <a:off x="647700" y="4000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27C63"/>
                </a:solidFill>
                <a:latin typeface="Arial"/>
                <a:ea typeface="Arial"/>
                <a:cs typeface="Arial"/>
              </a:defRPr>
            </a:pPr>
            <a:r>
              <a:rPr sz="1125" b="1">
                <a:solidFill>
                  <a:srgbClr val="327C63"/>
                </a:solidFill>
                <a:latin typeface="Arial"/>
                <a:ea typeface="Arial"/>
                <a:cs typeface="Arial"/>
              </a:rPr>
              <a:t>PROTOTYPE DEMONSTRATION</a:t>
            </a:r>
          </a:p>
        </p:txBody>
      </p:sp>
      <p:sp>
        <p:nvSpPr>
          <p:cNvPr id="2" name="">
            <a:extLst xmlns:a="http://schemas.openxmlformats.org/drawingml/2006/main">
              <a:ext uri="{FF2B5EF4-FFF2-40B4-BE49-F238E27FC236}">
                <a16:creationId xmlns:a16="http://schemas.microsoft.com/office/drawing/2014/main" id="{04A761DE-6D4A-4587-A086-0FBF7D022EC9}"/>
              </a:ext>
            </a:extLst>
          </p:cNvPr>
          <p:cNvSpPr>
            <a:spLocks xmlns:a="http://schemas.openxmlformats.org/drawingml/2006/main" noGrp="1"/>
          </p:cNvSpPr>
          <p:nvPr/>
        </p:nvSpPr>
        <p:spPr>
          <a:xfrm xmlns:a="http://schemas.openxmlformats.org/drawingml/2006/main">
            <a:off x="647700" y="91440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D33"/>
                </a:solidFill>
                <a:latin typeface="Arial"/>
                <a:ea typeface="Arial"/>
                <a:cs typeface="Arial"/>
              </a:defRPr>
            </a:pPr>
            <a:r>
              <a:rPr sz="3450" b="1">
                <a:solidFill>
                  <a:srgbClr val="173D33"/>
                </a:solidFill>
                <a:latin typeface="Arial"/>
                <a:ea typeface="Arial"/>
                <a:cs typeface="Arial"/>
              </a:rPr>
              <a:t>A working exception desk</a:t>
            </a:r>
          </a:p>
        </p:txBody>
      </p:sp>
      <p:sp>
        <p:nvSpPr>
          <p:cNvPr id="3" name="">
            <a:extLst xmlns:a="http://schemas.openxmlformats.org/drawingml/2006/main">
              <a:ext uri="{FF2B5EF4-FFF2-40B4-BE49-F238E27FC236}">
                <a16:creationId xmlns:a16="http://schemas.microsoft.com/office/drawing/2014/main" id="{FE1DBB65-D3DB-4BC6-98BE-615756C76C95}"/>
              </a:ext>
            </a:extLst>
          </p:cNvPr>
          <p:cNvSpPr>
            <a:spLocks xmlns:a="http://schemas.openxmlformats.org/drawingml/2006/main" noGrp="1"/>
          </p:cNvSpPr>
          <p:nvPr/>
        </p:nvSpPr>
        <p:spPr>
          <a:xfrm xmlns:a="http://schemas.openxmlformats.org/drawingml/2006/main">
            <a:off x="647700" y="633412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CorridorProof   /   Drunix hackathon prototype</a:t>
            </a:r>
          </a:p>
        </p:txBody>
      </p:sp>
      <p:sp>
        <p:nvSpPr>
          <p:cNvPr id="4" name="">
            <a:extLst xmlns:a="http://schemas.openxmlformats.org/drawingml/2006/main">
              <a:ext uri="{FF2B5EF4-FFF2-40B4-BE49-F238E27FC236}">
                <a16:creationId xmlns:a16="http://schemas.microsoft.com/office/drawing/2014/main" id="{D52D68E6-DBB8-4D1A-BB47-C936F28FFE68}"/>
              </a:ext>
            </a:extLst>
          </p:cNvPr>
          <p:cNvSpPr>
            <a:spLocks xmlns:a="http://schemas.openxmlformats.org/drawingml/2006/main" noGrp="1"/>
          </p:cNvSpPr>
          <p:nvPr/>
        </p:nvSpPr>
        <p:spPr>
          <a:xfrm xmlns:a="http://schemas.openxmlformats.org/drawingml/2006/main">
            <a:off x="1104900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04</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2461a5630f34902"/>
          <a:stretch xmlns:a="http://schemas.openxmlformats.org/drawingml/2006/main"/>
        </p:blipFill>
        <p:spPr>
          <a:xfrm xmlns:a="http://schemas.openxmlformats.org/drawingml/2006/main">
            <a:off x="1462088" y="2085975"/>
            <a:ext cx="5857875" cy="3905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1CA6D1A-0AD7-4241-A817-B0E12C7CE72C}"/>
              </a:ext>
            </a:extLst>
          </p:cNvPr>
          <p:cNvSpPr>
            <a:spLocks xmlns:a="http://schemas.openxmlformats.org/drawingml/2006/main" noGrp="1"/>
          </p:cNvSpPr>
          <p:nvPr/>
        </p:nvSpPr>
        <p:spPr>
          <a:xfrm xmlns:a="http://schemas.openxmlformats.org/drawingml/2006/main">
            <a:off x="8705850" y="221932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327C63"/>
                </a:solidFill>
                <a:latin typeface="Arial"/>
                <a:ea typeface="Arial"/>
                <a:cs typeface="Arial"/>
              </a:defRPr>
            </a:pPr>
            <a:r>
              <a:rPr sz="2025" b="1">
                <a:solidFill>
                  <a:srgbClr val="327C63"/>
                </a:solidFill>
                <a:latin typeface="Arial"/>
                <a:ea typeface="Arial"/>
                <a:cs typeface="Arial"/>
              </a:rPr>
              <a:t>Visible safeguards</a:t>
            </a:r>
          </a:p>
        </p:txBody>
      </p:sp>
      <p:sp>
        <p:nvSpPr>
          <p:cNvPr id="7" name="">
            <a:extLst xmlns:a="http://schemas.openxmlformats.org/drawingml/2006/main">
              <a:ext uri="{FF2B5EF4-FFF2-40B4-BE49-F238E27FC236}">
                <a16:creationId xmlns:a16="http://schemas.microsoft.com/office/drawing/2014/main" id="{8B830398-0D76-4EFB-B548-4335768B2CF4}"/>
              </a:ext>
            </a:extLst>
          </p:cNvPr>
          <p:cNvSpPr>
            <a:spLocks xmlns:a="http://schemas.openxmlformats.org/drawingml/2006/main" noGrp="1"/>
          </p:cNvSpPr>
          <p:nvPr/>
        </p:nvSpPr>
        <p:spPr>
          <a:xfrm xmlns:a="http://schemas.openxmlformats.org/drawingml/2006/main">
            <a:off x="8705850" y="2876550"/>
            <a:ext cx="29527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D33"/>
                </a:solidFill>
                <a:latin typeface="Arial"/>
                <a:ea typeface="Arial"/>
                <a:cs typeface="Arial"/>
              </a:defRPr>
            </a:pPr>
            <a:r>
              <a:rPr sz="1875" b="0">
                <a:solidFill>
                  <a:srgbClr val="173D33"/>
                </a:solidFill>
                <a:latin typeface="Arial"/>
                <a:ea typeface="Arial"/>
                <a:cs typeface="Arial"/>
              </a:rPr>
              <a:t>Refund denied while</a:t>
            </a:r>
          </a:p>
          <a:p xmlns:a="http://schemas.openxmlformats.org/drawingml/2006/main">
            <a:pPr>
              <a:defRPr sz="1875" b="0">
                <a:solidFill>
                  <a:srgbClr val="173D33"/>
                </a:solidFill>
                <a:latin typeface="Arial"/>
                <a:ea typeface="Arial"/>
                <a:cs typeface="Arial"/>
              </a:defRPr>
            </a:pPr>
            <a:r>
              <a:rPr sz="1875" b="0">
                <a:solidFill>
                  <a:srgbClr val="173D33"/>
                </a:solidFill>
                <a:latin typeface="Arial"/>
                <a:ea typeface="Arial"/>
                <a:cs typeface="Arial"/>
              </a:rPr>
              <a:t>outcome is unknown</a:t>
            </a:r>
          </a:p>
          <a:p xmlns:a="http://schemas.openxmlformats.org/drawingml/2006/main">
            <a:r>
              <a:t/>
            </a:r>
          </a:p>
          <a:p xmlns:a="http://schemas.openxmlformats.org/drawingml/2006/main">
            <a:pPr>
              <a:defRPr sz="1875" b="0">
                <a:solidFill>
                  <a:srgbClr val="173D33"/>
                </a:solidFill>
                <a:latin typeface="Arial"/>
                <a:ea typeface="Arial"/>
                <a:cs typeface="Arial"/>
              </a:defRPr>
            </a:pPr>
            <a:r>
              <a:rPr sz="1875" b="0">
                <a:solidFill>
                  <a:srgbClr val="173D33"/>
                </a:solidFill>
                <a:latin typeface="Arial"/>
                <a:ea typeface="Arial"/>
                <a:cs typeface="Arial"/>
              </a:rPr>
              <a:t>Two organizations</a:t>
            </a:r>
          </a:p>
          <a:p xmlns:a="http://schemas.openxmlformats.org/drawingml/2006/main">
            <a:pPr>
              <a:defRPr sz="1875" b="0">
                <a:solidFill>
                  <a:srgbClr val="173D33"/>
                </a:solidFill>
                <a:latin typeface="Arial"/>
                <a:ea typeface="Arial"/>
                <a:cs typeface="Arial"/>
              </a:defRPr>
            </a:pPr>
            <a:r>
              <a:rPr sz="1875" b="0">
                <a:solidFill>
                  <a:srgbClr val="173D33"/>
                </a:solidFill>
                <a:latin typeface="Arial"/>
                <a:ea typeface="Arial"/>
                <a:cs typeface="Arial"/>
              </a:rPr>
              <a:t>approve corrections</a:t>
            </a:r>
          </a:p>
          <a:p xmlns:a="http://schemas.openxmlformats.org/drawingml/2006/main">
            <a:r>
              <a:t/>
            </a:r>
          </a:p>
          <a:p xmlns:a="http://schemas.openxmlformats.org/drawingml/2006/main">
            <a:pPr>
              <a:defRPr sz="1875" b="0">
                <a:solidFill>
                  <a:srgbClr val="173D33"/>
                </a:solidFill>
                <a:latin typeface="Arial"/>
                <a:ea typeface="Arial"/>
                <a:cs typeface="Arial"/>
              </a:defRPr>
            </a:pPr>
            <a:r>
              <a:rPr sz="1875" b="0">
                <a:solidFill>
                  <a:srgbClr val="173D33"/>
                </a:solidFill>
                <a:latin typeface="Arial"/>
                <a:ea typeface="Arial"/>
                <a:cs typeface="Arial"/>
              </a:rPr>
              <a:t>Signed evidence</a:t>
            </a:r>
          </a:p>
          <a:p xmlns:a="http://schemas.openxmlformats.org/drawingml/2006/main">
            <a:pPr>
              <a:defRPr sz="1875" b="0">
                <a:solidFill>
                  <a:srgbClr val="173D33"/>
                </a:solidFill>
                <a:latin typeface="Arial"/>
                <a:ea typeface="Arial"/>
                <a:cs typeface="Arial"/>
              </a:defRPr>
            </a:pPr>
            <a:r>
              <a:rPr sz="1875" b="0">
                <a:solidFill>
                  <a:srgbClr val="173D33"/>
                </a:solidFill>
                <a:latin typeface="Arial"/>
                <a:ea typeface="Arial"/>
                <a:cs typeface="Arial"/>
              </a:rPr>
              <a:t>exports for inspection</a:t>
            </a:r>
          </a:p>
        </p:txBody>
      </p:sp>
    </p:spTree>
    <p:extLst>
      <p:ext uri="{BB962C8B-B14F-4D97-AF65-F5344CB8AC3E}">
        <p14:creationId xmlns:p14="http://schemas.microsoft.com/office/powerpoint/2010/main" val="1428093125"/>
      </p:ext>
    </p:extLst>
  </p:cSld>
</p:sld>
</file>

<file path=ppt/slides/slide5.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809086A-8DE7-467C-A5EA-BC16CA37A65D}"/>
              </a:ext>
            </a:extLst>
          </p:cNvPr>
          <p:cNvSpPr>
            <a:spLocks xmlns:a="http://schemas.openxmlformats.org/drawingml/2006/main" noGrp="1"/>
          </p:cNvSpPr>
          <p:nvPr/>
        </p:nvSpPr>
        <p:spPr>
          <a:xfrm xmlns:a="http://schemas.openxmlformats.org/drawingml/2006/main">
            <a:off x="647700" y="4000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27C63"/>
                </a:solidFill>
                <a:latin typeface="Arial"/>
                <a:ea typeface="Arial"/>
                <a:cs typeface="Arial"/>
              </a:defRPr>
            </a:pPr>
            <a:r>
              <a:rPr sz="1125" b="1">
                <a:solidFill>
                  <a:srgbClr val="327C63"/>
                </a:solidFill>
                <a:latin typeface="Arial"/>
                <a:ea typeface="Arial"/>
                <a:cs typeface="Arial"/>
              </a:rPr>
              <a:t>IMPLEMENTED CONTROLS</a:t>
            </a:r>
          </a:p>
        </p:txBody>
      </p:sp>
      <p:sp>
        <p:nvSpPr>
          <p:cNvPr id="2" name="">
            <a:extLst xmlns:a="http://schemas.openxmlformats.org/drawingml/2006/main">
              <a:ext uri="{FF2B5EF4-FFF2-40B4-BE49-F238E27FC236}">
                <a16:creationId xmlns:a16="http://schemas.microsoft.com/office/drawing/2014/main" id="{6CB7A6FC-3C87-4AD9-A53E-03C51E739522}"/>
              </a:ext>
            </a:extLst>
          </p:cNvPr>
          <p:cNvSpPr>
            <a:spLocks xmlns:a="http://schemas.openxmlformats.org/drawingml/2006/main" noGrp="1"/>
          </p:cNvSpPr>
          <p:nvPr/>
        </p:nvSpPr>
        <p:spPr>
          <a:xfrm xmlns:a="http://schemas.openxmlformats.org/drawingml/2006/main">
            <a:off x="647700" y="91440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D33"/>
                </a:solidFill>
                <a:latin typeface="Arial"/>
                <a:ea typeface="Arial"/>
                <a:cs typeface="Arial"/>
              </a:defRPr>
            </a:pPr>
            <a:r>
              <a:rPr sz="3450" b="1">
                <a:solidFill>
                  <a:srgbClr val="173D33"/>
                </a:solidFill>
                <a:latin typeface="Arial"/>
                <a:ea typeface="Arial"/>
                <a:cs typeface="Arial"/>
              </a:rPr>
              <a:t>Evidence can be checked independently</a:t>
            </a:r>
          </a:p>
        </p:txBody>
      </p:sp>
      <p:sp>
        <p:nvSpPr>
          <p:cNvPr id="3" name="">
            <a:extLst xmlns:a="http://schemas.openxmlformats.org/drawingml/2006/main">
              <a:ext uri="{FF2B5EF4-FFF2-40B4-BE49-F238E27FC236}">
                <a16:creationId xmlns:a16="http://schemas.microsoft.com/office/drawing/2014/main" id="{8CA16B2E-A7AA-496B-B78B-FBF4BA9A1F64}"/>
              </a:ext>
            </a:extLst>
          </p:cNvPr>
          <p:cNvSpPr>
            <a:spLocks xmlns:a="http://schemas.openxmlformats.org/drawingml/2006/main" noGrp="1"/>
          </p:cNvSpPr>
          <p:nvPr/>
        </p:nvSpPr>
        <p:spPr>
          <a:xfrm xmlns:a="http://schemas.openxmlformats.org/drawingml/2006/main">
            <a:off x="647700" y="633412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CorridorProof   /   Drunix hackathon prototype</a:t>
            </a:r>
          </a:p>
        </p:txBody>
      </p:sp>
      <p:sp>
        <p:nvSpPr>
          <p:cNvPr id="4" name="">
            <a:extLst xmlns:a="http://schemas.openxmlformats.org/drawingml/2006/main">
              <a:ext uri="{FF2B5EF4-FFF2-40B4-BE49-F238E27FC236}">
                <a16:creationId xmlns:a16="http://schemas.microsoft.com/office/drawing/2014/main" id="{A46866C1-B2B0-4631-A955-5607BB2519CC}"/>
              </a:ext>
            </a:extLst>
          </p:cNvPr>
          <p:cNvSpPr>
            <a:spLocks xmlns:a="http://schemas.openxmlformats.org/drawingml/2006/main" noGrp="1"/>
          </p:cNvSpPr>
          <p:nvPr/>
        </p:nvSpPr>
        <p:spPr>
          <a:xfrm xmlns:a="http://schemas.openxmlformats.org/drawingml/2006/main">
            <a:off x="1104900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60B39653-926A-48FC-8413-E123DB800D9B}"/>
              </a:ext>
            </a:extLst>
          </p:cNvPr>
          <p:cNvSpPr>
            <a:spLocks xmlns:a="http://schemas.openxmlformats.org/drawingml/2006/main" noGrp="1"/>
          </p:cNvSpPr>
          <p:nvPr/>
        </p:nvSpPr>
        <p:spPr>
          <a:xfrm xmlns:a="http://schemas.openxmlformats.org/drawingml/2006/main">
            <a:off x="647700" y="2286000"/>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327C63"/>
                </a:solidFill>
                <a:latin typeface="Arial"/>
                <a:ea typeface="Arial"/>
                <a:cs typeface="Arial"/>
              </a:defRPr>
            </a:pPr>
            <a:r>
              <a:rPr sz="2400" b="1">
                <a:solidFill>
                  <a:srgbClr val="327C63"/>
                </a:solidFill>
                <a:latin typeface="Arial"/>
                <a:ea typeface="Arial"/>
                <a:cs typeface="Arial"/>
              </a:rPr>
              <a:t>Attributed events</a:t>
            </a:r>
          </a:p>
        </p:txBody>
      </p:sp>
      <p:sp>
        <p:nvSpPr>
          <p:cNvPr id="6" name="">
            <a:extLst xmlns:a="http://schemas.openxmlformats.org/drawingml/2006/main">
              <a:ext uri="{FF2B5EF4-FFF2-40B4-BE49-F238E27FC236}">
                <a16:creationId xmlns:a16="http://schemas.microsoft.com/office/drawing/2014/main" id="{454BCF97-4432-49FD-B41B-C28EB3054FDC}"/>
              </a:ext>
            </a:extLst>
          </p:cNvPr>
          <p:cNvSpPr>
            <a:spLocks xmlns:a="http://schemas.openxmlformats.org/drawingml/2006/main" noGrp="1"/>
          </p:cNvSpPr>
          <p:nvPr/>
        </p:nvSpPr>
        <p:spPr>
          <a:xfrm xmlns:a="http://schemas.openxmlformats.org/drawingml/2006/main">
            <a:off x="647700" y="286702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Organization signatures and linked hashes</a:t>
            </a:r>
          </a:p>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protect event contents from unnoticed alteration.</a:t>
            </a:r>
          </a:p>
        </p:txBody>
      </p:sp>
      <p:sp>
        <p:nvSpPr>
          <p:cNvPr id="7" name="">
            <a:extLst xmlns:a="http://schemas.openxmlformats.org/drawingml/2006/main">
              <a:ext uri="{FF2B5EF4-FFF2-40B4-BE49-F238E27FC236}">
                <a16:creationId xmlns:a16="http://schemas.microsoft.com/office/drawing/2014/main" id="{4329F3CD-DD96-4E44-A3B4-C51DB52C653B}"/>
              </a:ext>
            </a:extLst>
          </p:cNvPr>
          <p:cNvSpPr>
            <a:spLocks xmlns:a="http://schemas.openxmlformats.org/drawingml/2006/main" noGrp="1"/>
          </p:cNvSpPr>
          <p:nvPr/>
        </p:nvSpPr>
        <p:spPr>
          <a:xfrm xmlns:a="http://schemas.openxmlformats.org/drawingml/2006/main">
            <a:off x="647700" y="4010025"/>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327C63"/>
                </a:solidFill>
                <a:latin typeface="Arial"/>
                <a:ea typeface="Arial"/>
                <a:cs typeface="Arial"/>
              </a:defRPr>
            </a:pPr>
            <a:r>
              <a:rPr sz="2400" b="1">
                <a:solidFill>
                  <a:srgbClr val="327C63"/>
                </a:solidFill>
                <a:latin typeface="Arial"/>
                <a:ea typeface="Arial"/>
                <a:cs typeface="Arial"/>
              </a:rPr>
              <a:t>Reconstructed case state</a:t>
            </a:r>
          </a:p>
        </p:txBody>
      </p:sp>
      <p:sp>
        <p:nvSpPr>
          <p:cNvPr id="8" name="">
            <a:extLst xmlns:a="http://schemas.openxmlformats.org/drawingml/2006/main">
              <a:ext uri="{FF2B5EF4-FFF2-40B4-BE49-F238E27FC236}">
                <a16:creationId xmlns:a16="http://schemas.microsoft.com/office/drawing/2014/main" id="{B41E3D4E-B664-4B83-9ED2-5286249B4ED4}"/>
              </a:ext>
            </a:extLst>
          </p:cNvPr>
          <p:cNvSpPr>
            <a:spLocks xmlns:a="http://schemas.openxmlformats.org/drawingml/2006/main" noGrp="1"/>
          </p:cNvSpPr>
          <p:nvPr/>
        </p:nvSpPr>
        <p:spPr>
          <a:xfrm xmlns:a="http://schemas.openxmlformats.org/drawingml/2006/main">
            <a:off x="647700" y="4562475"/>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The verifier replays signed events and checks</a:t>
            </a:r>
          </a:p>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the exported case summary against the result.</a:t>
            </a:r>
          </a:p>
        </p:txBody>
      </p:sp>
      <p:sp>
        <p:nvSpPr>
          <p:cNvPr id="9" name="">
            <a:extLst xmlns:a="http://schemas.openxmlformats.org/drawingml/2006/main">
              <a:ext uri="{FF2B5EF4-FFF2-40B4-BE49-F238E27FC236}">
                <a16:creationId xmlns:a16="http://schemas.microsoft.com/office/drawing/2014/main" id="{F7978498-ABE5-442F-AB15-95A1FC43F9F0}"/>
              </a:ext>
            </a:extLst>
          </p:cNvPr>
          <p:cNvSpPr>
            <a:spLocks xmlns:a="http://schemas.openxmlformats.org/drawingml/2006/main" noGrp="1"/>
          </p:cNvSpPr>
          <p:nvPr/>
        </p:nvSpPr>
        <p:spPr>
          <a:xfrm xmlns:a="http://schemas.openxmlformats.org/drawingml/2006/main">
            <a:off x="647700" y="56673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E8377"/>
                </a:solidFill>
                <a:latin typeface="Arial"/>
                <a:ea typeface="Arial"/>
                <a:cs typeface="Arial"/>
              </a:defRPr>
            </a:pPr>
            <a:r>
              <a:rPr sz="1425" b="0">
                <a:solidFill>
                  <a:srgbClr val="6E8377"/>
                </a:solidFill>
                <a:latin typeface="Arial"/>
                <a:ea typeface="Arial"/>
                <a:cs typeface="Arial"/>
              </a:rPr>
              <a:t>Trust boundary: local demo keys simulate roles. Independent identity and external truth require more.</a:t>
            </a:r>
          </a:p>
        </p:txBody>
      </p:sp>
    </p:spTree>
    <p:extLst>
      <p:ext uri="{BB962C8B-B14F-4D97-AF65-F5344CB8AC3E}">
        <p14:creationId xmlns:p14="http://schemas.microsoft.com/office/powerpoint/2010/main" val="605659572"/>
      </p:ext>
    </p:extLst>
  </p:cSld>
</p:sld>
</file>

<file path=ppt/slides/slide6.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C31E518-8F64-4B0F-9126-8C1C354585E7}"/>
              </a:ext>
            </a:extLst>
          </p:cNvPr>
          <p:cNvSpPr>
            <a:spLocks xmlns:a="http://schemas.openxmlformats.org/drawingml/2006/main" noGrp="1"/>
          </p:cNvSpPr>
          <p:nvPr/>
        </p:nvSpPr>
        <p:spPr>
          <a:xfrm xmlns:a="http://schemas.openxmlformats.org/drawingml/2006/main">
            <a:off x="647700" y="4000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27C63"/>
                </a:solidFill>
                <a:latin typeface="Arial"/>
                <a:ea typeface="Arial"/>
                <a:cs typeface="Arial"/>
              </a:defRPr>
            </a:pPr>
            <a:r>
              <a:rPr sz="1125" b="1">
                <a:solidFill>
                  <a:srgbClr val="327C63"/>
                </a:solidFill>
                <a:latin typeface="Arial"/>
                <a:ea typeface="Arial"/>
                <a:cs typeface="Arial"/>
              </a:rPr>
              <a:t>TECHNICAL PLAN</a:t>
            </a:r>
          </a:p>
        </p:txBody>
      </p:sp>
      <p:sp>
        <p:nvSpPr>
          <p:cNvPr id="2" name="">
            <a:extLst xmlns:a="http://schemas.openxmlformats.org/drawingml/2006/main">
              <a:ext uri="{FF2B5EF4-FFF2-40B4-BE49-F238E27FC236}">
                <a16:creationId xmlns:a16="http://schemas.microsoft.com/office/drawing/2014/main" id="{68711771-1D6A-4859-ACA9-4D81BAF0BD4D}"/>
              </a:ext>
            </a:extLst>
          </p:cNvPr>
          <p:cNvSpPr>
            <a:spLocks xmlns:a="http://schemas.openxmlformats.org/drawingml/2006/main" noGrp="1"/>
          </p:cNvSpPr>
          <p:nvPr/>
        </p:nvSpPr>
        <p:spPr>
          <a:xfrm xmlns:a="http://schemas.openxmlformats.org/drawingml/2006/main">
            <a:off x="647700" y="91440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D33"/>
                </a:solidFill>
                <a:latin typeface="Arial"/>
                <a:ea typeface="Arial"/>
                <a:cs typeface="Arial"/>
              </a:defRPr>
            </a:pPr>
            <a:r>
              <a:rPr sz="3450" b="1">
                <a:solidFill>
                  <a:srgbClr val="173D33"/>
                </a:solidFill>
                <a:latin typeface="Arial"/>
                <a:ea typeface="Arial"/>
                <a:cs typeface="Arial"/>
              </a:rPr>
              <a:t>Architecture and deployment boundary</a:t>
            </a:r>
          </a:p>
        </p:txBody>
      </p:sp>
      <p:sp>
        <p:nvSpPr>
          <p:cNvPr id="3" name="">
            <a:extLst xmlns:a="http://schemas.openxmlformats.org/drawingml/2006/main">
              <a:ext uri="{FF2B5EF4-FFF2-40B4-BE49-F238E27FC236}">
                <a16:creationId xmlns:a16="http://schemas.microsoft.com/office/drawing/2014/main" id="{0064EDBA-C705-49E7-BAF2-48A109F799DF}"/>
              </a:ext>
            </a:extLst>
          </p:cNvPr>
          <p:cNvSpPr>
            <a:spLocks xmlns:a="http://schemas.openxmlformats.org/drawingml/2006/main" noGrp="1"/>
          </p:cNvSpPr>
          <p:nvPr/>
        </p:nvSpPr>
        <p:spPr>
          <a:xfrm xmlns:a="http://schemas.openxmlformats.org/drawingml/2006/main">
            <a:off x="647700" y="633412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CorridorProof   /   Drunix hackathon prototype</a:t>
            </a:r>
          </a:p>
        </p:txBody>
      </p:sp>
      <p:sp>
        <p:nvSpPr>
          <p:cNvPr id="4" name="">
            <a:extLst xmlns:a="http://schemas.openxmlformats.org/drawingml/2006/main">
              <a:ext uri="{FF2B5EF4-FFF2-40B4-BE49-F238E27FC236}">
                <a16:creationId xmlns:a16="http://schemas.microsoft.com/office/drawing/2014/main" id="{5215DF7E-959B-4257-A0F4-AC31F1B086E8}"/>
              </a:ext>
            </a:extLst>
          </p:cNvPr>
          <p:cNvSpPr>
            <a:spLocks xmlns:a="http://schemas.openxmlformats.org/drawingml/2006/main" noGrp="1"/>
          </p:cNvSpPr>
          <p:nvPr/>
        </p:nvSpPr>
        <p:spPr>
          <a:xfrm xmlns:a="http://schemas.openxmlformats.org/drawingml/2006/main">
            <a:off x="1104900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84545A1A-AE1F-4D7A-8059-70526B465956}"/>
              </a:ext>
            </a:extLst>
          </p:cNvPr>
          <p:cNvSpPr>
            <a:spLocks xmlns:a="http://schemas.openxmlformats.org/drawingml/2006/main" noGrp="1"/>
          </p:cNvSpPr>
          <p:nvPr/>
        </p:nvSpPr>
        <p:spPr>
          <a:xfrm xmlns:a="http://schemas.openxmlformats.org/drawingml/2006/main">
            <a:off x="647700" y="2133600"/>
            <a:ext cx="1028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327C63"/>
                </a:solidFill>
                <a:latin typeface="Arial"/>
                <a:ea typeface="Arial"/>
                <a:cs typeface="Arial"/>
              </a:defRPr>
            </a:pPr>
            <a:r>
              <a:rPr sz="1275" b="1">
                <a:solidFill>
                  <a:srgbClr val="327C63"/>
                </a:solidFill>
                <a:latin typeface="Arial"/>
                <a:ea typeface="Arial"/>
                <a:cs typeface="Arial"/>
              </a:rPr>
              <a:t>EXECUTABLE LOCAL DEMO</a:t>
            </a:r>
          </a:p>
        </p:txBody>
      </p:sp>
      <p:sp>
        <p:nvSpPr>
          <p:cNvPr id="6" name="">
            <a:extLst xmlns:a="http://schemas.openxmlformats.org/drawingml/2006/main">
              <a:ext uri="{FF2B5EF4-FFF2-40B4-BE49-F238E27FC236}">
                <a16:creationId xmlns:a16="http://schemas.microsoft.com/office/drawing/2014/main" id="{B5E2316C-42B7-4A84-AB29-211FD05B68A5}"/>
              </a:ext>
            </a:extLst>
          </p:cNvPr>
          <p:cNvSpPr>
            <a:spLocks xmlns:a="http://schemas.openxmlformats.org/drawingml/2006/main" noGrp="1"/>
          </p:cNvSpPr>
          <p:nvPr/>
        </p:nvSpPr>
        <p:spPr>
          <a:xfrm xmlns:a="http://schemas.openxmlformats.org/drawingml/2006/main">
            <a:off x="647700" y="2724150"/>
            <a:ext cx="22669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AFCAB9"/>
            </a:solidFill>
          </a:ln>
        </p:spPr>
        <p:txBody>
          <a:bodyPr xmlns:a="http://schemas.openxmlformats.org/drawingml/2006/main">
            <a:noAutofit/>
          </a:bodyPr>
          <a:lstStyle xmlns:a="http://schemas.openxmlformats.org/drawingml/2006/main"/>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Browser</a:t>
            </a:r>
          </a:p>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dashboard</a:t>
            </a:r>
          </a:p>
        </p:txBody>
      </p:sp>
      <p:sp>
        <p:nvSpPr>
          <p:cNvPr id="7" name="">
            <a:extLst xmlns:a="http://schemas.openxmlformats.org/drawingml/2006/main">
              <a:ext uri="{FF2B5EF4-FFF2-40B4-BE49-F238E27FC236}">
                <a16:creationId xmlns:a16="http://schemas.microsoft.com/office/drawing/2014/main" id="{C002369B-BEA7-4C25-A8B6-497B5B738AF7}"/>
              </a:ext>
            </a:extLst>
          </p:cNvPr>
          <p:cNvSpPr>
            <a:spLocks xmlns:a="http://schemas.openxmlformats.org/drawingml/2006/main" noGrp="1"/>
          </p:cNvSpPr>
          <p:nvPr/>
        </p:nvSpPr>
        <p:spPr>
          <a:xfrm xmlns:a="http://schemas.openxmlformats.org/drawingml/2006/main">
            <a:off x="4067175" y="2724150"/>
            <a:ext cx="31051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AFCAB9"/>
            </a:solidFill>
          </a:ln>
        </p:spPr>
        <p:txBody>
          <a:bodyPr xmlns:a="http://schemas.openxmlformats.org/drawingml/2006/main">
            <a:noAutofit/>
          </a:bodyPr>
          <a:lstStyle xmlns:a="http://schemas.openxmlformats.org/drawingml/2006/main"/>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Node API</a:t>
            </a:r>
          </a:p>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Policy + SQLite</a:t>
            </a:r>
          </a:p>
        </p:txBody>
      </p:sp>
      <p:sp>
        <p:nvSpPr>
          <p:cNvPr id="8" name="">
            <a:extLst xmlns:a="http://schemas.openxmlformats.org/drawingml/2006/main">
              <a:ext uri="{FF2B5EF4-FFF2-40B4-BE49-F238E27FC236}">
                <a16:creationId xmlns:a16="http://schemas.microsoft.com/office/drawing/2014/main" id="{1171A04F-E633-4AAB-8EB2-113B067FA036}"/>
              </a:ext>
            </a:extLst>
          </p:cNvPr>
          <p:cNvSpPr>
            <a:spLocks xmlns:a="http://schemas.openxmlformats.org/drawingml/2006/main" noGrp="1"/>
          </p:cNvSpPr>
          <p:nvPr/>
        </p:nvSpPr>
        <p:spPr>
          <a:xfrm xmlns:a="http://schemas.openxmlformats.org/drawingml/2006/main">
            <a:off x="8324850" y="2724150"/>
            <a:ext cx="32194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AFCAB9"/>
            </a:solidFill>
          </a:ln>
        </p:spPr>
        <p:txBody>
          <a:bodyPr xmlns:a="http://schemas.openxmlformats.org/drawingml/2006/main">
            <a:noAutofit/>
          </a:bodyPr>
          <a:lstStyle xmlns:a="http://schemas.openxmlformats.org/drawingml/2006/main"/>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Signed evidence</a:t>
            </a:r>
          </a:p>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Export + replay</a:t>
            </a:r>
          </a:p>
        </p:txBody>
      </p:sp>
      <p:sp>
        <p:nvSpPr>
          <p:cNvPr id="9" name="">
            <a:extLst xmlns:a="http://schemas.openxmlformats.org/drawingml/2006/main">
              <a:ext uri="{FF2B5EF4-FFF2-40B4-BE49-F238E27FC236}">
                <a16:creationId xmlns:a16="http://schemas.microsoft.com/office/drawing/2014/main" id="{C9D6C389-1B78-41A7-B39F-AA86CC9B2CEC}"/>
              </a:ext>
            </a:extLst>
          </p:cNvPr>
          <p:cNvSpPr>
            <a:spLocks xmlns:a="http://schemas.openxmlformats.org/drawingml/2006/main" noGrp="1"/>
          </p:cNvSpPr>
          <p:nvPr/>
        </p:nvSpPr>
        <p:spPr>
          <a:xfrm xmlns:a="http://schemas.openxmlformats.org/drawingml/2006/main">
            <a:off x="3095625" y="311467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E8377"/>
                </a:solidFill>
                <a:latin typeface="Arial"/>
                <a:ea typeface="Arial"/>
                <a:cs typeface="Arial"/>
              </a:defRPr>
            </a:pPr>
            <a:r>
              <a:rPr sz="1500" b="0">
                <a:solidFill>
                  <a:srgbClr val="6E8377"/>
                </a:solidFill>
                <a:latin typeface="Arial"/>
                <a:ea typeface="Arial"/>
                <a:cs typeface="Arial"/>
              </a:rPr>
              <a:t>calls</a:t>
            </a:r>
          </a:p>
        </p:txBody>
      </p:sp>
      <p:sp>
        <p:nvSpPr>
          <p:cNvPr id="10" name="">
            <a:extLst xmlns:a="http://schemas.openxmlformats.org/drawingml/2006/main">
              <a:ext uri="{FF2B5EF4-FFF2-40B4-BE49-F238E27FC236}">
                <a16:creationId xmlns:a16="http://schemas.microsoft.com/office/drawing/2014/main" id="{FB153D90-D34B-487E-912F-D7E91F0061E1}"/>
              </a:ext>
            </a:extLst>
          </p:cNvPr>
          <p:cNvSpPr>
            <a:spLocks xmlns:a="http://schemas.openxmlformats.org/drawingml/2006/main" noGrp="1"/>
          </p:cNvSpPr>
          <p:nvPr/>
        </p:nvSpPr>
        <p:spPr>
          <a:xfrm xmlns:a="http://schemas.openxmlformats.org/drawingml/2006/main">
            <a:off x="7372350" y="3114675"/>
            <a:ext cx="95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E8377"/>
                </a:solidFill>
                <a:latin typeface="Arial"/>
                <a:ea typeface="Arial"/>
                <a:cs typeface="Arial"/>
              </a:defRPr>
            </a:pPr>
            <a:r>
              <a:rPr sz="1500" b="0">
                <a:solidFill>
                  <a:srgbClr val="6E8377"/>
                </a:solidFill>
                <a:latin typeface="Arial"/>
                <a:ea typeface="Arial"/>
                <a:cs typeface="Arial"/>
              </a:rPr>
              <a:t>records</a:t>
            </a:r>
          </a:p>
        </p:txBody>
      </p:sp>
      <p:sp>
        <p:nvSpPr>
          <p:cNvPr id="11" name="">
            <a:extLst xmlns:a="http://schemas.openxmlformats.org/drawingml/2006/main">
              <a:ext uri="{FF2B5EF4-FFF2-40B4-BE49-F238E27FC236}">
                <a16:creationId xmlns:a16="http://schemas.microsoft.com/office/drawing/2014/main" id="{B0C1D1F7-9E32-417E-BDDD-B078B30FDE63}"/>
              </a:ext>
            </a:extLst>
          </p:cNvPr>
          <p:cNvSpPr>
            <a:spLocks xmlns:a="http://schemas.openxmlformats.org/drawingml/2006/main" noGrp="1"/>
          </p:cNvSpPr>
          <p:nvPr/>
        </p:nvSpPr>
        <p:spPr>
          <a:xfrm xmlns:a="http://schemas.openxmlformats.org/drawingml/2006/main">
            <a:off x="647700" y="433387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B27430"/>
                </a:solidFill>
                <a:latin typeface="Arial"/>
                <a:ea typeface="Arial"/>
                <a:cs typeface="Arial"/>
              </a:defRPr>
            </a:pPr>
            <a:r>
              <a:rPr sz="1275" b="1">
                <a:solidFill>
                  <a:srgbClr val="B27430"/>
                </a:solidFill>
                <a:latin typeface="Arial"/>
                <a:ea typeface="Arial"/>
                <a:cs typeface="Arial"/>
              </a:rPr>
              <a:t>SEPARATE COMPONENTS / NETWORK UNVERIFIED</a:t>
            </a:r>
          </a:p>
        </p:txBody>
      </p:sp>
      <p:sp>
        <p:nvSpPr>
          <p:cNvPr id="12" name="">
            <a:extLst xmlns:a="http://schemas.openxmlformats.org/drawingml/2006/main">
              <a:ext uri="{FF2B5EF4-FFF2-40B4-BE49-F238E27FC236}">
                <a16:creationId xmlns:a16="http://schemas.microsoft.com/office/drawing/2014/main" id="{C8BCFA53-3E62-42D3-B0A6-578C0C2F7B78}"/>
              </a:ext>
            </a:extLst>
          </p:cNvPr>
          <p:cNvSpPr>
            <a:spLocks xmlns:a="http://schemas.openxmlformats.org/drawingml/2006/main" noGrp="1"/>
          </p:cNvSpPr>
          <p:nvPr/>
        </p:nvSpPr>
        <p:spPr>
          <a:xfrm xmlns:a="http://schemas.openxmlformats.org/drawingml/2006/main">
            <a:off x="647700" y="4848225"/>
            <a:ext cx="31051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AFCAB9"/>
            </a:solidFill>
          </a:ln>
        </p:spPr>
        <p:txBody>
          <a:bodyPr xmlns:a="http://schemas.openxmlformats.org/drawingml/2006/main">
            <a:noAutofit/>
          </a:bodyPr>
          <a:lstStyle xmlns:a="http://schemas.openxmlformats.org/drawingml/2006/main"/>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Certificate-bound</a:t>
            </a:r>
          </a:p>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Go Gateway CLI</a:t>
            </a:r>
          </a:p>
        </p:txBody>
      </p:sp>
      <p:sp>
        <p:nvSpPr>
          <p:cNvPr id="13" name="">
            <a:extLst xmlns:a="http://schemas.openxmlformats.org/drawingml/2006/main">
              <a:ext uri="{FF2B5EF4-FFF2-40B4-BE49-F238E27FC236}">
                <a16:creationId xmlns:a16="http://schemas.microsoft.com/office/drawing/2014/main" id="{E6556432-DEF6-48A1-A099-AA420F350B11}"/>
              </a:ext>
            </a:extLst>
          </p:cNvPr>
          <p:cNvSpPr>
            <a:spLocks xmlns:a="http://schemas.openxmlformats.org/drawingml/2006/main" noGrp="1"/>
          </p:cNvSpPr>
          <p:nvPr/>
        </p:nvSpPr>
        <p:spPr>
          <a:xfrm xmlns:a="http://schemas.openxmlformats.org/drawingml/2006/main">
            <a:off x="4810125" y="4848225"/>
            <a:ext cx="29527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AFCAB9"/>
            </a:solidFill>
          </a:ln>
        </p:spPr>
        <p:txBody>
          <a:bodyPr xmlns:a="http://schemas.openxmlformats.org/drawingml/2006/main">
            <a:noAutofit/>
          </a:bodyPr>
          <a:lstStyle xmlns:a="http://schemas.openxmlformats.org/drawingml/2006/main"/>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Go chaincode</a:t>
            </a:r>
          </a:p>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MSP + policy</a:t>
            </a:r>
          </a:p>
        </p:txBody>
      </p:sp>
      <p:sp>
        <p:nvSpPr>
          <p:cNvPr id="14" name="">
            <a:extLst xmlns:a="http://schemas.openxmlformats.org/drawingml/2006/main">
              <a:ext uri="{FF2B5EF4-FFF2-40B4-BE49-F238E27FC236}">
                <a16:creationId xmlns:a16="http://schemas.microsoft.com/office/drawing/2014/main" id="{C0AF7E9E-043B-4A3D-9A9F-80802435973F}"/>
              </a:ext>
            </a:extLst>
          </p:cNvPr>
          <p:cNvSpPr>
            <a:spLocks xmlns:a="http://schemas.openxmlformats.org/drawingml/2006/main" noGrp="1"/>
          </p:cNvSpPr>
          <p:nvPr/>
        </p:nvSpPr>
        <p:spPr>
          <a:xfrm xmlns:a="http://schemas.openxmlformats.org/drawingml/2006/main">
            <a:off x="8820150" y="4848225"/>
            <a:ext cx="27241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AFCAB9"/>
            </a:solidFill>
          </a:ln>
        </p:spPr>
        <p:txBody>
          <a:bodyPr xmlns:a="http://schemas.openxmlformats.org/drawingml/2006/main">
            <a:noAutofit/>
          </a:bodyPr>
          <a:lstStyle xmlns:a="http://schemas.openxmlformats.org/drawingml/2006/main"/>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Drunix network</a:t>
            </a:r>
          </a:p>
          <a:p xmlns:a="http://schemas.openxmlformats.org/drawingml/2006/main">
            <a:pPr>
              <a:defRPr sz="1800" b="1">
                <a:solidFill>
                  <a:srgbClr val="173D33"/>
                </a:solidFill>
                <a:latin typeface="Arial"/>
                <a:ea typeface="Arial"/>
                <a:cs typeface="Arial"/>
              </a:defRPr>
            </a:pPr>
            <a:r>
              <a:rPr sz="1800" b="1">
                <a:solidFill>
                  <a:srgbClr val="173D33"/>
                </a:solidFill>
                <a:latin typeface="Arial"/>
                <a:ea typeface="Arial"/>
                <a:cs typeface="Arial"/>
              </a:rPr>
              <a:t>Requires Linux</a:t>
            </a:r>
          </a:p>
        </p:txBody>
      </p:sp>
      <p:sp>
        <p:nvSpPr>
          <p:cNvPr id="15" name="">
            <a:extLst xmlns:a="http://schemas.openxmlformats.org/drawingml/2006/main">
              <a:ext uri="{FF2B5EF4-FFF2-40B4-BE49-F238E27FC236}">
                <a16:creationId xmlns:a16="http://schemas.microsoft.com/office/drawing/2014/main" id="{3A2F5F22-0CFA-48AC-8845-D3D66D6BE465}"/>
              </a:ext>
            </a:extLst>
          </p:cNvPr>
          <p:cNvSpPr>
            <a:spLocks xmlns:a="http://schemas.openxmlformats.org/drawingml/2006/main" noGrp="1"/>
          </p:cNvSpPr>
          <p:nvPr/>
        </p:nvSpPr>
        <p:spPr>
          <a:xfrm xmlns:a="http://schemas.openxmlformats.org/drawingml/2006/main">
            <a:off x="3905250" y="5200650"/>
            <a:ext cx="904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E8377"/>
                </a:solidFill>
                <a:latin typeface="Arial"/>
                <a:ea typeface="Arial"/>
                <a:cs typeface="Arial"/>
              </a:defRPr>
            </a:pPr>
            <a:r>
              <a:rPr sz="1500" b="0">
                <a:solidFill>
                  <a:srgbClr val="6E8377"/>
                </a:solidFill>
                <a:latin typeface="Arial"/>
                <a:ea typeface="Arial"/>
                <a:cs typeface="Arial"/>
              </a:rPr>
              <a:t>submits</a:t>
            </a:r>
          </a:p>
        </p:txBody>
      </p:sp>
      <p:sp>
        <p:nvSpPr>
          <p:cNvPr id="16" name="">
            <a:extLst xmlns:a="http://schemas.openxmlformats.org/drawingml/2006/main">
              <a:ext uri="{FF2B5EF4-FFF2-40B4-BE49-F238E27FC236}">
                <a16:creationId xmlns:a16="http://schemas.microsoft.com/office/drawing/2014/main" id="{0E4C61EE-8219-40E1-A180-A428C42F8D17}"/>
              </a:ext>
            </a:extLst>
          </p:cNvPr>
          <p:cNvSpPr>
            <a:spLocks xmlns:a="http://schemas.openxmlformats.org/drawingml/2006/main" noGrp="1"/>
          </p:cNvSpPr>
          <p:nvPr/>
        </p:nvSpPr>
        <p:spPr>
          <a:xfrm xmlns:a="http://schemas.openxmlformats.org/drawingml/2006/main">
            <a:off x="7848600" y="5200650"/>
            <a:ext cx="1000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E8377"/>
                </a:solidFill>
                <a:latin typeface="Arial"/>
                <a:ea typeface="Arial"/>
                <a:cs typeface="Arial"/>
              </a:defRPr>
            </a:pPr>
            <a:r>
              <a:rPr sz="1500" b="0">
                <a:solidFill>
                  <a:srgbClr val="6E8377"/>
                </a:solidFill>
                <a:latin typeface="Arial"/>
                <a:ea typeface="Arial"/>
                <a:cs typeface="Arial"/>
              </a:rPr>
              <a:t>deploys to</a:t>
            </a:r>
          </a:p>
        </p:txBody>
      </p:sp>
    </p:spTree>
    <p:extLst>
      <p:ext uri="{BB962C8B-B14F-4D97-AF65-F5344CB8AC3E}">
        <p14:creationId xmlns:p14="http://schemas.microsoft.com/office/powerpoint/2010/main" val="1281607290"/>
      </p:ext>
    </p:extLst>
  </p:cSld>
</p:sld>
</file>

<file path=ppt/slides/slide7.xml><?xml version="1.0" encoding="utf-8"?>
<p:sld xmlns:p="http://schemas.openxmlformats.org/presentationml/2006/main">
  <p:cSld>
    <p:bg>
      <p:bgPr>
        <a:solidFill xmlns:a="http://schemas.openxmlformats.org/drawingml/2006/main">
          <a:srgbClr val="F5F7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BF51BEA-860F-413B-A098-06FFCC7FA86B}"/>
              </a:ext>
            </a:extLst>
          </p:cNvPr>
          <p:cNvSpPr>
            <a:spLocks xmlns:a="http://schemas.openxmlformats.org/drawingml/2006/main" noGrp="1"/>
          </p:cNvSpPr>
          <p:nvPr/>
        </p:nvSpPr>
        <p:spPr>
          <a:xfrm xmlns:a="http://schemas.openxmlformats.org/drawingml/2006/main">
            <a:off x="647700" y="4000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327C63"/>
                </a:solidFill>
                <a:latin typeface="Arial"/>
                <a:ea typeface="Arial"/>
                <a:cs typeface="Arial"/>
              </a:defRPr>
            </a:pPr>
            <a:r>
              <a:rPr sz="1125" b="1">
                <a:solidFill>
                  <a:srgbClr val="327C63"/>
                </a:solidFill>
                <a:latin typeface="Arial"/>
                <a:ea typeface="Arial"/>
                <a:cs typeface="Arial"/>
              </a:rPr>
              <a:t>MARKET POSITION</a:t>
            </a:r>
          </a:p>
        </p:txBody>
      </p:sp>
      <p:sp>
        <p:nvSpPr>
          <p:cNvPr id="2" name="">
            <a:extLst xmlns:a="http://schemas.openxmlformats.org/drawingml/2006/main">
              <a:ext uri="{FF2B5EF4-FFF2-40B4-BE49-F238E27FC236}">
                <a16:creationId xmlns:a16="http://schemas.microsoft.com/office/drawing/2014/main" id="{CE399B09-CC64-4FF8-B5CB-8A0EB23C230E}"/>
              </a:ext>
            </a:extLst>
          </p:cNvPr>
          <p:cNvSpPr>
            <a:spLocks xmlns:a="http://schemas.openxmlformats.org/drawingml/2006/main" noGrp="1"/>
          </p:cNvSpPr>
          <p:nvPr/>
        </p:nvSpPr>
        <p:spPr>
          <a:xfrm xmlns:a="http://schemas.openxmlformats.org/drawingml/2006/main">
            <a:off x="647700" y="91440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D33"/>
                </a:solidFill>
                <a:latin typeface="Arial"/>
                <a:ea typeface="Arial"/>
                <a:cs typeface="Arial"/>
              </a:defRPr>
            </a:pPr>
            <a:r>
              <a:rPr sz="3450" b="1">
                <a:solidFill>
                  <a:srgbClr val="173D33"/>
                </a:solidFill>
                <a:latin typeface="Arial"/>
                <a:ea typeface="Arial"/>
                <a:cs typeface="Arial"/>
              </a:rPr>
              <a:t>Existing products and the governance hypothesis</a:t>
            </a:r>
          </a:p>
        </p:txBody>
      </p:sp>
      <p:sp>
        <p:nvSpPr>
          <p:cNvPr id="3" name="">
            <a:extLst xmlns:a="http://schemas.openxmlformats.org/drawingml/2006/main">
              <a:ext uri="{FF2B5EF4-FFF2-40B4-BE49-F238E27FC236}">
                <a16:creationId xmlns:a16="http://schemas.microsoft.com/office/drawing/2014/main" id="{C97DDFD9-E6E0-4D09-B01E-E2FAD9877333}"/>
              </a:ext>
            </a:extLst>
          </p:cNvPr>
          <p:cNvSpPr>
            <a:spLocks xmlns:a="http://schemas.openxmlformats.org/drawingml/2006/main" noGrp="1"/>
          </p:cNvSpPr>
          <p:nvPr/>
        </p:nvSpPr>
        <p:spPr>
          <a:xfrm xmlns:a="http://schemas.openxmlformats.org/drawingml/2006/main">
            <a:off x="647700" y="633412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CorridorProof   /   Drunix hackathon prototype</a:t>
            </a:r>
          </a:p>
        </p:txBody>
      </p:sp>
      <p:sp>
        <p:nvSpPr>
          <p:cNvPr id="4" name="">
            <a:extLst xmlns:a="http://schemas.openxmlformats.org/drawingml/2006/main">
              <a:ext uri="{FF2B5EF4-FFF2-40B4-BE49-F238E27FC236}">
                <a16:creationId xmlns:a16="http://schemas.microsoft.com/office/drawing/2014/main" id="{F552A614-486E-4A9A-B770-EC65661701FC}"/>
              </a:ext>
            </a:extLst>
          </p:cNvPr>
          <p:cNvSpPr>
            <a:spLocks xmlns:a="http://schemas.openxmlformats.org/drawingml/2006/main" noGrp="1"/>
          </p:cNvSpPr>
          <p:nvPr/>
        </p:nvSpPr>
        <p:spPr>
          <a:xfrm xmlns:a="http://schemas.openxmlformats.org/drawingml/2006/main">
            <a:off x="1104900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E8377"/>
                </a:solidFill>
                <a:latin typeface="Arial"/>
                <a:ea typeface="Arial"/>
                <a:cs typeface="Arial"/>
              </a:defRPr>
            </a:pPr>
            <a:r>
              <a:rPr sz="1050" b="0">
                <a:solidFill>
                  <a:srgbClr val="6E8377"/>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FDF25002-4A10-422B-B323-376A8029EE5D}"/>
              </a:ext>
            </a:extLst>
          </p:cNvPr>
          <p:cNvSpPr>
            <a:spLocks xmlns:a="http://schemas.openxmlformats.org/drawingml/2006/main" noGrp="1"/>
          </p:cNvSpPr>
          <p:nvPr/>
        </p:nvSpPr>
        <p:spPr>
          <a:xfrm xmlns:a="http://schemas.openxmlformats.org/drawingml/2006/main">
            <a:off x="647700" y="2276475"/>
            <a:ext cx="10287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327C63"/>
                </a:solidFill>
                <a:latin typeface="Arial"/>
                <a:ea typeface="Arial"/>
                <a:cs typeface="Arial"/>
              </a:defRPr>
            </a:pPr>
            <a:r>
              <a:rPr sz="2400" b="1">
                <a:solidFill>
                  <a:srgbClr val="327C63"/>
                </a:solidFill>
                <a:latin typeface="Arial"/>
                <a:ea typeface="Arial"/>
                <a:cs typeface="Arial"/>
              </a:rPr>
              <a:t>Swift / Nexus service desk</a:t>
            </a:r>
          </a:p>
        </p:txBody>
      </p:sp>
      <p:sp>
        <p:nvSpPr>
          <p:cNvPr id="6" name="">
            <a:extLst xmlns:a="http://schemas.openxmlformats.org/drawingml/2006/main">
              <a:ext uri="{FF2B5EF4-FFF2-40B4-BE49-F238E27FC236}">
                <a16:creationId xmlns:a16="http://schemas.microsoft.com/office/drawing/2014/main" id="{D94D8429-F763-4F0E-8579-3D341D429D5A}"/>
              </a:ext>
            </a:extLst>
          </p:cNvPr>
          <p:cNvSpPr>
            <a:spLocks xmlns:a="http://schemas.openxmlformats.org/drawingml/2006/main" noGrp="1"/>
          </p:cNvSpPr>
          <p:nvPr/>
        </p:nvSpPr>
        <p:spPr>
          <a:xfrm xmlns:a="http://schemas.openxmlformats.org/drawingml/2006/main">
            <a:off x="647700" y="286702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Established investigation workflows. We must validate</a:t>
            </a:r>
          </a:p>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what a specific corridor partner still needs.</a:t>
            </a:r>
          </a:p>
        </p:txBody>
      </p:sp>
      <p:sp>
        <p:nvSpPr>
          <p:cNvPr id="7" name="">
            <a:extLst xmlns:a="http://schemas.openxmlformats.org/drawingml/2006/main">
              <a:ext uri="{FF2B5EF4-FFF2-40B4-BE49-F238E27FC236}">
                <a16:creationId xmlns:a16="http://schemas.microsoft.com/office/drawing/2014/main" id="{47E54D35-B241-4F1A-85A0-70A57DC6F75D}"/>
              </a:ext>
            </a:extLst>
          </p:cNvPr>
          <p:cNvSpPr>
            <a:spLocks xmlns:a="http://schemas.openxmlformats.org/drawingml/2006/main" noGrp="1"/>
          </p:cNvSpPr>
          <p:nvPr/>
        </p:nvSpPr>
        <p:spPr>
          <a:xfrm xmlns:a="http://schemas.openxmlformats.org/drawingml/2006/main">
            <a:off x="647700" y="4038600"/>
            <a:ext cx="10382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327C63"/>
                </a:solidFill>
                <a:latin typeface="Arial"/>
                <a:ea typeface="Arial"/>
                <a:cs typeface="Arial"/>
              </a:defRPr>
            </a:pPr>
            <a:r>
              <a:rPr sz="2400" b="1">
                <a:solidFill>
                  <a:srgbClr val="327C63"/>
                </a:solidFill>
                <a:latin typeface="Arial"/>
                <a:ea typeface="Arial"/>
                <a:cs typeface="Arial"/>
              </a:rPr>
              <a:t>CorridorProof hypothesis</a:t>
            </a:r>
          </a:p>
        </p:txBody>
      </p:sp>
      <p:sp>
        <p:nvSpPr>
          <p:cNvPr id="8" name="">
            <a:extLst xmlns:a="http://schemas.openxmlformats.org/drawingml/2006/main">
              <a:ext uri="{FF2B5EF4-FFF2-40B4-BE49-F238E27FC236}">
                <a16:creationId xmlns:a16="http://schemas.microsoft.com/office/drawing/2014/main" id="{4981CFFA-42EE-4698-8D47-950EA9D39D96}"/>
              </a:ext>
            </a:extLst>
          </p:cNvPr>
          <p:cNvSpPr>
            <a:spLocks xmlns:a="http://schemas.openxmlformats.org/drawingml/2006/main" noGrp="1"/>
          </p:cNvSpPr>
          <p:nvPr/>
        </p:nvSpPr>
        <p:spPr>
          <a:xfrm xmlns:a="http://schemas.openxmlformats.org/drawingml/2006/main">
            <a:off x="647700" y="4581525"/>
            <a:ext cx="10572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Independent operators jointly govern accepted evidence</a:t>
            </a:r>
          </a:p>
          <a:p xmlns:a="http://schemas.openxmlformats.org/drawingml/2006/main">
            <a:pPr>
              <a:defRPr sz="2175" b="0">
                <a:solidFill>
                  <a:srgbClr val="173D33"/>
                </a:solidFill>
                <a:latin typeface="Arial"/>
                <a:ea typeface="Arial"/>
                <a:cs typeface="Arial"/>
              </a:defRPr>
            </a:pPr>
            <a:r>
              <a:rPr sz="2175" b="0">
                <a:solidFill>
                  <a:srgbClr val="173D33"/>
                </a:solidFill>
                <a:latin typeface="Arial"/>
                <a:ea typeface="Arial"/>
                <a:cs typeface="Arial"/>
              </a:rPr>
              <a:t>and resolution changes without unilateral edit authority.</a:t>
            </a:r>
          </a:p>
        </p:txBody>
      </p:sp>
      <p:sp>
        <p:nvSpPr>
          <p:cNvPr id="9" name="">
            <a:extLst xmlns:a="http://schemas.openxmlformats.org/drawingml/2006/main">
              <a:ext uri="{FF2B5EF4-FFF2-40B4-BE49-F238E27FC236}">
                <a16:creationId xmlns:a16="http://schemas.microsoft.com/office/drawing/2014/main" id="{8D4A2ADD-83CD-4331-84FD-AD83BBA2E5A0}"/>
              </a:ext>
            </a:extLst>
          </p:cNvPr>
          <p:cNvSpPr>
            <a:spLocks xmlns:a="http://schemas.openxmlformats.org/drawingml/2006/main" noGrp="1"/>
          </p:cNvSpPr>
          <p:nvPr/>
        </p:nvSpPr>
        <p:spPr>
          <a:xfrm xmlns:a="http://schemas.openxmlformats.org/drawingml/2006/main">
            <a:off x="647700" y="568642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E8377"/>
                </a:solidFill>
                <a:latin typeface="Arial"/>
                <a:ea typeface="Arial"/>
                <a:cs typeface="Arial"/>
              </a:defRPr>
            </a:pPr>
            <a:r>
              <a:rPr sz="1500" b="0">
                <a:solidFill>
                  <a:srgbClr val="6E8377"/>
                </a:solidFill>
                <a:latin typeface="Arial"/>
                <a:ea typeface="Arial"/>
                <a:cs typeface="Arial"/>
              </a:rPr>
              <a:t>A trusted shared database remains a valid option when independent governance is unnecessary.</a:t>
            </a:r>
          </a:p>
        </p:txBody>
      </p:sp>
    </p:spTree>
    <p:extLst>
      <p:ext uri="{BB962C8B-B14F-4D97-AF65-F5344CB8AC3E}">
        <p14:creationId xmlns:p14="http://schemas.microsoft.com/office/powerpoint/2010/main" val="1467794813"/>
      </p:ext>
    </p:extLst>
  </p:cSld>
</p:sld>
</file>

<file path=ppt/slides/slide8.xml><?xml version="1.0" encoding="utf-8"?>
<p:sld xmlns:p="http://schemas.openxmlformats.org/presentationml/2006/main">
  <p:cSld>
    <p:bg>
      <p:bgPr>
        <a:solidFill xmlns:a="http://schemas.openxmlformats.org/drawingml/2006/main">
          <a:srgbClr val="173D3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D5785E3-15FF-4B42-A586-AB23A9828744}"/>
              </a:ext>
            </a:extLst>
          </p:cNvPr>
          <p:cNvSpPr>
            <a:spLocks xmlns:a="http://schemas.openxmlformats.org/drawingml/2006/main" noGrp="1"/>
          </p:cNvSpPr>
          <p:nvPr/>
        </p:nvSpPr>
        <p:spPr>
          <a:xfrm xmlns:a="http://schemas.openxmlformats.org/drawingml/2006/main">
            <a:off x="647700" y="400050"/>
            <a:ext cx="10477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93D5B7"/>
                </a:solidFill>
                <a:latin typeface="Arial"/>
                <a:ea typeface="Arial"/>
                <a:cs typeface="Arial"/>
              </a:defRPr>
            </a:pPr>
            <a:r>
              <a:rPr sz="1125" b="1">
                <a:solidFill>
                  <a:srgbClr val="93D5B7"/>
                </a:solidFill>
                <a:latin typeface="Arial"/>
                <a:ea typeface="Arial"/>
                <a:cs typeface="Arial"/>
              </a:rPr>
              <a:t>PILOT AND BUSINESS MODEL</a:t>
            </a:r>
          </a:p>
        </p:txBody>
      </p:sp>
      <p:sp>
        <p:nvSpPr>
          <p:cNvPr id="2" name="">
            <a:extLst xmlns:a="http://schemas.openxmlformats.org/drawingml/2006/main">
              <a:ext uri="{FF2B5EF4-FFF2-40B4-BE49-F238E27FC236}">
                <a16:creationId xmlns:a16="http://schemas.microsoft.com/office/drawing/2014/main" id="{1007B21F-F50C-4196-8E86-D2810521623E}"/>
              </a:ext>
            </a:extLst>
          </p:cNvPr>
          <p:cNvSpPr>
            <a:spLocks xmlns:a="http://schemas.openxmlformats.org/drawingml/2006/main" noGrp="1"/>
          </p:cNvSpPr>
          <p:nvPr/>
        </p:nvSpPr>
        <p:spPr>
          <a:xfrm xmlns:a="http://schemas.openxmlformats.org/drawingml/2006/main">
            <a:off x="647700" y="914400"/>
            <a:ext cx="10896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A corridor pilot is the next commercial gate</a:t>
            </a:r>
          </a:p>
        </p:txBody>
      </p:sp>
      <p:sp>
        <p:nvSpPr>
          <p:cNvPr id="3" name="">
            <a:extLst xmlns:a="http://schemas.openxmlformats.org/drawingml/2006/main">
              <a:ext uri="{FF2B5EF4-FFF2-40B4-BE49-F238E27FC236}">
                <a16:creationId xmlns:a16="http://schemas.microsoft.com/office/drawing/2014/main" id="{59D8272F-3683-4E64-887B-73D245F30EBA}"/>
              </a:ext>
            </a:extLst>
          </p:cNvPr>
          <p:cNvSpPr>
            <a:spLocks xmlns:a="http://schemas.openxmlformats.org/drawingml/2006/main" noGrp="1"/>
          </p:cNvSpPr>
          <p:nvPr/>
        </p:nvSpPr>
        <p:spPr>
          <a:xfrm xmlns:a="http://schemas.openxmlformats.org/drawingml/2006/main">
            <a:off x="647700" y="6334125"/>
            <a:ext cx="933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3D5B7"/>
                </a:solidFill>
                <a:latin typeface="Arial"/>
                <a:ea typeface="Arial"/>
                <a:cs typeface="Arial"/>
              </a:defRPr>
            </a:pPr>
            <a:r>
              <a:rPr sz="1050" b="0">
                <a:solidFill>
                  <a:srgbClr val="93D5B7"/>
                </a:solidFill>
                <a:latin typeface="Arial"/>
                <a:ea typeface="Arial"/>
                <a:cs typeface="Arial"/>
              </a:rPr>
              <a:t>CorridorProof   /   Drunix hackathon prototype</a:t>
            </a:r>
          </a:p>
        </p:txBody>
      </p:sp>
      <p:sp>
        <p:nvSpPr>
          <p:cNvPr id="4" name="">
            <a:extLst xmlns:a="http://schemas.openxmlformats.org/drawingml/2006/main">
              <a:ext uri="{FF2B5EF4-FFF2-40B4-BE49-F238E27FC236}">
                <a16:creationId xmlns:a16="http://schemas.microsoft.com/office/drawing/2014/main" id="{5A5E8329-8933-40F7-B38E-CB85EFC3D458}"/>
              </a:ext>
            </a:extLst>
          </p:cNvPr>
          <p:cNvSpPr>
            <a:spLocks xmlns:a="http://schemas.openxmlformats.org/drawingml/2006/main" noGrp="1"/>
          </p:cNvSpPr>
          <p:nvPr/>
        </p:nvSpPr>
        <p:spPr>
          <a:xfrm xmlns:a="http://schemas.openxmlformats.org/drawingml/2006/main">
            <a:off x="11049000" y="6334125"/>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93D5B7"/>
                </a:solidFill>
                <a:latin typeface="Arial"/>
                <a:ea typeface="Arial"/>
                <a:cs typeface="Arial"/>
              </a:defRPr>
            </a:pPr>
            <a:r>
              <a:rPr sz="1050" b="0">
                <a:solidFill>
                  <a:srgbClr val="93D5B7"/>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7B22DBDC-FDC3-45EF-A85C-614F423D8B24}"/>
              </a:ext>
            </a:extLst>
          </p:cNvPr>
          <p:cNvSpPr>
            <a:spLocks xmlns:a="http://schemas.openxmlformats.org/drawingml/2006/main" noGrp="1"/>
          </p:cNvSpPr>
          <p:nvPr/>
        </p:nvSpPr>
        <p:spPr>
          <a:xfrm xmlns:a="http://schemas.openxmlformats.org/drawingml/2006/main">
            <a:off x="647700" y="22383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93D5B7"/>
                </a:solidFill>
                <a:latin typeface="Arial"/>
                <a:ea typeface="Arial"/>
                <a:cs typeface="Arial"/>
              </a:defRPr>
            </a:pPr>
            <a:r>
              <a:rPr sz="1800" b="1">
                <a:solidFill>
                  <a:srgbClr val="93D5B7"/>
                </a:solidFill>
                <a:latin typeface="Arial"/>
                <a:ea typeface="Arial"/>
                <a:cs typeface="Arial"/>
              </a:rPr>
              <a:t>Candidate buyer</a:t>
            </a:r>
          </a:p>
        </p:txBody>
      </p:sp>
      <p:sp>
        <p:nvSpPr>
          <p:cNvPr id="6" name="">
            <a:extLst xmlns:a="http://schemas.openxmlformats.org/drawingml/2006/main">
              <a:ext uri="{FF2B5EF4-FFF2-40B4-BE49-F238E27FC236}">
                <a16:creationId xmlns:a16="http://schemas.microsoft.com/office/drawing/2014/main" id="{1198A385-8025-4B68-BE17-27EE40FB4D88}"/>
              </a:ext>
            </a:extLst>
          </p:cNvPr>
          <p:cNvSpPr>
            <a:spLocks xmlns:a="http://schemas.openxmlformats.org/drawingml/2006/main" noGrp="1"/>
          </p:cNvSpPr>
          <p:nvPr/>
        </p:nvSpPr>
        <p:spPr>
          <a:xfrm xmlns:a="http://schemas.openxmlformats.org/drawingml/2006/main">
            <a:off x="647700" y="2781300"/>
            <a:ext cx="10668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Arial"/>
                <a:ea typeface="Arial"/>
                <a:cs typeface="Arial"/>
              </a:defRPr>
            </a:pPr>
            <a:r>
              <a:rPr sz="2700" b="1">
                <a:solidFill>
                  <a:srgbClr val="FFFFFF"/>
                </a:solidFill>
                <a:latin typeface="Arial"/>
                <a:ea typeface="Arial"/>
                <a:cs typeface="Arial"/>
              </a:rPr>
              <a:t>Sender and receiver PSP operations teams</a:t>
            </a:r>
          </a:p>
        </p:txBody>
      </p:sp>
      <p:sp>
        <p:nvSpPr>
          <p:cNvPr id="7" name="">
            <a:extLst xmlns:a="http://schemas.openxmlformats.org/drawingml/2006/main">
              <a:ext uri="{FF2B5EF4-FFF2-40B4-BE49-F238E27FC236}">
                <a16:creationId xmlns:a16="http://schemas.microsoft.com/office/drawing/2014/main" id="{9B304E9A-591D-46A7-9B90-F70DEE5D452F}"/>
              </a:ext>
            </a:extLst>
          </p:cNvPr>
          <p:cNvSpPr>
            <a:spLocks xmlns:a="http://schemas.openxmlformats.org/drawingml/2006/main" noGrp="1"/>
          </p:cNvSpPr>
          <p:nvPr/>
        </p:nvSpPr>
        <p:spPr>
          <a:xfrm xmlns:a="http://schemas.openxmlformats.org/drawingml/2006/main">
            <a:off x="647700" y="37338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93D5B7"/>
                </a:solidFill>
                <a:latin typeface="Arial"/>
                <a:ea typeface="Arial"/>
                <a:cs typeface="Arial"/>
              </a:defRPr>
            </a:pPr>
            <a:r>
              <a:rPr sz="1800" b="1">
                <a:solidFill>
                  <a:srgbClr val="93D5B7"/>
                </a:solidFill>
                <a:latin typeface="Arial"/>
                <a:ea typeface="Arial"/>
                <a:cs typeface="Arial"/>
              </a:rPr>
              <a:t>Shadow pilot</a:t>
            </a:r>
          </a:p>
        </p:txBody>
      </p:sp>
      <p:sp>
        <p:nvSpPr>
          <p:cNvPr id="8" name="">
            <a:extLst xmlns:a="http://schemas.openxmlformats.org/drawingml/2006/main">
              <a:ext uri="{FF2B5EF4-FFF2-40B4-BE49-F238E27FC236}">
                <a16:creationId xmlns:a16="http://schemas.microsoft.com/office/drawing/2014/main" id="{D594E528-1BEB-49F7-8597-0EC5F1190CB2}"/>
              </a:ext>
            </a:extLst>
          </p:cNvPr>
          <p:cNvSpPr>
            <a:spLocks xmlns:a="http://schemas.openxmlformats.org/drawingml/2006/main" noGrp="1"/>
          </p:cNvSpPr>
          <p:nvPr/>
        </p:nvSpPr>
        <p:spPr>
          <a:xfrm xmlns:a="http://schemas.openxmlformats.org/drawingml/2006/main">
            <a:off x="647700" y="426720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Replay de-identified exceptions against the current workflow.</a:t>
            </a:r>
          </a:p>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Measure operator effort and unsafe-decision prevention.</a:t>
            </a:r>
          </a:p>
        </p:txBody>
      </p:sp>
      <p:sp>
        <p:nvSpPr>
          <p:cNvPr id="9" name="">
            <a:extLst xmlns:a="http://schemas.openxmlformats.org/drawingml/2006/main">
              <a:ext uri="{FF2B5EF4-FFF2-40B4-BE49-F238E27FC236}">
                <a16:creationId xmlns:a16="http://schemas.microsoft.com/office/drawing/2014/main" id="{5740AE79-A19F-4E82-9E0F-5BA3EA47570D}"/>
              </a:ext>
            </a:extLst>
          </p:cNvPr>
          <p:cNvSpPr>
            <a:spLocks xmlns:a="http://schemas.openxmlformats.org/drawingml/2006/main" noGrp="1"/>
          </p:cNvSpPr>
          <p:nvPr/>
        </p:nvSpPr>
        <p:spPr>
          <a:xfrm xmlns:a="http://schemas.openxmlformats.org/drawingml/2006/main">
            <a:off x="647700" y="5543550"/>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93D5B7"/>
                </a:solidFill>
                <a:latin typeface="Arial"/>
                <a:ea typeface="Arial"/>
                <a:cs typeface="Arial"/>
              </a:defRPr>
            </a:pPr>
            <a:r>
              <a:rPr sz="1650" b="0">
                <a:solidFill>
                  <a:srgbClr val="93D5B7"/>
                </a:solidFill>
                <a:latin typeface="Arial"/>
                <a:ea typeface="Arial"/>
                <a:cs typeface="Arial"/>
              </a:rPr>
              <a:t>Subscription plus integration is a pricing hypothesis.</a:t>
            </a:r>
          </a:p>
          <a:p xmlns:a="http://schemas.openxmlformats.org/drawingml/2006/main">
            <a:pPr>
              <a:defRPr sz="1650" b="0">
                <a:solidFill>
                  <a:srgbClr val="93D5B7"/>
                </a:solidFill>
                <a:latin typeface="Arial"/>
                <a:ea typeface="Arial"/>
                <a:cs typeface="Arial"/>
              </a:defRPr>
            </a:pPr>
            <a:r>
              <a:rPr sz="1650" b="0">
                <a:solidFill>
                  <a:srgbClr val="93D5B7"/>
                </a:solidFill>
                <a:latin typeface="Arial"/>
                <a:ea typeface="Arial"/>
                <a:cs typeface="Arial"/>
              </a:rPr>
              <a:t>No customer adoption or operational savings claimed.</a:t>
            </a:r>
          </a:p>
        </p:txBody>
      </p:sp>
    </p:spTree>
    <p:extLst>
      <p:ext uri="{BB962C8B-B14F-4D97-AF65-F5344CB8AC3E}">
        <p14:creationId xmlns:p14="http://schemas.microsoft.com/office/powerpoint/2010/main" val="15848326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2026-09-30T02:58:37.3950000Z</dcterms:created>
  <dcterms:modified xsi:type="dcterms:W3CDTF">2026-09-30T02:58:37.3950000Z</dcterms:modified>
</coreProperties>
</file>
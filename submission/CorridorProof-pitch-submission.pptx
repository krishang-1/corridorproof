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c989f2025041e4" /><Relationship Type="http://schemas.openxmlformats.org/officeDocument/2006/relationships/extended-properties" Target="/docProps/app.xml" Id="R0adbbbdf0c1d40c0" /><Relationship Type="http://schemas.openxmlformats.org/officeDocument/2006/relationships/officeDocument" Target="/ppt/presentation.xml" Id="R14b99b6d46f443d4" /></Relationships>
</file>

<file path=ppt/presentation.xml><?xml version="1.0" encoding="utf-8"?>
<p:presentation xmlns:p="http://schemas.openxmlformats.org/presentationml/2006/main">
  <p:sldMasterIdLst>
    <p:sldMasterId xmlns:r="http://schemas.openxmlformats.org/officeDocument/2006/relationships" id="2147483648" r:id="R392351584287451a"/>
  </p:sldMasterIdLst>
  <p:notesMasterIdLst>
    <p:notesMasterId xmlns:r="http://schemas.openxmlformats.org/officeDocument/2006/relationships" r:id="Re0a115d4ae9440c1"/>
  </p:notesMasterIdLst>
  <p:sldIdLst>
    <p:sldId xmlns:r="http://schemas.openxmlformats.org/officeDocument/2006/relationships" id="256" r:id="R2361cc648c044eee"/>
    <p:sldId xmlns:r="http://schemas.openxmlformats.org/officeDocument/2006/relationships" id="257" r:id="R35a8db2a9db945d9"/>
    <p:sldId xmlns:r="http://schemas.openxmlformats.org/officeDocument/2006/relationships" id="258" r:id="R4a77524566fd4799"/>
    <p:sldId xmlns:r="http://schemas.openxmlformats.org/officeDocument/2006/relationships" id="259" r:id="R14b61ffb6a154a15"/>
    <p:sldId xmlns:r="http://schemas.openxmlformats.org/officeDocument/2006/relationships" id="260" r:id="R68526615eefc431a"/>
    <p:sldId xmlns:r="http://schemas.openxmlformats.org/officeDocument/2006/relationships" id="261" r:id="Re6b5eb26d2074303"/>
    <p:sldId xmlns:r="http://schemas.openxmlformats.org/officeDocument/2006/relationships" id="262" r:id="R12e16a46afe34c80"/>
    <p:sldId xmlns:r="http://schemas.openxmlformats.org/officeDocument/2006/relationships" id="263" r:id="Rae7bc98761c845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5a4e1764d149c3" /><Relationship Type="http://schemas.openxmlformats.org/officeDocument/2006/relationships/slideMaster" Target="/ppt/slideMasters/slideMaster1.xml" Id="R392351584287451a" /><Relationship Type="http://schemas.openxmlformats.org/officeDocument/2006/relationships/notesMaster" Target="/ppt/notesMasters/notesMaster1.xml" Id="Re0a115d4ae9440c1" /><Relationship Type="http://schemas.openxmlformats.org/officeDocument/2006/relationships/presProps" Target="/ppt/presProps.xml" Id="Rf6c6b84d48784022" /><Relationship Type="http://schemas.openxmlformats.org/officeDocument/2006/relationships/tableStyles" Target="/ppt/tableStyles.xml" Id="R2ff48b1a6ecb444e" /><Relationship Type="http://schemas.openxmlformats.org/officeDocument/2006/relationships/slide" Target="/ppt/slides/slide1.xml" Id="R2361cc648c044eee" /><Relationship Type="http://schemas.openxmlformats.org/officeDocument/2006/relationships/slide" Target="/ppt/slides/slide2.xml" Id="R35a8db2a9db945d9" /><Relationship Type="http://schemas.openxmlformats.org/officeDocument/2006/relationships/slide" Target="/ppt/slides/slide3.xml" Id="R4a77524566fd4799" /><Relationship Type="http://schemas.openxmlformats.org/officeDocument/2006/relationships/slide" Target="/ppt/slides/slide4.xml" Id="R14b61ffb6a154a15" /><Relationship Type="http://schemas.openxmlformats.org/officeDocument/2006/relationships/slide" Target="/ppt/slides/slide5.xml" Id="R68526615eefc431a" /><Relationship Type="http://schemas.openxmlformats.org/officeDocument/2006/relationships/slide" Target="/ppt/slides/slide6.xml" Id="Re6b5eb26d2074303" /><Relationship Type="http://schemas.openxmlformats.org/officeDocument/2006/relationships/slide" Target="/ppt/slides/slide7.xml" Id="R12e16a46afe34c80" /><Relationship Type="http://schemas.openxmlformats.org/officeDocument/2006/relationships/slide" Target="/ppt/slides/slide8.xml" Id="Rae7bc98761c845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08d52acec441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efc4d7335f4621" /><Relationship Type="http://schemas.openxmlformats.org/officeDocument/2006/relationships/notesMaster" Target="/ppt/notesMasters/notesMaster1.xml" Id="R2de253b9672c4f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da933a70d24f0c" /><Relationship Type="http://schemas.openxmlformats.org/officeDocument/2006/relationships/notesMaster" Target="/ppt/notesMasters/notesMaster1.xml" Id="R8952f87f8a3041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ffc38fd26545f3" /><Relationship Type="http://schemas.openxmlformats.org/officeDocument/2006/relationships/notesMaster" Target="/ppt/notesMasters/notesMaster1.xml" Id="R944d26ae47254b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9f90d7c72c4a98" /><Relationship Type="http://schemas.openxmlformats.org/officeDocument/2006/relationships/notesMaster" Target="/ppt/notesMasters/notesMaster1.xml" Id="R7c5b751a27ed42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e5f0e7529d42b7" /><Relationship Type="http://schemas.openxmlformats.org/officeDocument/2006/relationships/notesMaster" Target="/ppt/notesMasters/notesMaster1.xml" Id="R61c7a1ee91e543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4917d1f51e44dd" /><Relationship Type="http://schemas.openxmlformats.org/officeDocument/2006/relationships/notesMaster" Target="/ppt/notesMasters/notesMaster1.xml" Id="Rc71b8aadc7e74b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b3ec625f7a4dce" /><Relationship Type="http://schemas.openxmlformats.org/officeDocument/2006/relationships/notesMaster" Target="/ppt/notesMasters/notesMaster1.xml" Id="R94b44917b77240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93b3c89109409e" /><Relationship Type="http://schemas.openxmlformats.org/officeDocument/2006/relationships/notesMaster" Target="/ppt/notesMasters/notesMaster1.xml" Id="Rd328cdf5cda748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prototype. No real funds or institutional identities. Live dashboard connected to the local two-organization Drunix test network. API scenario checks, actual MVCC conflict, unauthorized MSP rejection and restart persistence passed. All payment execution remains synthetic. Team identity and portal PS wording require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30 September 2026. Nexus https://docs.nexusglobalpayments.org/payment-processing/key-points describes first-release manual investigations, recalls and disputes and possible future automation. This is documentation, not proof of present deployed release status. Swift https://www.swift.com/products/case-management proves an established competitive category, not our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payment-priority handling https://docs.nexusglobalpayments.org/payment-processing/time-critical-vs-non-time-critical-payments distinguishes scheme-specific status and cancellation behavior. Our rule is a conservative prototype policy, not a universal Nexus cancellation implementation. Node/Go shared conformance tests and browser flow implement the illustrated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live dashboard screenshot: custom accepted SGD125 quote, INR7500 recipient commitment, timeout and denied refund. Full API check: 36 VALID transactions across five scenarios. Browser late credit and both closure acknowledgments also verified. No real payments. Receipts in submission/drunix-dashboard-evidence.json and drunix-browser-evidence.json.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exports are compared with the current authenticated Drunix workspace. Altered and truncated exports were rejected. This is an online comparison, not offline cryptographic block verification. Persisted exact request identities support safe reconciliation of uncertain commits. Actual same-version proposals produced one VALID and one MVCC_READ_CONFLICT commit. Both lite peers restarted with identical state: 17 cases and 122 events at the checkpoint. See submission/drunix-dashboard-evidence.json and drunix-resilience-evidence.json.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to Node24 HTTP API to TLS certificate-bound Go gateway to chaincode on a two-organization Drunix test network, AND endorsement. YugabyteDB state stores. Source pinned ddc0eae778158d3f8a96605cfeda383ae5eafcfc with two documented SQL bookmark patches needed for the expanded range-query workload. Node server holds generated test credentials for both organizations. Independent institutional custody is not demonstrated. Default npm start remains a separately labelled SQLite signed fallback. Official network https://github.com/npci/drunix/blob/main/drunix-network/test-network/README.md. See docs/LIVE-DASHBOARD.md.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investigation service desk and possible future ISO20022 automation: https://docs.nexusglobalpayments.org/payment-processing/key-points. Swift Case Management and network-agnostic E&amp;I: https://www.swift.com/products/case-management and https://www.swift.com/news-events/news/transforming-exceptions-and-investigations. Trusted database alternative is our architecture inference. No feature superiority or unmet buyer need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Hypotheses, not validated outcomes. Candidate buyers: PSP operations teams or corridor operator. Shadow pilot should compare existing workflows and trusted-database baseline with Drunix. Measure staff minutes, counterparty contacts, evidence rework and resolution time excluding rail waiting. No partners, savings percentage, market size or pricing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d5f3e05e5f4d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33553fb20b4be5" /><Relationship Type="http://schemas.openxmlformats.org/officeDocument/2006/relationships/slideLayout" Target="/ppt/slideLayouts/slideLayout1.xml" Id="R877a1ccf88154b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7a1ccf88154b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79a4f3f3784b18" /><Relationship Type="http://schemas.openxmlformats.org/officeDocument/2006/relationships/notesSlide" Target="/ppt/notesSlides/notesSlide1.xml" Id="Rc53213f4d2814e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e653920d5b4579" /><Relationship Type="http://schemas.openxmlformats.org/officeDocument/2006/relationships/notesSlide" Target="/ppt/notesSlides/notesSlide2.xml" Id="Rbd00ab9c8a434f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b4f66c747d4258" /><Relationship Type="http://schemas.openxmlformats.org/officeDocument/2006/relationships/notesSlide" Target="/ppt/notesSlides/notesSlide3.xml" Id="R7d985f06965048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cf1a49c8934ce9" /><Relationship Type="http://schemas.openxmlformats.org/officeDocument/2006/relationships/image" Target="/ppt/media/image.jpeg" Id="R5a9e63754d574318" /><Relationship Type="http://schemas.openxmlformats.org/officeDocument/2006/relationships/notesSlide" Target="/ppt/notesSlides/notesSlide4.xml" Id="R2c6a27c0bcd246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b06c3527864bd2" /><Relationship Type="http://schemas.openxmlformats.org/officeDocument/2006/relationships/notesSlide" Target="/ppt/notesSlides/notesSlide5.xml" Id="Ra85f2c5708734e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5212e7076845eb" /><Relationship Type="http://schemas.openxmlformats.org/officeDocument/2006/relationships/notesSlide" Target="/ppt/notesSlides/notesSlide6.xml" Id="R06a036f2de6747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0bc16e7a37404c" /><Relationship Type="http://schemas.openxmlformats.org/officeDocument/2006/relationships/notesSlide" Target="/ppt/notesSlides/notesSlide7.xml" Id="R09122f73ba5141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6de8deaa3f4b44" /><Relationship Type="http://schemas.openxmlformats.org/officeDocument/2006/relationships/notesSlide" Target="/ppt/notesSlides/notesSlide8.xml" Id="Rf41a988d81ac40c0" /></Relationships>
</file>

<file path=ppt/slides/slide1.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FB8AA5-3CA7-46FA-A9E5-F6620814DFF8}"/>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3D5B7"/>
                </a:solidFill>
                <a:latin typeface="Arial"/>
                <a:ea typeface="Arial"/>
                <a:cs typeface="Arial"/>
              </a:defRPr>
            </a:pPr>
            <a:r>
              <a:rPr sz="1125" b="1">
                <a:solidFill>
                  <a:srgbClr val="93D5B7"/>
                </a:solidFill>
                <a:latin typeface="Arial"/>
                <a:ea typeface="Arial"/>
                <a:cs typeface="Arial"/>
              </a:rPr>
              <a:t>CROSS-BORDER EXCEPTION OPERATIONS</a:t>
            </a:r>
          </a:p>
        </p:txBody>
      </p:sp>
      <p:sp>
        <p:nvSpPr>
          <p:cNvPr id="2" name="">
            <a:extLst xmlns:a="http://schemas.openxmlformats.org/drawingml/2006/main">
              <a:ext uri="{FF2B5EF4-FFF2-40B4-BE49-F238E27FC236}">
                <a16:creationId xmlns:a16="http://schemas.microsoft.com/office/drawing/2014/main" id="{E712E58F-4725-4C35-917D-FA44A9B8D391}"/>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CorridorProof</a:t>
            </a:r>
          </a:p>
        </p:txBody>
      </p:sp>
      <p:sp>
        <p:nvSpPr>
          <p:cNvPr id="3" name="">
            <a:extLst xmlns:a="http://schemas.openxmlformats.org/drawingml/2006/main">
              <a:ext uri="{FF2B5EF4-FFF2-40B4-BE49-F238E27FC236}">
                <a16:creationId xmlns:a16="http://schemas.microsoft.com/office/drawing/2014/main" id="{F527F97A-0EBE-4B6D-9A45-5AFFCC1E8BD2}"/>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80CB71D1-FBD8-4B50-B812-BADE670FD68B}"/>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71524AC-E68E-4B0A-BB6E-304F39D3BE21}"/>
              </a:ext>
            </a:extLst>
          </p:cNvPr>
          <p:cNvSpPr>
            <a:spLocks xmlns:a="http://schemas.openxmlformats.org/drawingml/2006/main" noGrp="1"/>
          </p:cNvSpPr>
          <p:nvPr/>
        </p:nvSpPr>
        <p:spPr>
          <a:xfrm xmlns:a="http://schemas.openxmlformats.org/drawingml/2006/main">
            <a:off x="647700" y="2266950"/>
            <a:ext cx="1000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Shared evidence for</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uncertain payment outcomes</a:t>
            </a:r>
          </a:p>
        </p:txBody>
      </p:sp>
      <p:sp>
        <p:nvSpPr>
          <p:cNvPr id="6" name="">
            <a:extLst xmlns:a="http://schemas.openxmlformats.org/drawingml/2006/main">
              <a:ext uri="{FF2B5EF4-FFF2-40B4-BE49-F238E27FC236}">
                <a16:creationId xmlns:a16="http://schemas.microsoft.com/office/drawing/2014/main" id="{62944514-4E4A-42F8-ACE3-F817779F0685}"/>
              </a:ext>
            </a:extLst>
          </p:cNvPr>
          <p:cNvSpPr>
            <a:spLocks xmlns:a="http://schemas.openxmlformats.org/drawingml/2006/main" noGrp="1"/>
          </p:cNvSpPr>
          <p:nvPr/>
        </p:nvSpPr>
        <p:spPr>
          <a:xfrm xmlns:a="http://schemas.openxmlformats.org/drawingml/2006/main">
            <a:off x="647700" y="421005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3D5B7"/>
                </a:solidFill>
                <a:latin typeface="Arial"/>
                <a:ea typeface="Arial"/>
                <a:cs typeface="Arial"/>
              </a:defRPr>
            </a:pPr>
            <a:r>
              <a:rPr sz="2175" b="0">
                <a:solidFill>
                  <a:srgbClr val="93D5B7"/>
                </a:solidFill>
                <a:latin typeface="Arial"/>
                <a:ea typeface="Arial"/>
                <a:cs typeface="Arial"/>
              </a:rPr>
              <a:t>Sender and receiver teams agree a safe resolution</a:t>
            </a:r>
          </a:p>
          <a:p xmlns:a="http://schemas.openxmlformats.org/drawingml/2006/main">
            <a:pPr>
              <a:defRPr sz="2175" b="0">
                <a:solidFill>
                  <a:srgbClr val="93D5B7"/>
                </a:solidFill>
                <a:latin typeface="Arial"/>
                <a:ea typeface="Arial"/>
                <a:cs typeface="Arial"/>
              </a:defRPr>
            </a:pPr>
            <a:r>
              <a:rPr sz="2175" b="0">
                <a:solidFill>
                  <a:srgbClr val="93D5B7"/>
                </a:solidFill>
                <a:latin typeface="Arial"/>
                <a:ea typeface="Arial"/>
                <a:cs typeface="Arial"/>
              </a:rPr>
              <a:t>from an attributable case record.</a:t>
            </a:r>
          </a:p>
        </p:txBody>
      </p:sp>
      <p:sp>
        <p:nvSpPr>
          <p:cNvPr id="7" name="">
            <a:extLst xmlns:a="http://schemas.openxmlformats.org/drawingml/2006/main">
              <a:ext uri="{FF2B5EF4-FFF2-40B4-BE49-F238E27FC236}">
                <a16:creationId xmlns:a16="http://schemas.microsoft.com/office/drawing/2014/main" id="{AD5F3F0C-0642-4CC3-AC5E-855D8C4B5DEE}"/>
              </a:ext>
            </a:extLst>
          </p:cNvPr>
          <p:cNvSpPr>
            <a:spLocks xmlns:a="http://schemas.openxmlformats.org/drawingml/2006/main" noGrp="1"/>
          </p:cNvSpPr>
          <p:nvPr/>
        </p:nvSpPr>
        <p:spPr>
          <a:xfrm xmlns:a="http://schemas.openxmlformats.org/drawingml/2006/main">
            <a:off x="647700" y="5543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Live Drunix dashboard   /   Synthetic payment rails</a:t>
            </a:r>
          </a:p>
        </p:txBody>
      </p:sp>
    </p:spTree>
    <p:extLst>
      <p:ext uri="{BB962C8B-B14F-4D97-AF65-F5344CB8AC3E}">
        <p14:creationId xmlns:p14="http://schemas.microsoft.com/office/powerpoint/2010/main" val="806577993"/>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3748F3-9B1F-434B-88CD-893FDA0C8EC3}"/>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PROBLEM EVIDENCE</a:t>
            </a:r>
          </a:p>
        </p:txBody>
      </p:sp>
      <p:sp>
        <p:nvSpPr>
          <p:cNvPr id="2" name="">
            <a:extLst xmlns:a="http://schemas.openxmlformats.org/drawingml/2006/main">
              <a:ext uri="{FF2B5EF4-FFF2-40B4-BE49-F238E27FC236}">
                <a16:creationId xmlns:a16="http://schemas.microsoft.com/office/drawing/2014/main" id="{0EA7FA34-E58F-4D85-AA4C-0CAC27D01271}"/>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Manual exceptions remain a documented requirement</a:t>
            </a:r>
          </a:p>
        </p:txBody>
      </p:sp>
      <p:sp>
        <p:nvSpPr>
          <p:cNvPr id="3" name="">
            <a:extLst xmlns:a="http://schemas.openxmlformats.org/drawingml/2006/main">
              <a:ext uri="{FF2B5EF4-FFF2-40B4-BE49-F238E27FC236}">
                <a16:creationId xmlns:a16="http://schemas.microsoft.com/office/drawing/2014/main" id="{AF6F9735-4452-4035-B953-3F0F59690970}"/>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40C70884-715B-4DBD-8133-FD6A53DE32ED}"/>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1C2D3BA-9559-455C-8140-A918CF12279B}"/>
              </a:ext>
            </a:extLst>
          </p:cNvPr>
          <p:cNvSpPr>
            <a:spLocks xmlns:a="http://schemas.openxmlformats.org/drawingml/2006/main" noGrp="1"/>
          </p:cNvSpPr>
          <p:nvPr/>
        </p:nvSpPr>
        <p:spPr>
          <a:xfrm xmlns:a="http://schemas.openxmlformats.org/drawingml/2006/main">
            <a:off x="647700" y="2333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D33"/>
                </a:solidFill>
                <a:latin typeface="Arial"/>
                <a:ea typeface="Arial"/>
                <a:cs typeface="Arial"/>
              </a:defRPr>
            </a:pPr>
            <a:r>
              <a:rPr sz="2700" b="1">
                <a:solidFill>
                  <a:srgbClr val="173D33"/>
                </a:solidFill>
                <a:latin typeface="Arial"/>
                <a:ea typeface="Arial"/>
                <a:cs typeface="Arial"/>
              </a:rPr>
              <a:t>Nexus documentation describes manual handling of</a:t>
            </a:r>
          </a:p>
          <a:p xmlns:a="http://schemas.openxmlformats.org/drawingml/2006/main">
            <a:pPr>
              <a:defRPr sz="2700" b="1">
                <a:solidFill>
                  <a:srgbClr val="173D33"/>
                </a:solidFill>
                <a:latin typeface="Arial"/>
                <a:ea typeface="Arial"/>
                <a:cs typeface="Arial"/>
              </a:defRPr>
            </a:pPr>
            <a:r>
              <a:rPr sz="2700" b="1">
                <a:solidFill>
                  <a:srgbClr val="173D33"/>
                </a:solidFill>
                <a:latin typeface="Arial"/>
                <a:ea typeface="Arial"/>
                <a:cs typeface="Arial"/>
              </a:rPr>
              <a:t>investigations, recalls and disputes in its first release.</a:t>
            </a:r>
          </a:p>
        </p:txBody>
      </p:sp>
      <p:sp>
        <p:nvSpPr>
          <p:cNvPr id="6" name="">
            <a:extLst xmlns:a="http://schemas.openxmlformats.org/drawingml/2006/main">
              <a:ext uri="{FF2B5EF4-FFF2-40B4-BE49-F238E27FC236}">
                <a16:creationId xmlns:a16="http://schemas.microsoft.com/office/drawing/2014/main" id="{70B38518-E46B-4FA9-9BF2-FA2CA8C70601}"/>
              </a:ext>
            </a:extLst>
          </p:cNvPr>
          <p:cNvSpPr>
            <a:spLocks xmlns:a="http://schemas.openxmlformats.org/drawingml/2006/main" noGrp="1"/>
          </p:cNvSpPr>
          <p:nvPr/>
        </p:nvSpPr>
        <p:spPr>
          <a:xfrm xmlns:a="http://schemas.openxmlformats.org/drawingml/2006/main">
            <a:off x="647700" y="37719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27C63"/>
                </a:solidFill>
                <a:latin typeface="Arial"/>
                <a:ea typeface="Arial"/>
                <a:cs typeface="Arial"/>
              </a:defRPr>
            </a:pPr>
            <a:r>
              <a:rPr sz="1725" b="1">
                <a:solidFill>
                  <a:srgbClr val="327C63"/>
                </a:solidFill>
                <a:latin typeface="Arial"/>
                <a:ea typeface="Arial"/>
                <a:cs typeface="Arial"/>
              </a:rPr>
              <a:t>Our narrow question</a:t>
            </a:r>
          </a:p>
        </p:txBody>
      </p:sp>
      <p:sp>
        <p:nvSpPr>
          <p:cNvPr id="7" name="">
            <a:extLst xmlns:a="http://schemas.openxmlformats.org/drawingml/2006/main">
              <a:ext uri="{FF2B5EF4-FFF2-40B4-BE49-F238E27FC236}">
                <a16:creationId xmlns:a16="http://schemas.microsoft.com/office/drawing/2014/main" id="{876FA88E-AC21-4098-84B1-1031991A6A96}"/>
              </a:ext>
            </a:extLst>
          </p:cNvPr>
          <p:cNvSpPr>
            <a:spLocks xmlns:a="http://schemas.openxmlformats.org/drawingml/2006/main" noGrp="1"/>
          </p:cNvSpPr>
          <p:nvPr/>
        </p:nvSpPr>
        <p:spPr>
          <a:xfrm xmlns:a="http://schemas.openxmlformats.org/drawingml/2006/main">
            <a:off x="647700" y="42767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3"/>
                </a:solidFill>
                <a:latin typeface="Arial"/>
                <a:ea typeface="Arial"/>
                <a:cs typeface="Arial"/>
              </a:defRPr>
            </a:pPr>
            <a:r>
              <a:rPr sz="2325" b="0">
                <a:solidFill>
                  <a:srgbClr val="173D33"/>
                </a:solidFill>
                <a:latin typeface="Arial"/>
                <a:ea typeface="Arial"/>
                <a:cs typeface="Arial"/>
              </a:rPr>
              <a:t>Can two operations teams share the evidence and</a:t>
            </a:r>
          </a:p>
          <a:p xmlns:a="http://schemas.openxmlformats.org/drawingml/2006/main">
            <a:pPr>
              <a:defRPr sz="2325" b="0">
                <a:solidFill>
                  <a:srgbClr val="173D33"/>
                </a:solidFill>
                <a:latin typeface="Arial"/>
                <a:ea typeface="Arial"/>
                <a:cs typeface="Arial"/>
              </a:defRPr>
            </a:pPr>
            <a:r>
              <a:rPr sz="2325" b="0">
                <a:solidFill>
                  <a:srgbClr val="173D33"/>
                </a:solidFill>
                <a:latin typeface="Arial"/>
                <a:ea typeface="Arial"/>
                <a:cs typeface="Arial"/>
              </a:rPr>
              <a:t>approvals needed to resolve uncertain payouts safely?</a:t>
            </a:r>
          </a:p>
        </p:txBody>
      </p:sp>
      <p:sp>
        <p:nvSpPr>
          <p:cNvPr id="8" name="">
            <a:extLst xmlns:a="http://schemas.openxmlformats.org/drawingml/2006/main">
              <a:ext uri="{FF2B5EF4-FFF2-40B4-BE49-F238E27FC236}">
                <a16:creationId xmlns:a16="http://schemas.microsoft.com/office/drawing/2014/main" id="{17591239-FA14-4F22-BBC5-A7B120F4311C}"/>
              </a:ext>
            </a:extLst>
          </p:cNvPr>
          <p:cNvSpPr>
            <a:spLocks xmlns:a="http://schemas.openxmlformats.org/drawingml/2006/main" noGrp="1"/>
          </p:cNvSpPr>
          <p:nvPr/>
        </p:nvSpPr>
        <p:spPr>
          <a:xfrm xmlns:a="http://schemas.openxmlformats.org/drawingml/2006/main">
            <a:off x="647700" y="5657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Documentation supports the problem. Partner demand and savings remain unvalidated.</a:t>
            </a:r>
          </a:p>
        </p:txBody>
      </p:sp>
    </p:spTree>
    <p:extLst>
      <p:ext uri="{BB962C8B-B14F-4D97-AF65-F5344CB8AC3E}">
        <p14:creationId xmlns:p14="http://schemas.microsoft.com/office/powerpoint/2010/main" val="105740924"/>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222727-EF53-445C-BFB4-AAA1CB5B60FC}"/>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CORE SAFEGUARD</a:t>
            </a:r>
          </a:p>
        </p:txBody>
      </p:sp>
      <p:sp>
        <p:nvSpPr>
          <p:cNvPr id="2" name="">
            <a:extLst xmlns:a="http://schemas.openxmlformats.org/drawingml/2006/main">
              <a:ext uri="{FF2B5EF4-FFF2-40B4-BE49-F238E27FC236}">
                <a16:creationId xmlns:a16="http://schemas.microsoft.com/office/drawing/2014/main" id="{031F8542-635E-413D-A4F7-BFBF1D9450E3}"/>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Unknown payout outcomes need reconciliation</a:t>
            </a:r>
          </a:p>
        </p:txBody>
      </p:sp>
      <p:sp>
        <p:nvSpPr>
          <p:cNvPr id="3" name="">
            <a:extLst xmlns:a="http://schemas.openxmlformats.org/drawingml/2006/main">
              <a:ext uri="{FF2B5EF4-FFF2-40B4-BE49-F238E27FC236}">
                <a16:creationId xmlns:a16="http://schemas.microsoft.com/office/drawing/2014/main" id="{54CD79AA-BDBA-4E34-AEEC-DDD1AFD06138}"/>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49494E7F-0D3C-49B5-9829-C9CA6B06EDA1}"/>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50E19B9-87B4-47B8-B04E-5546ECFF2525}"/>
              </a:ext>
            </a:extLst>
          </p:cNvPr>
          <p:cNvSpPr>
            <a:spLocks xmlns:a="http://schemas.openxmlformats.org/drawingml/2006/main" noGrp="1"/>
          </p:cNvSpPr>
          <p:nvPr/>
        </p:nvSpPr>
        <p:spPr>
          <a:xfrm xmlns:a="http://schemas.openxmlformats.org/drawingml/2006/main">
            <a:off x="647700" y="2333625"/>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D33"/>
                </a:solidFill>
                <a:latin typeface="Arial"/>
                <a:ea typeface="Arial"/>
                <a:cs typeface="Arial"/>
              </a:defRPr>
            </a:pPr>
            <a:r>
              <a:rPr sz="2850" b="1">
                <a:solidFill>
                  <a:srgbClr val="173D33"/>
                </a:solidFill>
                <a:latin typeface="Arial"/>
                <a:ea typeface="Arial"/>
                <a:cs typeface="Arial"/>
              </a:rPr>
              <a:t>Missing response</a:t>
            </a:r>
          </a:p>
        </p:txBody>
      </p:sp>
      <p:sp>
        <p:nvSpPr>
          <p:cNvPr id="6" name="">
            <a:extLst xmlns:a="http://schemas.openxmlformats.org/drawingml/2006/main">
              <a:ext uri="{FF2B5EF4-FFF2-40B4-BE49-F238E27FC236}">
                <a16:creationId xmlns:a16="http://schemas.microsoft.com/office/drawing/2014/main" id="{BA39768F-DB5D-4A98-AE05-6AEBEAADD957}"/>
              </a:ext>
            </a:extLst>
          </p:cNvPr>
          <p:cNvSpPr>
            <a:spLocks xmlns:a="http://schemas.openxmlformats.org/drawingml/2006/main" noGrp="1"/>
          </p:cNvSpPr>
          <p:nvPr/>
        </p:nvSpPr>
        <p:spPr>
          <a:xfrm xmlns:a="http://schemas.openxmlformats.org/drawingml/2006/main">
            <a:off x="6191250" y="2333625"/>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327C63"/>
                </a:solidFill>
                <a:latin typeface="Arial"/>
                <a:ea typeface="Arial"/>
                <a:cs typeface="Arial"/>
              </a:defRPr>
            </a:pPr>
            <a:r>
              <a:rPr sz="2850" b="1">
                <a:solidFill>
                  <a:srgbClr val="327C63"/>
                </a:solidFill>
                <a:latin typeface="Arial"/>
                <a:ea typeface="Arial"/>
                <a:cs typeface="Arial"/>
              </a:rPr>
              <a:t>Status stays unknown</a:t>
            </a:r>
          </a:p>
        </p:txBody>
      </p:sp>
      <p:sp>
        <p:nvSpPr>
          <p:cNvPr id="7" name="">
            <a:extLst xmlns:a="http://schemas.openxmlformats.org/drawingml/2006/main">
              <a:ext uri="{FF2B5EF4-FFF2-40B4-BE49-F238E27FC236}">
                <a16:creationId xmlns:a16="http://schemas.microsoft.com/office/drawing/2014/main" id="{9C912110-9DA8-41E0-9E5B-E5866376EC6A}"/>
              </a:ext>
            </a:extLst>
          </p:cNvPr>
          <p:cNvSpPr>
            <a:spLocks xmlns:a="http://schemas.openxmlformats.org/drawingml/2006/main" noGrp="1"/>
          </p:cNvSpPr>
          <p:nvPr/>
        </p:nvSpPr>
        <p:spPr>
          <a:xfrm xmlns:a="http://schemas.openxmlformats.org/drawingml/2006/main">
            <a:off x="647700" y="30670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A timeout records an exception.</a:t>
            </a:r>
          </a:p>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It cannot approve a refund.</a:t>
            </a:r>
          </a:p>
        </p:txBody>
      </p:sp>
      <p:sp>
        <p:nvSpPr>
          <p:cNvPr id="8" name="">
            <a:extLst xmlns:a="http://schemas.openxmlformats.org/drawingml/2006/main">
              <a:ext uri="{FF2B5EF4-FFF2-40B4-BE49-F238E27FC236}">
                <a16:creationId xmlns:a16="http://schemas.microsoft.com/office/drawing/2014/main" id="{B7BC9065-A7E5-4F1E-B924-7647EC6EF418}"/>
              </a:ext>
            </a:extLst>
          </p:cNvPr>
          <p:cNvSpPr>
            <a:spLocks xmlns:a="http://schemas.openxmlformats.org/drawingml/2006/main" noGrp="1"/>
          </p:cNvSpPr>
          <p:nvPr/>
        </p:nvSpPr>
        <p:spPr>
          <a:xfrm xmlns:a="http://schemas.openxmlformats.org/drawingml/2006/main">
            <a:off x="6191250" y="30670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Receiver evidence determines</a:t>
            </a:r>
          </a:p>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the next resolution step.</a:t>
            </a:r>
          </a:p>
        </p:txBody>
      </p:sp>
      <p:sp>
        <p:nvSpPr>
          <p:cNvPr id="9" name="">
            <a:extLst xmlns:a="http://schemas.openxmlformats.org/drawingml/2006/main">
              <a:ext uri="{FF2B5EF4-FFF2-40B4-BE49-F238E27FC236}">
                <a16:creationId xmlns:a16="http://schemas.microsoft.com/office/drawing/2014/main" id="{71388A43-6466-4115-A26C-43713B5E2EAE}"/>
              </a:ext>
            </a:extLst>
          </p:cNvPr>
          <p:cNvSpPr>
            <a:spLocks xmlns:a="http://schemas.openxmlformats.org/drawingml/2006/main" noGrp="1"/>
          </p:cNvSpPr>
          <p:nvPr/>
        </p:nvSpPr>
        <p:spPr>
          <a:xfrm xmlns:a="http://schemas.openxmlformats.org/drawingml/2006/main">
            <a:off x="647700" y="45339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27C63"/>
                </a:solidFill>
                <a:latin typeface="Arial"/>
                <a:ea typeface="Arial"/>
                <a:cs typeface="Arial"/>
              </a:defRPr>
            </a:pPr>
            <a:r>
              <a:rPr sz="2100" b="1">
                <a:solidFill>
                  <a:srgbClr val="327C63"/>
                </a:solidFill>
                <a:latin typeface="Arial"/>
                <a:ea typeface="Arial"/>
                <a:cs typeface="Arial"/>
              </a:rPr>
              <a:t>Late credit</a:t>
            </a:r>
          </a:p>
        </p:txBody>
      </p:sp>
      <p:sp>
        <p:nvSpPr>
          <p:cNvPr id="10" name="">
            <a:extLst xmlns:a="http://schemas.openxmlformats.org/drawingml/2006/main">
              <a:ext uri="{FF2B5EF4-FFF2-40B4-BE49-F238E27FC236}">
                <a16:creationId xmlns:a16="http://schemas.microsoft.com/office/drawing/2014/main" id="{837BFF1A-DF86-4B25-990D-F9378854AA98}"/>
              </a:ext>
            </a:extLst>
          </p:cNvPr>
          <p:cNvSpPr>
            <a:spLocks xmlns:a="http://schemas.openxmlformats.org/drawingml/2006/main" noGrp="1"/>
          </p:cNvSpPr>
          <p:nvPr/>
        </p:nvSpPr>
        <p:spPr>
          <a:xfrm xmlns:a="http://schemas.openxmlformats.org/drawingml/2006/main">
            <a:off x="647700" y="50196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Both parties acknowledge closure. No refund occurs.</a:t>
            </a:r>
          </a:p>
        </p:txBody>
      </p:sp>
    </p:spTree>
    <p:extLst>
      <p:ext uri="{BB962C8B-B14F-4D97-AF65-F5344CB8AC3E}">
        <p14:creationId xmlns:p14="http://schemas.microsoft.com/office/powerpoint/2010/main" val="304783176"/>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6EEDDA-E07A-4F45-9C0D-D9A4C6C9327F}"/>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PROTOTYPE DEMONSTRATION</a:t>
            </a:r>
          </a:p>
        </p:txBody>
      </p:sp>
      <p:sp>
        <p:nvSpPr>
          <p:cNvPr id="2" name="">
            <a:extLst xmlns:a="http://schemas.openxmlformats.org/drawingml/2006/main">
              <a:ext uri="{FF2B5EF4-FFF2-40B4-BE49-F238E27FC236}">
                <a16:creationId xmlns:a16="http://schemas.microsoft.com/office/drawing/2014/main" id="{BB364052-3D03-4022-AF56-691BEF4C3381}"/>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Live exception workspace</a:t>
            </a:r>
          </a:p>
        </p:txBody>
      </p:sp>
      <p:sp>
        <p:nvSpPr>
          <p:cNvPr id="3" name="">
            <a:extLst xmlns:a="http://schemas.openxmlformats.org/drawingml/2006/main">
              <a:ext uri="{FF2B5EF4-FFF2-40B4-BE49-F238E27FC236}">
                <a16:creationId xmlns:a16="http://schemas.microsoft.com/office/drawing/2014/main" id="{B240A3D1-E382-424E-BFF8-FF5EC4BF7B9E}"/>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FE39B10A-71D6-463A-8ECC-9384164DDFCF}"/>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a9e63754d574318"/>
          <a:stretch xmlns:a="http://schemas.openxmlformats.org/drawingml/2006/main"/>
        </p:blipFill>
        <p:spPr>
          <a:xfrm xmlns:a="http://schemas.openxmlformats.org/drawingml/2006/main">
            <a:off x="1268306" y="2085975"/>
            <a:ext cx="6245438"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420A36-6DE9-44CE-9156-D94F4DDEF0E1}"/>
              </a:ext>
            </a:extLst>
          </p:cNvPr>
          <p:cNvSpPr>
            <a:spLocks xmlns:a="http://schemas.openxmlformats.org/drawingml/2006/main" noGrp="1"/>
          </p:cNvSpPr>
          <p:nvPr/>
        </p:nvSpPr>
        <p:spPr>
          <a:xfrm xmlns:a="http://schemas.openxmlformats.org/drawingml/2006/main">
            <a:off x="8705850" y="22193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27C63"/>
                </a:solidFill>
                <a:latin typeface="Arial"/>
                <a:ea typeface="Arial"/>
                <a:cs typeface="Arial"/>
              </a:defRPr>
            </a:pPr>
            <a:r>
              <a:rPr sz="2025" b="1">
                <a:solidFill>
                  <a:srgbClr val="327C63"/>
                </a:solidFill>
                <a:latin typeface="Arial"/>
                <a:ea typeface="Arial"/>
                <a:cs typeface="Arial"/>
              </a:rPr>
              <a:t>Visible safeguards</a:t>
            </a:r>
          </a:p>
        </p:txBody>
      </p:sp>
      <p:sp>
        <p:nvSpPr>
          <p:cNvPr id="7" name="">
            <a:extLst xmlns:a="http://schemas.openxmlformats.org/drawingml/2006/main">
              <a:ext uri="{FF2B5EF4-FFF2-40B4-BE49-F238E27FC236}">
                <a16:creationId xmlns:a16="http://schemas.microsoft.com/office/drawing/2014/main" id="{01B4CE2D-B162-4A39-BBB4-5B1B08D50CFF}"/>
              </a:ext>
            </a:extLst>
          </p:cNvPr>
          <p:cNvSpPr>
            <a:spLocks xmlns:a="http://schemas.openxmlformats.org/drawingml/2006/main" noGrp="1"/>
          </p:cNvSpPr>
          <p:nvPr/>
        </p:nvSpPr>
        <p:spPr>
          <a:xfrm xmlns:a="http://schemas.openxmlformats.org/drawingml/2006/main">
            <a:off x="8705850" y="2876550"/>
            <a:ext cx="2952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Refund denied while</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outcome is unknown</a:t>
            </a:r>
          </a:p>
          <a:p xmlns:a="http://schemas.openxmlformats.org/drawingml/2006/main">
            <a:r>
              <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Two organizations</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approve corrections</a:t>
            </a:r>
          </a:p>
          <a:p xmlns:a="http://schemas.openxmlformats.org/drawingml/2006/main">
            <a:r>
              <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VALID commit receipts</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for accepted and</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denied decisions</a:t>
            </a:r>
          </a:p>
        </p:txBody>
      </p:sp>
    </p:spTree>
    <p:extLst>
      <p:ext uri="{BB962C8B-B14F-4D97-AF65-F5344CB8AC3E}">
        <p14:creationId xmlns:p14="http://schemas.microsoft.com/office/powerpoint/2010/main" val="61853743"/>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FBB5F9-19D1-4250-95AA-FACAECA672C3}"/>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VERIFIED IMPLEMENTATION</a:t>
            </a:r>
          </a:p>
        </p:txBody>
      </p:sp>
      <p:sp>
        <p:nvSpPr>
          <p:cNvPr id="2" name="">
            <a:extLst xmlns:a="http://schemas.openxmlformats.org/drawingml/2006/main">
              <a:ext uri="{FF2B5EF4-FFF2-40B4-BE49-F238E27FC236}">
                <a16:creationId xmlns:a16="http://schemas.microsoft.com/office/drawing/2014/main" id="{C09CEDD5-F163-4541-8919-E97FC76CC383}"/>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Evidence and recovery controls</a:t>
            </a:r>
          </a:p>
        </p:txBody>
      </p:sp>
      <p:sp>
        <p:nvSpPr>
          <p:cNvPr id="3" name="">
            <a:extLst xmlns:a="http://schemas.openxmlformats.org/drawingml/2006/main">
              <a:ext uri="{FF2B5EF4-FFF2-40B4-BE49-F238E27FC236}">
                <a16:creationId xmlns:a16="http://schemas.microsoft.com/office/drawing/2014/main" id="{F14DD9DB-69D6-45AF-B486-B8E78F279829}"/>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31114FBA-F54B-4E63-8EF6-EF23F6AE8E6E}"/>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BFFB144-1235-4857-A68B-823E3C6E70EB}"/>
              </a:ext>
            </a:extLst>
          </p:cNvPr>
          <p:cNvSpPr>
            <a:spLocks xmlns:a="http://schemas.openxmlformats.org/drawingml/2006/main" noGrp="1"/>
          </p:cNvSpPr>
          <p:nvPr/>
        </p:nvSpPr>
        <p:spPr>
          <a:xfrm xmlns:a="http://schemas.openxmlformats.org/drawingml/2006/main">
            <a:off x="647700" y="22860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Live ledger comparison</a:t>
            </a:r>
          </a:p>
        </p:txBody>
      </p:sp>
      <p:sp>
        <p:nvSpPr>
          <p:cNvPr id="6" name="">
            <a:extLst xmlns:a="http://schemas.openxmlformats.org/drawingml/2006/main">
              <a:ext uri="{FF2B5EF4-FFF2-40B4-BE49-F238E27FC236}">
                <a16:creationId xmlns:a16="http://schemas.microsoft.com/office/drawing/2014/main" id="{C9B664D8-0550-4D74-90FC-0AE73BEB7918}"/>
              </a:ext>
            </a:extLst>
          </p:cNvPr>
          <p:cNvSpPr>
            <a:spLocks xmlns:a="http://schemas.openxmlformats.org/drawingml/2006/main" noGrp="1"/>
          </p:cNvSpPr>
          <p:nvPr/>
        </p:nvSpPr>
        <p:spPr>
          <a:xfrm xmlns:a="http://schemas.openxmlformats.org/drawingml/2006/main">
            <a:off x="647700" y="28670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Detect altered or missing exported records by comparing</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with the current certificate-authenticated workspace.</a:t>
            </a:r>
          </a:p>
        </p:txBody>
      </p:sp>
      <p:sp>
        <p:nvSpPr>
          <p:cNvPr id="7" name="">
            <a:extLst xmlns:a="http://schemas.openxmlformats.org/drawingml/2006/main">
              <a:ext uri="{FF2B5EF4-FFF2-40B4-BE49-F238E27FC236}">
                <a16:creationId xmlns:a16="http://schemas.microsoft.com/office/drawing/2014/main" id="{D62E57CD-9846-4B29-88C1-54AD6289D61E}"/>
              </a:ext>
            </a:extLst>
          </p:cNvPr>
          <p:cNvSpPr>
            <a:spLocks xmlns:a="http://schemas.openxmlformats.org/drawingml/2006/main" noGrp="1"/>
          </p:cNvSpPr>
          <p:nvPr/>
        </p:nvSpPr>
        <p:spPr>
          <a:xfrm xmlns:a="http://schemas.openxmlformats.org/drawingml/2006/main">
            <a:off x="647700" y="4010025"/>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Safe request recovery</a:t>
            </a:r>
          </a:p>
        </p:txBody>
      </p:sp>
      <p:sp>
        <p:nvSpPr>
          <p:cNvPr id="8" name="">
            <a:extLst xmlns:a="http://schemas.openxmlformats.org/drawingml/2006/main">
              <a:ext uri="{FF2B5EF4-FFF2-40B4-BE49-F238E27FC236}">
                <a16:creationId xmlns:a16="http://schemas.microsoft.com/office/drawing/2014/main" id="{FBD5DEE7-3BE4-446E-B8A1-A4695D76BBB0}"/>
              </a:ext>
            </a:extLst>
          </p:cNvPr>
          <p:cNvSpPr>
            <a:spLocks xmlns:a="http://schemas.openxmlformats.org/drawingml/2006/main" noGrp="1"/>
          </p:cNvSpPr>
          <p:nvPr/>
        </p:nvSpPr>
        <p:spPr>
          <a:xfrm xmlns:a="http://schemas.openxmlformats.org/drawingml/2006/main">
            <a:off x="647700" y="45624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Save the exact request before submission. An uncertain</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commit blocks replacement actions until reconciliation.</a:t>
            </a:r>
          </a:p>
        </p:txBody>
      </p:sp>
      <p:sp>
        <p:nvSpPr>
          <p:cNvPr id="9" name="">
            <a:extLst xmlns:a="http://schemas.openxmlformats.org/drawingml/2006/main">
              <a:ext uri="{FF2B5EF4-FFF2-40B4-BE49-F238E27FC236}">
                <a16:creationId xmlns:a16="http://schemas.microsoft.com/office/drawing/2014/main" id="{8AD552B0-19AD-4013-A0B4-CCA372DFA02B}"/>
              </a:ext>
            </a:extLst>
          </p:cNvPr>
          <p:cNvSpPr>
            <a:spLocks xmlns:a="http://schemas.openxmlformats.org/drawingml/2006/main" noGrp="1"/>
          </p:cNvSpPr>
          <p:nvPr/>
        </p:nvSpPr>
        <p:spPr>
          <a:xfrm xmlns:a="http://schemas.openxmlformats.org/drawingml/2006/main">
            <a:off x="647700" y="56673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Verified: real concurrent-update conflict, rejected untrusted MSP and restart persistence.</a:t>
            </a:r>
          </a:p>
        </p:txBody>
      </p:sp>
    </p:spTree>
    <p:extLst>
      <p:ext uri="{BB962C8B-B14F-4D97-AF65-F5344CB8AC3E}">
        <p14:creationId xmlns:p14="http://schemas.microsoft.com/office/powerpoint/2010/main" val="1480151698"/>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C24A8C-DF21-4EB3-B48D-F76BCA3C3A37}"/>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TECHNICAL IMPLEMENTATION</a:t>
            </a:r>
          </a:p>
        </p:txBody>
      </p:sp>
      <p:sp>
        <p:nvSpPr>
          <p:cNvPr id="2" name="">
            <a:extLst xmlns:a="http://schemas.openxmlformats.org/drawingml/2006/main">
              <a:ext uri="{FF2B5EF4-FFF2-40B4-BE49-F238E27FC236}">
                <a16:creationId xmlns:a16="http://schemas.microsoft.com/office/drawing/2014/main" id="{40488D7A-FE87-4A32-B38F-33939D8061F5}"/>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Live dashboard architecture</a:t>
            </a:r>
          </a:p>
        </p:txBody>
      </p:sp>
      <p:sp>
        <p:nvSpPr>
          <p:cNvPr id="3" name="">
            <a:extLst xmlns:a="http://schemas.openxmlformats.org/drawingml/2006/main">
              <a:ext uri="{FF2B5EF4-FFF2-40B4-BE49-F238E27FC236}">
                <a16:creationId xmlns:a16="http://schemas.microsoft.com/office/drawing/2014/main" id="{E3059724-8C42-4788-9FE4-542722BF4F62}"/>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B38B6B61-D3B2-4E41-9FB8-D2A0AB3E93EB}"/>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5D2D58B-5FFF-4A13-A6FC-B6C5F5DC1316}"/>
              </a:ext>
            </a:extLst>
          </p:cNvPr>
          <p:cNvSpPr>
            <a:spLocks xmlns:a="http://schemas.openxmlformats.org/drawingml/2006/main" noGrp="1"/>
          </p:cNvSpPr>
          <p:nvPr/>
        </p:nvSpPr>
        <p:spPr>
          <a:xfrm xmlns:a="http://schemas.openxmlformats.org/drawingml/2006/main">
            <a:off x="647700" y="21336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27C63"/>
                </a:solidFill>
                <a:latin typeface="Arial"/>
                <a:ea typeface="Arial"/>
                <a:cs typeface="Arial"/>
              </a:defRPr>
            </a:pPr>
            <a:r>
              <a:rPr sz="1275" b="1">
                <a:solidFill>
                  <a:srgbClr val="327C63"/>
                </a:solidFill>
                <a:latin typeface="Arial"/>
                <a:ea typeface="Arial"/>
                <a:cs typeface="Arial"/>
              </a:rPr>
              <a:t>APPLICATION REQUEST PATH</a:t>
            </a:r>
          </a:p>
        </p:txBody>
      </p:sp>
      <p:sp>
        <p:nvSpPr>
          <p:cNvPr id="6" name="">
            <a:extLst xmlns:a="http://schemas.openxmlformats.org/drawingml/2006/main">
              <a:ext uri="{FF2B5EF4-FFF2-40B4-BE49-F238E27FC236}">
                <a16:creationId xmlns:a16="http://schemas.microsoft.com/office/drawing/2014/main" id="{935309DE-9796-4F1C-BF0F-97315EBAD3BC}"/>
              </a:ext>
            </a:extLst>
          </p:cNvPr>
          <p:cNvSpPr>
            <a:spLocks xmlns:a="http://schemas.openxmlformats.org/drawingml/2006/main" noGrp="1"/>
          </p:cNvSpPr>
          <p:nvPr/>
        </p:nvSpPr>
        <p:spPr>
          <a:xfrm xmlns:a="http://schemas.openxmlformats.org/drawingml/2006/main">
            <a:off x="647700" y="2724150"/>
            <a:ext cx="22669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Browser</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dashboard</a:t>
            </a:r>
          </a:p>
        </p:txBody>
      </p:sp>
      <p:sp>
        <p:nvSpPr>
          <p:cNvPr id="7" name="">
            <a:extLst xmlns:a="http://schemas.openxmlformats.org/drawingml/2006/main">
              <a:ext uri="{FF2B5EF4-FFF2-40B4-BE49-F238E27FC236}">
                <a16:creationId xmlns:a16="http://schemas.microsoft.com/office/drawing/2014/main" id="{577722EA-7E9D-460F-98A6-5B1413DF1196}"/>
              </a:ext>
            </a:extLst>
          </p:cNvPr>
          <p:cNvSpPr>
            <a:spLocks xmlns:a="http://schemas.openxmlformats.org/drawingml/2006/main" noGrp="1"/>
          </p:cNvSpPr>
          <p:nvPr/>
        </p:nvSpPr>
        <p:spPr>
          <a:xfrm xmlns:a="http://schemas.openxmlformats.org/drawingml/2006/main">
            <a:off x="4067175" y="2724150"/>
            <a:ext cx="3105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Node HTTP API</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Saved requests</a:t>
            </a:r>
          </a:p>
        </p:txBody>
      </p:sp>
      <p:sp>
        <p:nvSpPr>
          <p:cNvPr id="8" name="">
            <a:extLst xmlns:a="http://schemas.openxmlformats.org/drawingml/2006/main">
              <a:ext uri="{FF2B5EF4-FFF2-40B4-BE49-F238E27FC236}">
                <a16:creationId xmlns:a16="http://schemas.microsoft.com/office/drawing/2014/main" id="{33C99AED-6686-47C9-A58A-11DF0B30D3A5}"/>
              </a:ext>
            </a:extLst>
          </p:cNvPr>
          <p:cNvSpPr>
            <a:spLocks xmlns:a="http://schemas.openxmlformats.org/drawingml/2006/main" noGrp="1"/>
          </p:cNvSpPr>
          <p:nvPr/>
        </p:nvSpPr>
        <p:spPr>
          <a:xfrm xmlns:a="http://schemas.openxmlformats.org/drawingml/2006/main">
            <a:off x="8324850" y="2724150"/>
            <a:ext cx="32194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Go gateway</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TLS + commit check</a:t>
            </a:r>
          </a:p>
        </p:txBody>
      </p:sp>
      <p:sp>
        <p:nvSpPr>
          <p:cNvPr id="9" name="">
            <a:extLst xmlns:a="http://schemas.openxmlformats.org/drawingml/2006/main">
              <a:ext uri="{FF2B5EF4-FFF2-40B4-BE49-F238E27FC236}">
                <a16:creationId xmlns:a16="http://schemas.microsoft.com/office/drawing/2014/main" id="{AEF593A6-483B-4AA7-BC9A-E6C0EFFD9610}"/>
              </a:ext>
            </a:extLst>
          </p:cNvPr>
          <p:cNvSpPr>
            <a:spLocks xmlns:a="http://schemas.openxmlformats.org/drawingml/2006/main" noGrp="1"/>
          </p:cNvSpPr>
          <p:nvPr/>
        </p:nvSpPr>
        <p:spPr>
          <a:xfrm xmlns:a="http://schemas.openxmlformats.org/drawingml/2006/main">
            <a:off x="3095625" y="31146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calls</a:t>
            </a:r>
          </a:p>
        </p:txBody>
      </p:sp>
      <p:sp>
        <p:nvSpPr>
          <p:cNvPr id="10" name="">
            <a:extLst xmlns:a="http://schemas.openxmlformats.org/drawingml/2006/main">
              <a:ext uri="{FF2B5EF4-FFF2-40B4-BE49-F238E27FC236}">
                <a16:creationId xmlns:a16="http://schemas.microsoft.com/office/drawing/2014/main" id="{7DC15637-D9BA-4AE9-B45E-134E5342214A}"/>
              </a:ext>
            </a:extLst>
          </p:cNvPr>
          <p:cNvSpPr>
            <a:spLocks xmlns:a="http://schemas.openxmlformats.org/drawingml/2006/main" noGrp="1"/>
          </p:cNvSpPr>
          <p:nvPr/>
        </p:nvSpPr>
        <p:spPr>
          <a:xfrm xmlns:a="http://schemas.openxmlformats.org/drawingml/2006/main">
            <a:off x="7372350" y="31146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submits</a:t>
            </a:r>
          </a:p>
        </p:txBody>
      </p:sp>
      <p:sp>
        <p:nvSpPr>
          <p:cNvPr id="11" name="">
            <a:extLst xmlns:a="http://schemas.openxmlformats.org/drawingml/2006/main">
              <a:ext uri="{FF2B5EF4-FFF2-40B4-BE49-F238E27FC236}">
                <a16:creationId xmlns:a16="http://schemas.microsoft.com/office/drawing/2014/main" id="{582D2A66-3945-4F8A-B310-3912A0A3722D}"/>
              </a:ext>
            </a:extLst>
          </p:cNvPr>
          <p:cNvSpPr>
            <a:spLocks xmlns:a="http://schemas.openxmlformats.org/drawingml/2006/main" noGrp="1"/>
          </p:cNvSpPr>
          <p:nvPr/>
        </p:nvSpPr>
        <p:spPr>
          <a:xfrm xmlns:a="http://schemas.openxmlformats.org/drawingml/2006/main">
            <a:off x="647700" y="4333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27C63"/>
                </a:solidFill>
                <a:latin typeface="Arial"/>
                <a:ea typeface="Arial"/>
                <a:cs typeface="Arial"/>
              </a:defRPr>
            </a:pPr>
            <a:r>
              <a:rPr sz="1275" b="1">
                <a:solidFill>
                  <a:srgbClr val="327C63"/>
                </a:solidFill>
                <a:latin typeface="Arial"/>
                <a:ea typeface="Arial"/>
                <a:cs typeface="Arial"/>
              </a:rPr>
              <a:t>POLICY AND LEDGER</a:t>
            </a:r>
          </a:p>
        </p:txBody>
      </p:sp>
      <p:sp>
        <p:nvSpPr>
          <p:cNvPr id="12" name="">
            <a:extLst xmlns:a="http://schemas.openxmlformats.org/drawingml/2006/main">
              <a:ext uri="{FF2B5EF4-FFF2-40B4-BE49-F238E27FC236}">
                <a16:creationId xmlns:a16="http://schemas.microsoft.com/office/drawing/2014/main" id="{29D7A595-8E41-4611-974F-14D2FD5C35B3}"/>
              </a:ext>
            </a:extLst>
          </p:cNvPr>
          <p:cNvSpPr>
            <a:spLocks xmlns:a="http://schemas.openxmlformats.org/drawingml/2006/main" noGrp="1"/>
          </p:cNvSpPr>
          <p:nvPr/>
        </p:nvSpPr>
        <p:spPr>
          <a:xfrm xmlns:a="http://schemas.openxmlformats.org/drawingml/2006/main">
            <a:off x="647700" y="4848225"/>
            <a:ext cx="3105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Go chaincode</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MSP + policy</a:t>
            </a:r>
          </a:p>
        </p:txBody>
      </p:sp>
      <p:sp>
        <p:nvSpPr>
          <p:cNvPr id="13" name="">
            <a:extLst xmlns:a="http://schemas.openxmlformats.org/drawingml/2006/main">
              <a:ext uri="{FF2B5EF4-FFF2-40B4-BE49-F238E27FC236}">
                <a16:creationId xmlns:a16="http://schemas.microsoft.com/office/drawing/2014/main" id="{3F539651-81D8-4E2A-8128-4E8A51F97D5E}"/>
              </a:ext>
            </a:extLst>
          </p:cNvPr>
          <p:cNvSpPr>
            <a:spLocks xmlns:a="http://schemas.openxmlformats.org/drawingml/2006/main" noGrp="1"/>
          </p:cNvSpPr>
          <p:nvPr/>
        </p:nvSpPr>
        <p:spPr>
          <a:xfrm xmlns:a="http://schemas.openxmlformats.org/drawingml/2006/main">
            <a:off x="4810125" y="4848225"/>
            <a:ext cx="29527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Drunix network</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Org1 AND Org2</a:t>
            </a:r>
          </a:p>
        </p:txBody>
      </p:sp>
      <p:sp>
        <p:nvSpPr>
          <p:cNvPr id="14" name="">
            <a:extLst xmlns:a="http://schemas.openxmlformats.org/drawingml/2006/main">
              <a:ext uri="{FF2B5EF4-FFF2-40B4-BE49-F238E27FC236}">
                <a16:creationId xmlns:a16="http://schemas.microsoft.com/office/drawing/2014/main" id="{FF0FDCFA-4E4E-49F9-AF37-C4BB973A2596}"/>
              </a:ext>
            </a:extLst>
          </p:cNvPr>
          <p:cNvSpPr>
            <a:spLocks xmlns:a="http://schemas.openxmlformats.org/drawingml/2006/main" noGrp="1"/>
          </p:cNvSpPr>
          <p:nvPr/>
        </p:nvSpPr>
        <p:spPr>
          <a:xfrm xmlns:a="http://schemas.openxmlformats.org/drawingml/2006/main">
            <a:off x="8820150" y="4848225"/>
            <a:ext cx="2724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YugabyteDB</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State stores</a:t>
            </a:r>
          </a:p>
        </p:txBody>
      </p:sp>
      <p:sp>
        <p:nvSpPr>
          <p:cNvPr id="15" name="">
            <a:extLst xmlns:a="http://schemas.openxmlformats.org/drawingml/2006/main">
              <a:ext uri="{FF2B5EF4-FFF2-40B4-BE49-F238E27FC236}">
                <a16:creationId xmlns:a16="http://schemas.microsoft.com/office/drawing/2014/main" id="{DAC850FE-207E-4E4F-B01F-13D3DFB73A4D}"/>
              </a:ext>
            </a:extLst>
          </p:cNvPr>
          <p:cNvSpPr>
            <a:spLocks xmlns:a="http://schemas.openxmlformats.org/drawingml/2006/main" noGrp="1"/>
          </p:cNvSpPr>
          <p:nvPr/>
        </p:nvSpPr>
        <p:spPr>
          <a:xfrm xmlns:a="http://schemas.openxmlformats.org/drawingml/2006/main">
            <a:off x="3790950" y="5200650"/>
            <a:ext cx="1019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E8377"/>
                </a:solidFill>
                <a:latin typeface="Arial"/>
                <a:ea typeface="Arial"/>
                <a:cs typeface="Arial"/>
              </a:defRPr>
            </a:pPr>
            <a:r>
              <a:rPr sz="1350" b="0">
                <a:solidFill>
                  <a:srgbClr val="6E8377"/>
                </a:solidFill>
                <a:latin typeface="Arial"/>
                <a:ea typeface="Arial"/>
                <a:cs typeface="Arial"/>
              </a:rPr>
              <a:t>endorsed by</a:t>
            </a:r>
          </a:p>
        </p:txBody>
      </p:sp>
      <p:sp>
        <p:nvSpPr>
          <p:cNvPr id="16" name="">
            <a:extLst xmlns:a="http://schemas.openxmlformats.org/drawingml/2006/main">
              <a:ext uri="{FF2B5EF4-FFF2-40B4-BE49-F238E27FC236}">
                <a16:creationId xmlns:a16="http://schemas.microsoft.com/office/drawing/2014/main" id="{13380F8F-2CA3-4227-B751-189226581078}"/>
              </a:ext>
            </a:extLst>
          </p:cNvPr>
          <p:cNvSpPr>
            <a:spLocks xmlns:a="http://schemas.openxmlformats.org/drawingml/2006/main" noGrp="1"/>
          </p:cNvSpPr>
          <p:nvPr/>
        </p:nvSpPr>
        <p:spPr>
          <a:xfrm xmlns:a="http://schemas.openxmlformats.org/drawingml/2006/main">
            <a:off x="7905750" y="5200650"/>
            <a:ext cx="914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persists</a:t>
            </a:r>
          </a:p>
        </p:txBody>
      </p:sp>
      <p:sp>
        <p:nvSpPr>
          <p:cNvPr id="17" name="">
            <a:extLst xmlns:a="http://schemas.openxmlformats.org/drawingml/2006/main">
              <a:ext uri="{FF2B5EF4-FFF2-40B4-BE49-F238E27FC236}">
                <a16:creationId xmlns:a16="http://schemas.microsoft.com/office/drawing/2014/main" id="{D4C6DA8B-4B90-4475-9352-B4BCBF121C77}"/>
              </a:ext>
            </a:extLst>
          </p:cNvPr>
          <p:cNvSpPr>
            <a:spLocks xmlns:a="http://schemas.openxmlformats.org/drawingml/2006/main" noGrp="1"/>
          </p:cNvSpPr>
          <p:nvPr/>
        </p:nvSpPr>
        <p:spPr>
          <a:xfrm xmlns:a="http://schemas.openxmlformats.org/drawingml/2006/main">
            <a:off x="647700" y="6019800"/>
            <a:ext cx="1081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E8377"/>
                </a:solidFill>
                <a:latin typeface="Arial"/>
                <a:ea typeface="Arial"/>
                <a:cs typeface="Arial"/>
              </a:defRPr>
            </a:pPr>
            <a:r>
              <a:rPr sz="1275" b="0">
                <a:solidFill>
                  <a:srgbClr val="6E8377"/>
                </a:solidFill>
                <a:latin typeface="Arial"/>
                <a:ea typeface="Arial"/>
                <a:cs typeface="Arial"/>
              </a:rPr>
              <a:t>Local test network includes documented SQL bookmark fixes. Payments are simulated.</a:t>
            </a:r>
          </a:p>
        </p:txBody>
      </p:sp>
    </p:spTree>
    <p:extLst>
      <p:ext uri="{BB962C8B-B14F-4D97-AF65-F5344CB8AC3E}">
        <p14:creationId xmlns:p14="http://schemas.microsoft.com/office/powerpoint/2010/main" val="2034677572"/>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79FEB1-CD47-4F3E-BECF-3F8BEA388991}"/>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MARKET POSITION</a:t>
            </a:r>
          </a:p>
        </p:txBody>
      </p:sp>
      <p:sp>
        <p:nvSpPr>
          <p:cNvPr id="2" name="">
            <a:extLst xmlns:a="http://schemas.openxmlformats.org/drawingml/2006/main">
              <a:ext uri="{FF2B5EF4-FFF2-40B4-BE49-F238E27FC236}">
                <a16:creationId xmlns:a16="http://schemas.microsoft.com/office/drawing/2014/main" id="{0ACE11F6-371D-45CF-86E3-B4C0346B4F2C}"/>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Existing products and the governance hypothesis</a:t>
            </a:r>
          </a:p>
        </p:txBody>
      </p:sp>
      <p:sp>
        <p:nvSpPr>
          <p:cNvPr id="3" name="">
            <a:extLst xmlns:a="http://schemas.openxmlformats.org/drawingml/2006/main">
              <a:ext uri="{FF2B5EF4-FFF2-40B4-BE49-F238E27FC236}">
                <a16:creationId xmlns:a16="http://schemas.microsoft.com/office/drawing/2014/main" id="{BAD2E686-A35A-4AA7-A13F-0BCB5F02A9BA}"/>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296000C4-0AAA-4810-BCA7-F8A395F699C2}"/>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D6A9A750-C6EF-4260-8A1A-13754BB5AA5A}"/>
              </a:ext>
            </a:extLst>
          </p:cNvPr>
          <p:cNvSpPr>
            <a:spLocks xmlns:a="http://schemas.openxmlformats.org/drawingml/2006/main" noGrp="1"/>
          </p:cNvSpPr>
          <p:nvPr/>
        </p:nvSpPr>
        <p:spPr>
          <a:xfrm xmlns:a="http://schemas.openxmlformats.org/drawingml/2006/main">
            <a:off x="647700" y="2276475"/>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Swift / Nexus service desk</a:t>
            </a:r>
          </a:p>
        </p:txBody>
      </p:sp>
      <p:sp>
        <p:nvSpPr>
          <p:cNvPr id="6" name="">
            <a:extLst xmlns:a="http://schemas.openxmlformats.org/drawingml/2006/main">
              <a:ext uri="{FF2B5EF4-FFF2-40B4-BE49-F238E27FC236}">
                <a16:creationId xmlns:a16="http://schemas.microsoft.com/office/drawing/2014/main" id="{041508F6-B701-4854-93A6-9370CA149744}"/>
              </a:ext>
            </a:extLst>
          </p:cNvPr>
          <p:cNvSpPr>
            <a:spLocks xmlns:a="http://schemas.openxmlformats.org/drawingml/2006/main" noGrp="1"/>
          </p:cNvSpPr>
          <p:nvPr/>
        </p:nvSpPr>
        <p:spPr>
          <a:xfrm xmlns:a="http://schemas.openxmlformats.org/drawingml/2006/main">
            <a:off x="647700" y="28670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Established investigation workflows. We must validate</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what a specific corridor partner still needs.</a:t>
            </a:r>
          </a:p>
        </p:txBody>
      </p:sp>
      <p:sp>
        <p:nvSpPr>
          <p:cNvPr id="7" name="">
            <a:extLst xmlns:a="http://schemas.openxmlformats.org/drawingml/2006/main">
              <a:ext uri="{FF2B5EF4-FFF2-40B4-BE49-F238E27FC236}">
                <a16:creationId xmlns:a16="http://schemas.microsoft.com/office/drawing/2014/main" id="{0C9587F4-1652-4CC9-800E-7B9613C58E44}"/>
              </a:ext>
            </a:extLst>
          </p:cNvPr>
          <p:cNvSpPr>
            <a:spLocks xmlns:a="http://schemas.openxmlformats.org/drawingml/2006/main" noGrp="1"/>
          </p:cNvSpPr>
          <p:nvPr/>
        </p:nvSpPr>
        <p:spPr>
          <a:xfrm xmlns:a="http://schemas.openxmlformats.org/drawingml/2006/main">
            <a:off x="647700" y="4038600"/>
            <a:ext cx="1038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CorridorProof hypothesis</a:t>
            </a:r>
          </a:p>
        </p:txBody>
      </p:sp>
      <p:sp>
        <p:nvSpPr>
          <p:cNvPr id="8" name="">
            <a:extLst xmlns:a="http://schemas.openxmlformats.org/drawingml/2006/main">
              <a:ext uri="{FF2B5EF4-FFF2-40B4-BE49-F238E27FC236}">
                <a16:creationId xmlns:a16="http://schemas.microsoft.com/office/drawing/2014/main" id="{6590BEBD-F69D-4B5D-A591-30F7BDF390E9}"/>
              </a:ext>
            </a:extLst>
          </p:cNvPr>
          <p:cNvSpPr>
            <a:spLocks xmlns:a="http://schemas.openxmlformats.org/drawingml/2006/main" noGrp="1"/>
          </p:cNvSpPr>
          <p:nvPr/>
        </p:nvSpPr>
        <p:spPr>
          <a:xfrm xmlns:a="http://schemas.openxmlformats.org/drawingml/2006/main">
            <a:off x="647700" y="45815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Independent operators jointly govern accepted evidence</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and resolution changes without unilateral edit authority.</a:t>
            </a:r>
          </a:p>
        </p:txBody>
      </p:sp>
      <p:sp>
        <p:nvSpPr>
          <p:cNvPr id="9" name="">
            <a:extLst xmlns:a="http://schemas.openxmlformats.org/drawingml/2006/main">
              <a:ext uri="{FF2B5EF4-FFF2-40B4-BE49-F238E27FC236}">
                <a16:creationId xmlns:a16="http://schemas.microsoft.com/office/drawing/2014/main" id="{D0AED0DD-BF9A-42B3-B296-1BFB48E7F9FB}"/>
              </a:ext>
            </a:extLst>
          </p:cNvPr>
          <p:cNvSpPr>
            <a:spLocks xmlns:a="http://schemas.openxmlformats.org/drawingml/2006/main" noGrp="1"/>
          </p:cNvSpPr>
          <p:nvPr/>
        </p:nvSpPr>
        <p:spPr>
          <a:xfrm xmlns:a="http://schemas.openxmlformats.org/drawingml/2006/main">
            <a:off x="647700" y="56864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A trusted shared database remains a valid option when independent governance is unnecessary.</a:t>
            </a:r>
          </a:p>
        </p:txBody>
      </p:sp>
    </p:spTree>
    <p:extLst>
      <p:ext uri="{BB962C8B-B14F-4D97-AF65-F5344CB8AC3E}">
        <p14:creationId xmlns:p14="http://schemas.microsoft.com/office/powerpoint/2010/main" val="164729681"/>
      </p:ext>
    </p:extLst>
  </p:cSld>
</p:sld>
</file>

<file path=ppt/slides/slide8.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9C0912-EACF-4829-AF50-FEA1785716F3}"/>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3D5B7"/>
                </a:solidFill>
                <a:latin typeface="Arial"/>
                <a:ea typeface="Arial"/>
                <a:cs typeface="Arial"/>
              </a:defRPr>
            </a:pPr>
            <a:r>
              <a:rPr sz="1125" b="1">
                <a:solidFill>
                  <a:srgbClr val="93D5B7"/>
                </a:solidFill>
                <a:latin typeface="Arial"/>
                <a:ea typeface="Arial"/>
                <a:cs typeface="Arial"/>
              </a:rPr>
              <a:t>PILOT AND BUSINESS MODEL</a:t>
            </a:r>
          </a:p>
        </p:txBody>
      </p:sp>
      <p:sp>
        <p:nvSpPr>
          <p:cNvPr id="2" name="">
            <a:extLst xmlns:a="http://schemas.openxmlformats.org/drawingml/2006/main">
              <a:ext uri="{FF2B5EF4-FFF2-40B4-BE49-F238E27FC236}">
                <a16:creationId xmlns:a16="http://schemas.microsoft.com/office/drawing/2014/main" id="{79017CE5-EE42-4090-AB33-2D418B590AD2}"/>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 corridor pilot is the next commercial gate</a:t>
            </a:r>
          </a:p>
        </p:txBody>
      </p:sp>
      <p:sp>
        <p:nvSpPr>
          <p:cNvPr id="3" name="">
            <a:extLst xmlns:a="http://schemas.openxmlformats.org/drawingml/2006/main">
              <a:ext uri="{FF2B5EF4-FFF2-40B4-BE49-F238E27FC236}">
                <a16:creationId xmlns:a16="http://schemas.microsoft.com/office/drawing/2014/main" id="{7ACAEA03-92D1-45B7-A392-DD9200E51E5A}"/>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1DB5EBC6-2394-47CD-86D2-3B650D8F04C7}"/>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4645D010-1CD0-4913-AF02-75EB549D06E4}"/>
              </a:ext>
            </a:extLst>
          </p:cNvPr>
          <p:cNvSpPr>
            <a:spLocks xmlns:a="http://schemas.openxmlformats.org/drawingml/2006/main" noGrp="1"/>
          </p:cNvSpPr>
          <p:nvPr/>
        </p:nvSpPr>
        <p:spPr>
          <a:xfrm xmlns:a="http://schemas.openxmlformats.org/drawingml/2006/main">
            <a:off x="647700" y="2238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3D5B7"/>
                </a:solidFill>
                <a:latin typeface="Arial"/>
                <a:ea typeface="Arial"/>
                <a:cs typeface="Arial"/>
              </a:defRPr>
            </a:pPr>
            <a:r>
              <a:rPr sz="1800" b="1">
                <a:solidFill>
                  <a:srgbClr val="93D5B7"/>
                </a:solidFill>
                <a:latin typeface="Arial"/>
                <a:ea typeface="Arial"/>
                <a:cs typeface="Arial"/>
              </a:rPr>
              <a:t>Candidate buyer</a:t>
            </a:r>
          </a:p>
        </p:txBody>
      </p:sp>
      <p:sp>
        <p:nvSpPr>
          <p:cNvPr id="6" name="">
            <a:extLst xmlns:a="http://schemas.openxmlformats.org/drawingml/2006/main">
              <a:ext uri="{FF2B5EF4-FFF2-40B4-BE49-F238E27FC236}">
                <a16:creationId xmlns:a16="http://schemas.microsoft.com/office/drawing/2014/main" id="{6067C7B9-7CEE-47E2-B584-8E3E8771AE6B}"/>
              </a:ext>
            </a:extLst>
          </p:cNvPr>
          <p:cNvSpPr>
            <a:spLocks xmlns:a="http://schemas.openxmlformats.org/drawingml/2006/main" noGrp="1"/>
          </p:cNvSpPr>
          <p:nvPr/>
        </p:nvSpPr>
        <p:spPr>
          <a:xfrm xmlns:a="http://schemas.openxmlformats.org/drawingml/2006/main">
            <a:off x="647700" y="27813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Sender and receiver PSP operations teams</a:t>
            </a:r>
          </a:p>
        </p:txBody>
      </p:sp>
      <p:sp>
        <p:nvSpPr>
          <p:cNvPr id="7" name="">
            <a:extLst xmlns:a="http://schemas.openxmlformats.org/drawingml/2006/main">
              <a:ext uri="{FF2B5EF4-FFF2-40B4-BE49-F238E27FC236}">
                <a16:creationId xmlns:a16="http://schemas.microsoft.com/office/drawing/2014/main" id="{E619CB99-1120-4991-A190-6C6836161073}"/>
              </a:ext>
            </a:extLst>
          </p:cNvPr>
          <p:cNvSpPr>
            <a:spLocks xmlns:a="http://schemas.openxmlformats.org/drawingml/2006/main" noGrp="1"/>
          </p:cNvSpPr>
          <p:nvPr/>
        </p:nvSpPr>
        <p:spPr>
          <a:xfrm xmlns:a="http://schemas.openxmlformats.org/drawingml/2006/main">
            <a:off x="647700" y="3733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3D5B7"/>
                </a:solidFill>
                <a:latin typeface="Arial"/>
                <a:ea typeface="Arial"/>
                <a:cs typeface="Arial"/>
              </a:defRPr>
            </a:pPr>
            <a:r>
              <a:rPr sz="1800" b="1">
                <a:solidFill>
                  <a:srgbClr val="93D5B7"/>
                </a:solidFill>
                <a:latin typeface="Arial"/>
                <a:ea typeface="Arial"/>
                <a:cs typeface="Arial"/>
              </a:rPr>
              <a:t>Shadow pilot</a:t>
            </a:r>
          </a:p>
        </p:txBody>
      </p:sp>
      <p:sp>
        <p:nvSpPr>
          <p:cNvPr id="8" name="">
            <a:extLst xmlns:a="http://schemas.openxmlformats.org/drawingml/2006/main">
              <a:ext uri="{FF2B5EF4-FFF2-40B4-BE49-F238E27FC236}">
                <a16:creationId xmlns:a16="http://schemas.microsoft.com/office/drawing/2014/main" id="{7A93F360-6E3F-4A46-9948-00A3976E3E96}"/>
              </a:ext>
            </a:extLst>
          </p:cNvPr>
          <p:cNvSpPr>
            <a:spLocks xmlns:a="http://schemas.openxmlformats.org/drawingml/2006/main" noGrp="1"/>
          </p:cNvSpPr>
          <p:nvPr/>
        </p:nvSpPr>
        <p:spPr>
          <a:xfrm xmlns:a="http://schemas.openxmlformats.org/drawingml/2006/main">
            <a:off x="647700" y="42672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Replay de-identified exceptions against the current workflow.</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Measure operator effort and unsafe-decision prevention.</a:t>
            </a:r>
          </a:p>
        </p:txBody>
      </p:sp>
      <p:sp>
        <p:nvSpPr>
          <p:cNvPr id="9" name="">
            <a:extLst xmlns:a="http://schemas.openxmlformats.org/drawingml/2006/main">
              <a:ext uri="{FF2B5EF4-FFF2-40B4-BE49-F238E27FC236}">
                <a16:creationId xmlns:a16="http://schemas.microsoft.com/office/drawing/2014/main" id="{5338D8FE-CD41-4371-A0AA-AA21BAE61BE3}"/>
              </a:ext>
            </a:extLst>
          </p:cNvPr>
          <p:cNvSpPr>
            <a:spLocks xmlns:a="http://schemas.openxmlformats.org/drawingml/2006/main" noGrp="1"/>
          </p:cNvSpPr>
          <p:nvPr/>
        </p:nvSpPr>
        <p:spPr>
          <a:xfrm xmlns:a="http://schemas.openxmlformats.org/drawingml/2006/main">
            <a:off x="647700" y="55435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3D5B7"/>
                </a:solidFill>
                <a:latin typeface="Arial"/>
                <a:ea typeface="Arial"/>
                <a:cs typeface="Arial"/>
              </a:defRPr>
            </a:pPr>
            <a:r>
              <a:rPr sz="1650" b="0">
                <a:solidFill>
                  <a:srgbClr val="93D5B7"/>
                </a:solidFill>
                <a:latin typeface="Arial"/>
                <a:ea typeface="Arial"/>
                <a:cs typeface="Arial"/>
              </a:rPr>
              <a:t>Subscription plus integration is a pricing hypothesis.</a:t>
            </a:r>
          </a:p>
          <a:p xmlns:a="http://schemas.openxmlformats.org/drawingml/2006/main">
            <a:pPr>
              <a:defRPr sz="1650" b="0">
                <a:solidFill>
                  <a:srgbClr val="93D5B7"/>
                </a:solidFill>
                <a:latin typeface="Arial"/>
                <a:ea typeface="Arial"/>
                <a:cs typeface="Arial"/>
              </a:defRPr>
            </a:pPr>
            <a:r>
              <a:rPr sz="1650" b="0">
                <a:solidFill>
                  <a:srgbClr val="93D5B7"/>
                </a:solidFill>
                <a:latin typeface="Arial"/>
                <a:ea typeface="Arial"/>
                <a:cs typeface="Arial"/>
              </a:rPr>
              <a:t>No customer adoption or operational savings claimed.</a:t>
            </a:r>
          </a:p>
        </p:txBody>
      </p:sp>
    </p:spTree>
    <p:extLst>
      <p:ext uri="{BB962C8B-B14F-4D97-AF65-F5344CB8AC3E}">
        <p14:creationId xmlns:p14="http://schemas.microsoft.com/office/powerpoint/2010/main" val="12546476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2026-09-30T15:46:48.3620000Z</dcterms:created>
  <dcterms:modified xsi:type="dcterms:W3CDTF">2026-09-30T15:46:48.3620000Z</dcterms:modified>
</coreProperties>
</file>
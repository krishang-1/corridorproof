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a94b78bd1740bf" /><Relationship Type="http://schemas.openxmlformats.org/officeDocument/2006/relationships/extended-properties" Target="/docProps/app.xml" Id="Rd1706fe1a76b4f18" /><Relationship Type="http://schemas.openxmlformats.org/officeDocument/2006/relationships/officeDocument" Target="/ppt/presentation.xml" Id="R120292c9eb5b4be0" /></Relationships>
</file>

<file path=ppt/presentation.xml><?xml version="1.0" encoding="utf-8"?>
<p:presentation xmlns:p="http://schemas.openxmlformats.org/presentationml/2006/main">
  <p:sldMasterIdLst>
    <p:sldMasterId xmlns:r="http://schemas.openxmlformats.org/officeDocument/2006/relationships" id="2147483648" r:id="R78e2053a1bd8433e"/>
  </p:sldMasterIdLst>
  <p:notesMasterIdLst>
    <p:notesMasterId xmlns:r="http://schemas.openxmlformats.org/officeDocument/2006/relationships" r:id="R887c6ea5c3c04197"/>
  </p:notesMasterIdLst>
  <p:sldIdLst>
    <p:sldId xmlns:r="http://schemas.openxmlformats.org/officeDocument/2006/relationships" id="256" r:id="Rd45d2353bdb74585"/>
    <p:sldId xmlns:r="http://schemas.openxmlformats.org/officeDocument/2006/relationships" id="257" r:id="Rcd52a4408889457a"/>
    <p:sldId xmlns:r="http://schemas.openxmlformats.org/officeDocument/2006/relationships" id="258" r:id="Rda9da2259c5e459b"/>
    <p:sldId xmlns:r="http://schemas.openxmlformats.org/officeDocument/2006/relationships" id="259" r:id="Rc4918efeb10946e5"/>
    <p:sldId xmlns:r="http://schemas.openxmlformats.org/officeDocument/2006/relationships" id="260" r:id="R8c405041f9aa4b2b"/>
    <p:sldId xmlns:r="http://schemas.openxmlformats.org/officeDocument/2006/relationships" id="261" r:id="Rac7e548b720441d1"/>
    <p:sldId xmlns:r="http://schemas.openxmlformats.org/officeDocument/2006/relationships" id="262" r:id="R804f393666f74936"/>
    <p:sldId xmlns:r="http://schemas.openxmlformats.org/officeDocument/2006/relationships" id="263" r:id="Rfc86dd3642ae47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ad6edcab0a4854" /><Relationship Type="http://schemas.openxmlformats.org/officeDocument/2006/relationships/slideMaster" Target="/ppt/slideMasters/slideMaster1.xml" Id="R78e2053a1bd8433e" /><Relationship Type="http://schemas.openxmlformats.org/officeDocument/2006/relationships/notesMaster" Target="/ppt/notesMasters/notesMaster1.xml" Id="R887c6ea5c3c04197" /><Relationship Type="http://schemas.openxmlformats.org/officeDocument/2006/relationships/presProps" Target="/ppt/presProps.xml" Id="Re702d61d2b7c4aa4" /><Relationship Type="http://schemas.openxmlformats.org/officeDocument/2006/relationships/tableStyles" Target="/ppt/tableStyles.xml" Id="R790d95ae8c8443b6" /><Relationship Type="http://schemas.openxmlformats.org/officeDocument/2006/relationships/slide" Target="/ppt/slides/slide1.xml" Id="Rd45d2353bdb74585" /><Relationship Type="http://schemas.openxmlformats.org/officeDocument/2006/relationships/slide" Target="/ppt/slides/slide2.xml" Id="Rcd52a4408889457a" /><Relationship Type="http://schemas.openxmlformats.org/officeDocument/2006/relationships/slide" Target="/ppt/slides/slide3.xml" Id="Rda9da2259c5e459b" /><Relationship Type="http://schemas.openxmlformats.org/officeDocument/2006/relationships/slide" Target="/ppt/slides/slide4.xml" Id="Rc4918efeb10946e5" /><Relationship Type="http://schemas.openxmlformats.org/officeDocument/2006/relationships/slide" Target="/ppt/slides/slide5.xml" Id="R8c405041f9aa4b2b" /><Relationship Type="http://schemas.openxmlformats.org/officeDocument/2006/relationships/slide" Target="/ppt/slides/slide6.xml" Id="Rac7e548b720441d1" /><Relationship Type="http://schemas.openxmlformats.org/officeDocument/2006/relationships/slide" Target="/ppt/slides/slide7.xml" Id="R804f393666f74936" /><Relationship Type="http://schemas.openxmlformats.org/officeDocument/2006/relationships/slide" Target="/ppt/slides/slide8.xml" Id="Rfc86dd3642ae47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f40f2e45b743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7b35a9b5014bef" /><Relationship Type="http://schemas.openxmlformats.org/officeDocument/2006/relationships/notesMaster" Target="/ppt/notesMasters/notesMaster1.xml" Id="R813413404a2747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ef98e8f3d64886" /><Relationship Type="http://schemas.openxmlformats.org/officeDocument/2006/relationships/notesMaster" Target="/ppt/notesMasters/notesMaster1.xml" Id="Rea75932698a041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e07a8e802c473d" /><Relationship Type="http://schemas.openxmlformats.org/officeDocument/2006/relationships/notesMaster" Target="/ppt/notesMasters/notesMaster1.xml" Id="Re7b77e9954c341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32c8defa1f48c1" /><Relationship Type="http://schemas.openxmlformats.org/officeDocument/2006/relationships/notesMaster" Target="/ppt/notesMasters/notesMaster1.xml" Id="R289fcff0bd704c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531255a3d4490b" /><Relationship Type="http://schemas.openxmlformats.org/officeDocument/2006/relationships/notesMaster" Target="/ppt/notesMasters/notesMaster1.xml" Id="Rcb9a095a0a374c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fb8ffdbd9c4ad7" /><Relationship Type="http://schemas.openxmlformats.org/officeDocument/2006/relationships/notesMaster" Target="/ppt/notesMasters/notesMaster1.xml" Id="R98c228bf92c746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380a5091d84df8" /><Relationship Type="http://schemas.openxmlformats.org/officeDocument/2006/relationships/notesMaster" Target="/ppt/notesMasters/notesMaster1.xml" Id="Rc1491d3b859c4a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bffbde9d1e4c9e" /><Relationship Type="http://schemas.openxmlformats.org/officeDocument/2006/relationships/notesMaster" Target="/ppt/notesMasters/notesMaster1.xml" Id="R17f6ec3e169f46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prototype. No real funds or institutional identities. Separate local Drunix test network verified with 46 VALID transactions across five scenarios; dashboard remains local. Team identity and portal PS wording require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30 September 2026. Nexus https://docs.nexusglobalpayments.org/payment-processing/key-points describes first-release manual investigations, recalls and disputes and possible future automation. This is documentation, not proof of present deployed release status. FSB Deputy Secretary General remarks, 8 July 2026 https://www.fsb.org/2026/07/cross-border-payments-towards-the-next-chapter/ identify data quality/operational integration frictions, with disclaimer that views do not necessarily represent FSB/members. Swift https://www.swift.com/products/case-management proves an established competitive category, not our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payment-priority handling https://docs.nexusglobalpayments.org/payment-processing/time-critical-vs-non-time-critical-payments distinguishes scheme-specific status and cancellation behavior. Our rule is a conservative prototype policy, not a universal Nexus cancellation implementation. Node/Go shared conformance tests and browser flow implement the illustrated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locally implemented app, synthetic data. Browser-tested timeout/blocked-refund, late credit/joint closure, shortfall dual approval/correction and evidence alteration. Payments never leave the local application. Separate Drunix CLI passed five scenarios with 46 VALID commits. Dashboard remains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src/integrity.js, src/store.js, src/policy.js. Tests check quote-event alteration, removed/truncated events, mismatched snapshots, replay and restart. Completeness and institutional identity need independently pinned public keys and witnessed heads. Local server holds every demo private key. Signatures do not establish truth of external rail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docs/ARCHITECTURE.md and DECISIONS.md. Node.js24 HTTP/SQLite/Ed25519 signed local journal, browser-native dashboard. Separate Go chaincode and TLS certificate-bound Gateway CLI passed five live local test-network scenarios with 46 VALID transactions. Both orgs read matching state; replay and sequential stale-version denial passed. Dashboard-to-live integration pending. Receipts: https://github.com/krishang-1/corridorproof/blob/main/submission/drunix-live-evidence.json. Official repository pinned ddc0eae778158d3f8a96605cfeda383ae5eafcfc. https://github.com/npci/drunix/blob/main/drunix-network/test-network/README.md. Native editable architecture nodes describe required implementation evidence, not decorative graphics.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investigation service desk and possible future ISO20022 automation: https://docs.nexusglobalpayments.org/payment-processing/key-points. Swift Case Management and network-agnostic E&amp;I: https://www.swift.com/products/case-management and https://www.swift.com/news-events/news/transforming-exceptions-and-investigations. Trusted database alternative is our architecture inference. No feature superiority or unmet buyer need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Hypotheses, not validated outcomes. Candidate buyers: PSP operations teams or corridor operator. Shadow pilot should compare existing workflows and trusted-database baseline with Drunix. Measure staff minutes, counterparty contacts, evidence rework and resolution time excluding rail waiting. No partners, savings percentage, market size or pricing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2c82f4179949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d85adb957947f5" /><Relationship Type="http://schemas.openxmlformats.org/officeDocument/2006/relationships/slideLayout" Target="/ppt/slideLayouts/slideLayout1.xml" Id="R972480a1b67849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2480a1b67849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f6118c15c54820" /><Relationship Type="http://schemas.openxmlformats.org/officeDocument/2006/relationships/notesSlide" Target="/ppt/notesSlides/notesSlide1.xml" Id="R645d656e28504a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d34ed117984328" /><Relationship Type="http://schemas.openxmlformats.org/officeDocument/2006/relationships/notesSlide" Target="/ppt/notesSlides/notesSlide2.xml" Id="Rbef0f80a6f9a4c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0232b2b48048ad" /><Relationship Type="http://schemas.openxmlformats.org/officeDocument/2006/relationships/notesSlide" Target="/ppt/notesSlides/notesSlide3.xml" Id="Rc8448315a3904a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7dfa29a8804baf" /><Relationship Type="http://schemas.openxmlformats.org/officeDocument/2006/relationships/image" Target="/ppt/media/image.jpeg" Id="R06d6de5d91be4118" /><Relationship Type="http://schemas.openxmlformats.org/officeDocument/2006/relationships/notesSlide" Target="/ppt/notesSlides/notesSlide4.xml" Id="R8e2ffc641a794b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b9e2b7921144a8" /><Relationship Type="http://schemas.openxmlformats.org/officeDocument/2006/relationships/notesSlide" Target="/ppt/notesSlides/notesSlide5.xml" Id="R2d73513fa68844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84288fe6ce4c73" /><Relationship Type="http://schemas.openxmlformats.org/officeDocument/2006/relationships/notesSlide" Target="/ppt/notesSlides/notesSlide6.xml" Id="Ra80ad6baf03344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42bba7e6ec48e6" /><Relationship Type="http://schemas.openxmlformats.org/officeDocument/2006/relationships/notesSlide" Target="/ppt/notesSlides/notesSlide7.xml" Id="R0682634456f343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6a9aa1ca9f4418" /><Relationship Type="http://schemas.openxmlformats.org/officeDocument/2006/relationships/notesSlide" Target="/ppt/notesSlides/notesSlide8.xml" Id="Re90c7a5815444bdf" /></Relationships>
</file>

<file path=ppt/slides/slide1.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642137-F2F8-444E-99B9-439175A9F1D3}"/>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CROSS-BORDER EXCEPTION OPERATIONS</a:t>
            </a:r>
          </a:p>
        </p:txBody>
      </p:sp>
      <p:sp>
        <p:nvSpPr>
          <p:cNvPr id="2" name="">
            <a:extLst xmlns:a="http://schemas.openxmlformats.org/drawingml/2006/main">
              <a:ext uri="{FF2B5EF4-FFF2-40B4-BE49-F238E27FC236}">
                <a16:creationId xmlns:a16="http://schemas.microsoft.com/office/drawing/2014/main" id="{B30769B3-B2A1-4071-B517-09E098975E69}"/>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CorridorProof</a:t>
            </a:r>
          </a:p>
        </p:txBody>
      </p:sp>
      <p:sp>
        <p:nvSpPr>
          <p:cNvPr id="3" name="">
            <a:extLst xmlns:a="http://schemas.openxmlformats.org/drawingml/2006/main">
              <a:ext uri="{FF2B5EF4-FFF2-40B4-BE49-F238E27FC236}">
                <a16:creationId xmlns:a16="http://schemas.microsoft.com/office/drawing/2014/main" id="{C9B44B79-2796-417C-9204-10DFF69B2D8E}"/>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AA1CC04B-6CE8-41D2-9E95-72376079EF8B}"/>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589C177-B8E6-4B61-A641-1DA06712B38D}"/>
              </a:ext>
            </a:extLst>
          </p:cNvPr>
          <p:cNvSpPr>
            <a:spLocks xmlns:a="http://schemas.openxmlformats.org/drawingml/2006/main" noGrp="1"/>
          </p:cNvSpPr>
          <p:nvPr/>
        </p:nvSpPr>
        <p:spPr>
          <a:xfrm xmlns:a="http://schemas.openxmlformats.org/drawingml/2006/main">
            <a:off x="647700" y="2266950"/>
            <a:ext cx="1000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Shared evidence for</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uncertain payment outcomes</a:t>
            </a:r>
          </a:p>
        </p:txBody>
      </p:sp>
      <p:sp>
        <p:nvSpPr>
          <p:cNvPr id="6" name="">
            <a:extLst xmlns:a="http://schemas.openxmlformats.org/drawingml/2006/main">
              <a:ext uri="{FF2B5EF4-FFF2-40B4-BE49-F238E27FC236}">
                <a16:creationId xmlns:a16="http://schemas.microsoft.com/office/drawing/2014/main" id="{5F1236C1-45D2-48BE-90DB-18C161E5E21E}"/>
              </a:ext>
            </a:extLst>
          </p:cNvPr>
          <p:cNvSpPr>
            <a:spLocks xmlns:a="http://schemas.openxmlformats.org/drawingml/2006/main" noGrp="1"/>
          </p:cNvSpPr>
          <p:nvPr/>
        </p:nvSpPr>
        <p:spPr>
          <a:xfrm xmlns:a="http://schemas.openxmlformats.org/drawingml/2006/main">
            <a:off x="647700" y="421005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Sender and receiver teams agree a safe resolution</a:t>
            </a:r>
          </a:p>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from an attributable case record.</a:t>
            </a:r>
          </a:p>
        </p:txBody>
      </p:sp>
      <p:sp>
        <p:nvSpPr>
          <p:cNvPr id="7" name="">
            <a:extLst xmlns:a="http://schemas.openxmlformats.org/drawingml/2006/main">
              <a:ext uri="{FF2B5EF4-FFF2-40B4-BE49-F238E27FC236}">
                <a16:creationId xmlns:a16="http://schemas.microsoft.com/office/drawing/2014/main" id="{91EE2B02-A5D1-47C7-AB74-52ECC84F0EDA}"/>
              </a:ext>
            </a:extLst>
          </p:cNvPr>
          <p:cNvSpPr>
            <a:spLocks xmlns:a="http://schemas.openxmlformats.org/drawingml/2006/main" noGrp="1"/>
          </p:cNvSpPr>
          <p:nvPr/>
        </p:nvSpPr>
        <p:spPr>
          <a:xfrm xmlns:a="http://schemas.openxmlformats.org/drawingml/2006/main">
            <a:off x="647700" y="5543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Local dashboard   /   Drunix CLI: 46 VALID transactions</a:t>
            </a:r>
          </a:p>
        </p:txBody>
      </p:sp>
    </p:spTree>
    <p:extLst>
      <p:ext uri="{BB962C8B-B14F-4D97-AF65-F5344CB8AC3E}">
        <p14:creationId xmlns:p14="http://schemas.microsoft.com/office/powerpoint/2010/main" val="2004331457"/>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773BF6-362D-4E92-8776-C30214611414}"/>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PROBLEM EVIDENCE</a:t>
            </a:r>
          </a:p>
        </p:txBody>
      </p:sp>
      <p:sp>
        <p:nvSpPr>
          <p:cNvPr id="2" name="">
            <a:extLst xmlns:a="http://schemas.openxmlformats.org/drawingml/2006/main">
              <a:ext uri="{FF2B5EF4-FFF2-40B4-BE49-F238E27FC236}">
                <a16:creationId xmlns:a16="http://schemas.microsoft.com/office/drawing/2014/main" id="{8B6DD8A1-487C-4814-9CF6-BA1AC24B13B7}"/>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Manual exceptions remain a documented requirement</a:t>
            </a:r>
          </a:p>
        </p:txBody>
      </p:sp>
      <p:sp>
        <p:nvSpPr>
          <p:cNvPr id="3" name="">
            <a:extLst xmlns:a="http://schemas.openxmlformats.org/drawingml/2006/main">
              <a:ext uri="{FF2B5EF4-FFF2-40B4-BE49-F238E27FC236}">
                <a16:creationId xmlns:a16="http://schemas.microsoft.com/office/drawing/2014/main" id="{D97E7F79-632B-4513-9C9D-F33BB28A30FD}"/>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1D580977-1BB9-4A82-80C8-0EA53549F101}"/>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D815497-FFE1-4557-9DBB-C28EE64454D7}"/>
              </a:ext>
            </a:extLst>
          </p:cNvPr>
          <p:cNvSpPr>
            <a:spLocks xmlns:a="http://schemas.openxmlformats.org/drawingml/2006/main" noGrp="1"/>
          </p:cNvSpPr>
          <p:nvPr/>
        </p:nvSpPr>
        <p:spPr>
          <a:xfrm xmlns:a="http://schemas.openxmlformats.org/drawingml/2006/main">
            <a:off x="647700" y="2333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Nexus documentation describes manual handling of</a:t>
            </a:r>
          </a:p>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investigations, recalls and disputes in its first release.</a:t>
            </a:r>
          </a:p>
        </p:txBody>
      </p:sp>
      <p:sp>
        <p:nvSpPr>
          <p:cNvPr id="6" name="">
            <a:extLst xmlns:a="http://schemas.openxmlformats.org/drawingml/2006/main">
              <a:ext uri="{FF2B5EF4-FFF2-40B4-BE49-F238E27FC236}">
                <a16:creationId xmlns:a16="http://schemas.microsoft.com/office/drawing/2014/main" id="{4AA53C1E-ABCA-4945-BA03-AEC5AC835060}"/>
              </a:ext>
            </a:extLst>
          </p:cNvPr>
          <p:cNvSpPr>
            <a:spLocks xmlns:a="http://schemas.openxmlformats.org/drawingml/2006/main" noGrp="1"/>
          </p:cNvSpPr>
          <p:nvPr/>
        </p:nvSpPr>
        <p:spPr>
          <a:xfrm xmlns:a="http://schemas.openxmlformats.org/drawingml/2006/main">
            <a:off x="647700" y="37719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27C63"/>
                </a:solidFill>
                <a:latin typeface="Arial"/>
                <a:ea typeface="Arial"/>
                <a:cs typeface="Arial"/>
              </a:defRPr>
            </a:pPr>
            <a:r>
              <a:rPr sz="1725" b="1">
                <a:solidFill>
                  <a:srgbClr val="327C63"/>
                </a:solidFill>
                <a:latin typeface="Arial"/>
                <a:ea typeface="Arial"/>
                <a:cs typeface="Arial"/>
              </a:rPr>
              <a:t>Our narrow question</a:t>
            </a:r>
          </a:p>
        </p:txBody>
      </p:sp>
      <p:sp>
        <p:nvSpPr>
          <p:cNvPr id="7" name="">
            <a:extLst xmlns:a="http://schemas.openxmlformats.org/drawingml/2006/main">
              <a:ext uri="{FF2B5EF4-FFF2-40B4-BE49-F238E27FC236}">
                <a16:creationId xmlns:a16="http://schemas.microsoft.com/office/drawing/2014/main" id="{3FAC1E8A-667C-4106-89BB-211F0A6F6E8C}"/>
              </a:ext>
            </a:extLst>
          </p:cNvPr>
          <p:cNvSpPr>
            <a:spLocks xmlns:a="http://schemas.openxmlformats.org/drawingml/2006/main" noGrp="1"/>
          </p:cNvSpPr>
          <p:nvPr/>
        </p:nvSpPr>
        <p:spPr>
          <a:xfrm xmlns:a="http://schemas.openxmlformats.org/drawingml/2006/main">
            <a:off x="647700" y="42767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Can two operations teams share the evidence and</a:t>
            </a:r>
          </a:p>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approvals needed to resolve uncertain payouts safely?</a:t>
            </a:r>
          </a:p>
        </p:txBody>
      </p:sp>
      <p:sp>
        <p:nvSpPr>
          <p:cNvPr id="8" name="">
            <a:extLst xmlns:a="http://schemas.openxmlformats.org/drawingml/2006/main">
              <a:ext uri="{FF2B5EF4-FFF2-40B4-BE49-F238E27FC236}">
                <a16:creationId xmlns:a16="http://schemas.microsoft.com/office/drawing/2014/main" id="{6193010C-A2F3-42CB-BE0A-1910F401BAA9}"/>
              </a:ext>
            </a:extLst>
          </p:cNvPr>
          <p:cNvSpPr>
            <a:spLocks xmlns:a="http://schemas.openxmlformats.org/drawingml/2006/main" noGrp="1"/>
          </p:cNvSpPr>
          <p:nvPr/>
        </p:nvSpPr>
        <p:spPr>
          <a:xfrm xmlns:a="http://schemas.openxmlformats.org/drawingml/2006/main">
            <a:off x="647700" y="5657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Documentation supports the problem. Partner demand and savings remain unvalidated.</a:t>
            </a:r>
          </a:p>
        </p:txBody>
      </p:sp>
    </p:spTree>
    <p:extLst>
      <p:ext uri="{BB962C8B-B14F-4D97-AF65-F5344CB8AC3E}">
        <p14:creationId xmlns:p14="http://schemas.microsoft.com/office/powerpoint/2010/main" val="2127445551"/>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82D7F9-7020-499C-AF1E-1FEC719B0853}"/>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CORE SAFEGUARD</a:t>
            </a:r>
          </a:p>
        </p:txBody>
      </p:sp>
      <p:sp>
        <p:nvSpPr>
          <p:cNvPr id="2" name="">
            <a:extLst xmlns:a="http://schemas.openxmlformats.org/drawingml/2006/main">
              <a:ext uri="{FF2B5EF4-FFF2-40B4-BE49-F238E27FC236}">
                <a16:creationId xmlns:a16="http://schemas.microsoft.com/office/drawing/2014/main" id="{8BE17961-8C36-4058-BF75-B206524A523C}"/>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Unknown payout outcomes need reconciliation</a:t>
            </a:r>
          </a:p>
        </p:txBody>
      </p:sp>
      <p:sp>
        <p:nvSpPr>
          <p:cNvPr id="3" name="">
            <a:extLst xmlns:a="http://schemas.openxmlformats.org/drawingml/2006/main">
              <a:ext uri="{FF2B5EF4-FFF2-40B4-BE49-F238E27FC236}">
                <a16:creationId xmlns:a16="http://schemas.microsoft.com/office/drawing/2014/main" id="{E4FECCC6-491B-4594-88B1-4D7FE9910A91}"/>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4763A629-20A5-4442-9BB9-76CAE0615857}"/>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83E6793-A6F2-474D-A31A-857A4DA5067C}"/>
              </a:ext>
            </a:extLst>
          </p:cNvPr>
          <p:cNvSpPr>
            <a:spLocks xmlns:a="http://schemas.openxmlformats.org/drawingml/2006/main" noGrp="1"/>
          </p:cNvSpPr>
          <p:nvPr/>
        </p:nvSpPr>
        <p:spPr>
          <a:xfrm xmlns:a="http://schemas.openxmlformats.org/drawingml/2006/main">
            <a:off x="647700" y="2333625"/>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D33"/>
                </a:solidFill>
                <a:latin typeface="Arial"/>
                <a:ea typeface="Arial"/>
                <a:cs typeface="Arial"/>
              </a:defRPr>
            </a:pPr>
            <a:r>
              <a:rPr sz="2850" b="1">
                <a:solidFill>
                  <a:srgbClr val="173D33"/>
                </a:solidFill>
                <a:latin typeface="Arial"/>
                <a:ea typeface="Arial"/>
                <a:cs typeface="Arial"/>
              </a:rPr>
              <a:t>Missing response</a:t>
            </a:r>
          </a:p>
        </p:txBody>
      </p:sp>
      <p:sp>
        <p:nvSpPr>
          <p:cNvPr id="6" name="">
            <a:extLst xmlns:a="http://schemas.openxmlformats.org/drawingml/2006/main">
              <a:ext uri="{FF2B5EF4-FFF2-40B4-BE49-F238E27FC236}">
                <a16:creationId xmlns:a16="http://schemas.microsoft.com/office/drawing/2014/main" id="{D1218D8D-7A6F-43FD-8D27-5C7922E8F421}"/>
              </a:ext>
            </a:extLst>
          </p:cNvPr>
          <p:cNvSpPr>
            <a:spLocks xmlns:a="http://schemas.openxmlformats.org/drawingml/2006/main" noGrp="1"/>
          </p:cNvSpPr>
          <p:nvPr/>
        </p:nvSpPr>
        <p:spPr>
          <a:xfrm xmlns:a="http://schemas.openxmlformats.org/drawingml/2006/main">
            <a:off x="6191250" y="2333625"/>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327C63"/>
                </a:solidFill>
                <a:latin typeface="Arial"/>
                <a:ea typeface="Arial"/>
                <a:cs typeface="Arial"/>
              </a:defRPr>
            </a:pPr>
            <a:r>
              <a:rPr sz="2850" b="1">
                <a:solidFill>
                  <a:srgbClr val="327C63"/>
                </a:solidFill>
                <a:latin typeface="Arial"/>
                <a:ea typeface="Arial"/>
                <a:cs typeface="Arial"/>
              </a:rPr>
              <a:t>Status stays unknown</a:t>
            </a:r>
          </a:p>
        </p:txBody>
      </p:sp>
      <p:sp>
        <p:nvSpPr>
          <p:cNvPr id="7" name="">
            <a:extLst xmlns:a="http://schemas.openxmlformats.org/drawingml/2006/main">
              <a:ext uri="{FF2B5EF4-FFF2-40B4-BE49-F238E27FC236}">
                <a16:creationId xmlns:a16="http://schemas.microsoft.com/office/drawing/2014/main" id="{FAC5D11A-1911-4268-BF98-C9A90293EDEC}"/>
              </a:ext>
            </a:extLst>
          </p:cNvPr>
          <p:cNvSpPr>
            <a:spLocks xmlns:a="http://schemas.openxmlformats.org/drawingml/2006/main" noGrp="1"/>
          </p:cNvSpPr>
          <p:nvPr/>
        </p:nvSpPr>
        <p:spPr>
          <a:xfrm xmlns:a="http://schemas.openxmlformats.org/drawingml/2006/main">
            <a:off x="647700" y="30670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A timeout records an exception.</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It cannot approve a refund.</a:t>
            </a:r>
          </a:p>
        </p:txBody>
      </p:sp>
      <p:sp>
        <p:nvSpPr>
          <p:cNvPr id="8" name="">
            <a:extLst xmlns:a="http://schemas.openxmlformats.org/drawingml/2006/main">
              <a:ext uri="{FF2B5EF4-FFF2-40B4-BE49-F238E27FC236}">
                <a16:creationId xmlns:a16="http://schemas.microsoft.com/office/drawing/2014/main" id="{46C85816-A33E-47FB-AF42-81EE33D94715}"/>
              </a:ext>
            </a:extLst>
          </p:cNvPr>
          <p:cNvSpPr>
            <a:spLocks xmlns:a="http://schemas.openxmlformats.org/drawingml/2006/main" noGrp="1"/>
          </p:cNvSpPr>
          <p:nvPr/>
        </p:nvSpPr>
        <p:spPr>
          <a:xfrm xmlns:a="http://schemas.openxmlformats.org/drawingml/2006/main">
            <a:off x="6191250" y="30670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Receiver evidence determines</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the next resolution step.</a:t>
            </a:r>
          </a:p>
        </p:txBody>
      </p:sp>
      <p:sp>
        <p:nvSpPr>
          <p:cNvPr id="9" name="">
            <a:extLst xmlns:a="http://schemas.openxmlformats.org/drawingml/2006/main">
              <a:ext uri="{FF2B5EF4-FFF2-40B4-BE49-F238E27FC236}">
                <a16:creationId xmlns:a16="http://schemas.microsoft.com/office/drawing/2014/main" id="{B7BC98DB-0EBF-40C4-BF9D-128CA1834779}"/>
              </a:ext>
            </a:extLst>
          </p:cNvPr>
          <p:cNvSpPr>
            <a:spLocks xmlns:a="http://schemas.openxmlformats.org/drawingml/2006/main" noGrp="1"/>
          </p:cNvSpPr>
          <p:nvPr/>
        </p:nvSpPr>
        <p:spPr>
          <a:xfrm xmlns:a="http://schemas.openxmlformats.org/drawingml/2006/main">
            <a:off x="647700" y="45339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27C63"/>
                </a:solidFill>
                <a:latin typeface="Arial"/>
                <a:ea typeface="Arial"/>
                <a:cs typeface="Arial"/>
              </a:defRPr>
            </a:pPr>
            <a:r>
              <a:rPr sz="2100" b="1">
                <a:solidFill>
                  <a:srgbClr val="327C63"/>
                </a:solidFill>
                <a:latin typeface="Arial"/>
                <a:ea typeface="Arial"/>
                <a:cs typeface="Arial"/>
              </a:rPr>
              <a:t>Late credit</a:t>
            </a:r>
          </a:p>
        </p:txBody>
      </p:sp>
      <p:sp>
        <p:nvSpPr>
          <p:cNvPr id="10" name="">
            <a:extLst xmlns:a="http://schemas.openxmlformats.org/drawingml/2006/main">
              <a:ext uri="{FF2B5EF4-FFF2-40B4-BE49-F238E27FC236}">
                <a16:creationId xmlns:a16="http://schemas.microsoft.com/office/drawing/2014/main" id="{165A8712-D03F-435B-B4A9-A2C32C80B3A6}"/>
              </a:ext>
            </a:extLst>
          </p:cNvPr>
          <p:cNvSpPr>
            <a:spLocks xmlns:a="http://schemas.openxmlformats.org/drawingml/2006/main" noGrp="1"/>
          </p:cNvSpPr>
          <p:nvPr/>
        </p:nvSpPr>
        <p:spPr>
          <a:xfrm xmlns:a="http://schemas.openxmlformats.org/drawingml/2006/main">
            <a:off x="647700" y="50196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Both parties acknowledge closure. No refund occurs.</a:t>
            </a:r>
          </a:p>
        </p:txBody>
      </p:sp>
    </p:spTree>
    <p:extLst>
      <p:ext uri="{BB962C8B-B14F-4D97-AF65-F5344CB8AC3E}">
        <p14:creationId xmlns:p14="http://schemas.microsoft.com/office/powerpoint/2010/main" val="10464786"/>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1C1D1D-3FEA-45B7-BC40-B27ABBB750E5}"/>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PROTOTYPE DEMONSTRATION</a:t>
            </a:r>
          </a:p>
        </p:txBody>
      </p:sp>
      <p:sp>
        <p:nvSpPr>
          <p:cNvPr id="2" name="">
            <a:extLst xmlns:a="http://schemas.openxmlformats.org/drawingml/2006/main">
              <a:ext uri="{FF2B5EF4-FFF2-40B4-BE49-F238E27FC236}">
                <a16:creationId xmlns:a16="http://schemas.microsoft.com/office/drawing/2014/main" id="{87F4E525-FA2F-4633-8AFC-D8EFAB1A72EA}"/>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A working exception desk</a:t>
            </a:r>
          </a:p>
        </p:txBody>
      </p:sp>
      <p:sp>
        <p:nvSpPr>
          <p:cNvPr id="3" name="">
            <a:extLst xmlns:a="http://schemas.openxmlformats.org/drawingml/2006/main">
              <a:ext uri="{FF2B5EF4-FFF2-40B4-BE49-F238E27FC236}">
                <a16:creationId xmlns:a16="http://schemas.microsoft.com/office/drawing/2014/main" id="{3F5849FA-2576-4912-9C70-EFD25DA67440}"/>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A125D518-D8C4-4DF1-BF40-D36C1386ACD4}"/>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6d6de5d91be4118"/>
          <a:stretch xmlns:a="http://schemas.openxmlformats.org/drawingml/2006/main"/>
        </p:blipFill>
        <p:spPr>
          <a:xfrm xmlns:a="http://schemas.openxmlformats.org/drawingml/2006/main">
            <a:off x="1462088" y="2085975"/>
            <a:ext cx="5857875"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FEDB08-5708-467C-8AEA-5102BEC2EDC5}"/>
              </a:ext>
            </a:extLst>
          </p:cNvPr>
          <p:cNvSpPr>
            <a:spLocks xmlns:a="http://schemas.openxmlformats.org/drawingml/2006/main" noGrp="1"/>
          </p:cNvSpPr>
          <p:nvPr/>
        </p:nvSpPr>
        <p:spPr>
          <a:xfrm xmlns:a="http://schemas.openxmlformats.org/drawingml/2006/main">
            <a:off x="8705850" y="22193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27C63"/>
                </a:solidFill>
                <a:latin typeface="Arial"/>
                <a:ea typeface="Arial"/>
                <a:cs typeface="Arial"/>
              </a:defRPr>
            </a:pPr>
            <a:r>
              <a:rPr sz="2025" b="1">
                <a:solidFill>
                  <a:srgbClr val="327C63"/>
                </a:solidFill>
                <a:latin typeface="Arial"/>
                <a:ea typeface="Arial"/>
                <a:cs typeface="Arial"/>
              </a:rPr>
              <a:t>Visible safeguards</a:t>
            </a:r>
          </a:p>
        </p:txBody>
      </p:sp>
      <p:sp>
        <p:nvSpPr>
          <p:cNvPr id="7" name="">
            <a:extLst xmlns:a="http://schemas.openxmlformats.org/drawingml/2006/main">
              <a:ext uri="{FF2B5EF4-FFF2-40B4-BE49-F238E27FC236}">
                <a16:creationId xmlns:a16="http://schemas.microsoft.com/office/drawing/2014/main" id="{96EFFB25-52A0-4678-AC98-489EF2BC338A}"/>
              </a:ext>
            </a:extLst>
          </p:cNvPr>
          <p:cNvSpPr>
            <a:spLocks xmlns:a="http://schemas.openxmlformats.org/drawingml/2006/main" noGrp="1"/>
          </p:cNvSpPr>
          <p:nvPr/>
        </p:nvSpPr>
        <p:spPr>
          <a:xfrm xmlns:a="http://schemas.openxmlformats.org/drawingml/2006/main">
            <a:off x="8705850" y="2876550"/>
            <a:ext cx="295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Refund denied while</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outcome is unknown</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Two organizations</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approve corrections</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Signed evidence</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exports for inspection</a:t>
            </a:r>
          </a:p>
        </p:txBody>
      </p:sp>
    </p:spTree>
    <p:extLst>
      <p:ext uri="{BB962C8B-B14F-4D97-AF65-F5344CB8AC3E}">
        <p14:creationId xmlns:p14="http://schemas.microsoft.com/office/powerpoint/2010/main" val="42582777"/>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6C234A-4BFE-46C2-A5D5-EC83EBC04C98}"/>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IMPLEMENTED CONTROLS</a:t>
            </a:r>
          </a:p>
        </p:txBody>
      </p:sp>
      <p:sp>
        <p:nvSpPr>
          <p:cNvPr id="2" name="">
            <a:extLst xmlns:a="http://schemas.openxmlformats.org/drawingml/2006/main">
              <a:ext uri="{FF2B5EF4-FFF2-40B4-BE49-F238E27FC236}">
                <a16:creationId xmlns:a16="http://schemas.microsoft.com/office/drawing/2014/main" id="{B39880B6-970E-481C-882C-A247A175C04F}"/>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Evidence can be checked independently</a:t>
            </a:r>
          </a:p>
        </p:txBody>
      </p:sp>
      <p:sp>
        <p:nvSpPr>
          <p:cNvPr id="3" name="">
            <a:extLst xmlns:a="http://schemas.openxmlformats.org/drawingml/2006/main">
              <a:ext uri="{FF2B5EF4-FFF2-40B4-BE49-F238E27FC236}">
                <a16:creationId xmlns:a16="http://schemas.microsoft.com/office/drawing/2014/main" id="{D1E7B62A-1B49-4B23-8756-DE8D17F90E76}"/>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19F1792A-423A-4A91-8509-891EDB649866}"/>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5292103-6C73-4A11-A6FD-D6831870EE7A}"/>
              </a:ext>
            </a:extLst>
          </p:cNvPr>
          <p:cNvSpPr>
            <a:spLocks xmlns:a="http://schemas.openxmlformats.org/drawingml/2006/main" noGrp="1"/>
          </p:cNvSpPr>
          <p:nvPr/>
        </p:nvSpPr>
        <p:spPr>
          <a:xfrm xmlns:a="http://schemas.openxmlformats.org/drawingml/2006/main">
            <a:off x="647700" y="22860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Attributed events</a:t>
            </a:r>
          </a:p>
        </p:txBody>
      </p:sp>
      <p:sp>
        <p:nvSpPr>
          <p:cNvPr id="6" name="">
            <a:extLst xmlns:a="http://schemas.openxmlformats.org/drawingml/2006/main">
              <a:ext uri="{FF2B5EF4-FFF2-40B4-BE49-F238E27FC236}">
                <a16:creationId xmlns:a16="http://schemas.microsoft.com/office/drawing/2014/main" id="{3F1D7EBE-F3C5-41B8-AF21-85828E506AD8}"/>
              </a:ext>
            </a:extLst>
          </p:cNvPr>
          <p:cNvSpPr>
            <a:spLocks xmlns:a="http://schemas.openxmlformats.org/drawingml/2006/main" noGrp="1"/>
          </p:cNvSpPr>
          <p:nvPr/>
        </p:nvSpPr>
        <p:spPr>
          <a:xfrm xmlns:a="http://schemas.openxmlformats.org/drawingml/2006/main">
            <a:off x="647700" y="28670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Organization signatures and linked hashes</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protect event contents from unnoticed alteration.</a:t>
            </a:r>
          </a:p>
        </p:txBody>
      </p:sp>
      <p:sp>
        <p:nvSpPr>
          <p:cNvPr id="7" name="">
            <a:extLst xmlns:a="http://schemas.openxmlformats.org/drawingml/2006/main">
              <a:ext uri="{FF2B5EF4-FFF2-40B4-BE49-F238E27FC236}">
                <a16:creationId xmlns:a16="http://schemas.microsoft.com/office/drawing/2014/main" id="{2B99748D-12EF-47D9-AD0B-D61C9054D006}"/>
              </a:ext>
            </a:extLst>
          </p:cNvPr>
          <p:cNvSpPr>
            <a:spLocks xmlns:a="http://schemas.openxmlformats.org/drawingml/2006/main" noGrp="1"/>
          </p:cNvSpPr>
          <p:nvPr/>
        </p:nvSpPr>
        <p:spPr>
          <a:xfrm xmlns:a="http://schemas.openxmlformats.org/drawingml/2006/main">
            <a:off x="647700" y="4010025"/>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Reconstructed case state</a:t>
            </a:r>
          </a:p>
        </p:txBody>
      </p:sp>
      <p:sp>
        <p:nvSpPr>
          <p:cNvPr id="8" name="">
            <a:extLst xmlns:a="http://schemas.openxmlformats.org/drawingml/2006/main">
              <a:ext uri="{FF2B5EF4-FFF2-40B4-BE49-F238E27FC236}">
                <a16:creationId xmlns:a16="http://schemas.microsoft.com/office/drawing/2014/main" id="{AC713DDA-1396-4242-85A0-ADBA09605308}"/>
              </a:ext>
            </a:extLst>
          </p:cNvPr>
          <p:cNvSpPr>
            <a:spLocks xmlns:a="http://schemas.openxmlformats.org/drawingml/2006/main" noGrp="1"/>
          </p:cNvSpPr>
          <p:nvPr/>
        </p:nvSpPr>
        <p:spPr>
          <a:xfrm xmlns:a="http://schemas.openxmlformats.org/drawingml/2006/main">
            <a:off x="647700" y="45624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The verifier replays signed events and checks</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the exported case summary against the result.</a:t>
            </a:r>
          </a:p>
        </p:txBody>
      </p:sp>
      <p:sp>
        <p:nvSpPr>
          <p:cNvPr id="9" name="">
            <a:extLst xmlns:a="http://schemas.openxmlformats.org/drawingml/2006/main">
              <a:ext uri="{FF2B5EF4-FFF2-40B4-BE49-F238E27FC236}">
                <a16:creationId xmlns:a16="http://schemas.microsoft.com/office/drawing/2014/main" id="{7C1260CB-A066-463B-BFD1-D07E2AEB2ABE}"/>
              </a:ext>
            </a:extLst>
          </p:cNvPr>
          <p:cNvSpPr>
            <a:spLocks xmlns:a="http://schemas.openxmlformats.org/drawingml/2006/main" noGrp="1"/>
          </p:cNvSpPr>
          <p:nvPr/>
        </p:nvSpPr>
        <p:spPr>
          <a:xfrm xmlns:a="http://schemas.openxmlformats.org/drawingml/2006/main">
            <a:off x="647700" y="56673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E8377"/>
                </a:solidFill>
                <a:latin typeface="Arial"/>
                <a:ea typeface="Arial"/>
                <a:cs typeface="Arial"/>
              </a:defRPr>
            </a:pPr>
            <a:r>
              <a:rPr sz="1425" b="0">
                <a:solidFill>
                  <a:srgbClr val="6E8377"/>
                </a:solidFill>
                <a:latin typeface="Arial"/>
                <a:ea typeface="Arial"/>
                <a:cs typeface="Arial"/>
              </a:rPr>
              <a:t>Trust boundary: local demo keys simulate roles. Independent identity and external truth require more.</a:t>
            </a:r>
          </a:p>
        </p:txBody>
      </p:sp>
    </p:spTree>
    <p:extLst>
      <p:ext uri="{BB962C8B-B14F-4D97-AF65-F5344CB8AC3E}">
        <p14:creationId xmlns:p14="http://schemas.microsoft.com/office/powerpoint/2010/main" val="948461428"/>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3065735-3CDF-4618-A955-F9D32E88366C}"/>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TECHNICAL PLAN</a:t>
            </a:r>
          </a:p>
        </p:txBody>
      </p:sp>
      <p:sp>
        <p:nvSpPr>
          <p:cNvPr id="2" name="">
            <a:extLst xmlns:a="http://schemas.openxmlformats.org/drawingml/2006/main">
              <a:ext uri="{FF2B5EF4-FFF2-40B4-BE49-F238E27FC236}">
                <a16:creationId xmlns:a16="http://schemas.microsoft.com/office/drawing/2014/main" id="{786E91BC-8F9D-4129-94F6-C27CA8A8D10B}"/>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Architecture and deployment boundary</a:t>
            </a:r>
          </a:p>
        </p:txBody>
      </p:sp>
      <p:sp>
        <p:nvSpPr>
          <p:cNvPr id="3" name="">
            <a:extLst xmlns:a="http://schemas.openxmlformats.org/drawingml/2006/main">
              <a:ext uri="{FF2B5EF4-FFF2-40B4-BE49-F238E27FC236}">
                <a16:creationId xmlns:a16="http://schemas.microsoft.com/office/drawing/2014/main" id="{B8E141EC-315E-453B-A033-4004EA633394}"/>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DAB23927-FD6E-42F5-AF4F-365284380764}"/>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2BBE17E-6E6A-4465-89E6-5D3CA1BF6905}"/>
              </a:ext>
            </a:extLst>
          </p:cNvPr>
          <p:cNvSpPr>
            <a:spLocks xmlns:a="http://schemas.openxmlformats.org/drawingml/2006/main" noGrp="1"/>
          </p:cNvSpPr>
          <p:nvPr/>
        </p:nvSpPr>
        <p:spPr>
          <a:xfrm xmlns:a="http://schemas.openxmlformats.org/drawingml/2006/main">
            <a:off x="647700" y="21336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27C63"/>
                </a:solidFill>
                <a:latin typeface="Arial"/>
                <a:ea typeface="Arial"/>
                <a:cs typeface="Arial"/>
              </a:defRPr>
            </a:pPr>
            <a:r>
              <a:rPr sz="1275" b="1">
                <a:solidFill>
                  <a:srgbClr val="327C63"/>
                </a:solidFill>
                <a:latin typeface="Arial"/>
                <a:ea typeface="Arial"/>
                <a:cs typeface="Arial"/>
              </a:rPr>
              <a:t>EXECUTABLE LOCAL DEMO</a:t>
            </a:r>
          </a:p>
        </p:txBody>
      </p:sp>
      <p:sp>
        <p:nvSpPr>
          <p:cNvPr id="6" name="">
            <a:extLst xmlns:a="http://schemas.openxmlformats.org/drawingml/2006/main">
              <a:ext uri="{FF2B5EF4-FFF2-40B4-BE49-F238E27FC236}">
                <a16:creationId xmlns:a16="http://schemas.microsoft.com/office/drawing/2014/main" id="{AA85A983-BCD6-4B4E-A6E5-2E262A3A3E85}"/>
              </a:ext>
            </a:extLst>
          </p:cNvPr>
          <p:cNvSpPr>
            <a:spLocks xmlns:a="http://schemas.openxmlformats.org/drawingml/2006/main" noGrp="1"/>
          </p:cNvSpPr>
          <p:nvPr/>
        </p:nvSpPr>
        <p:spPr>
          <a:xfrm xmlns:a="http://schemas.openxmlformats.org/drawingml/2006/main">
            <a:off x="647700" y="2724150"/>
            <a:ext cx="22669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Browser</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dashboard</a:t>
            </a:r>
          </a:p>
        </p:txBody>
      </p:sp>
      <p:sp>
        <p:nvSpPr>
          <p:cNvPr id="7" name="">
            <a:extLst xmlns:a="http://schemas.openxmlformats.org/drawingml/2006/main">
              <a:ext uri="{FF2B5EF4-FFF2-40B4-BE49-F238E27FC236}">
                <a16:creationId xmlns:a16="http://schemas.microsoft.com/office/drawing/2014/main" id="{08C1E5F4-ABE1-4FDD-ACD3-79A72A043DBB}"/>
              </a:ext>
            </a:extLst>
          </p:cNvPr>
          <p:cNvSpPr>
            <a:spLocks xmlns:a="http://schemas.openxmlformats.org/drawingml/2006/main" noGrp="1"/>
          </p:cNvSpPr>
          <p:nvPr/>
        </p:nvSpPr>
        <p:spPr>
          <a:xfrm xmlns:a="http://schemas.openxmlformats.org/drawingml/2006/main">
            <a:off x="4067175" y="2724150"/>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Node API</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Policy + SQLite</a:t>
            </a:r>
          </a:p>
        </p:txBody>
      </p:sp>
      <p:sp>
        <p:nvSpPr>
          <p:cNvPr id="8" name="">
            <a:extLst xmlns:a="http://schemas.openxmlformats.org/drawingml/2006/main">
              <a:ext uri="{FF2B5EF4-FFF2-40B4-BE49-F238E27FC236}">
                <a16:creationId xmlns:a16="http://schemas.microsoft.com/office/drawing/2014/main" id="{A2BA47EF-08C0-434F-A2A9-AB1ED06B071B}"/>
              </a:ext>
            </a:extLst>
          </p:cNvPr>
          <p:cNvSpPr>
            <a:spLocks xmlns:a="http://schemas.openxmlformats.org/drawingml/2006/main" noGrp="1"/>
          </p:cNvSpPr>
          <p:nvPr/>
        </p:nvSpPr>
        <p:spPr>
          <a:xfrm xmlns:a="http://schemas.openxmlformats.org/drawingml/2006/main">
            <a:off x="8324850" y="2724150"/>
            <a:ext cx="32194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Signed evidence</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Export + replay</a:t>
            </a:r>
          </a:p>
        </p:txBody>
      </p:sp>
      <p:sp>
        <p:nvSpPr>
          <p:cNvPr id="9" name="">
            <a:extLst xmlns:a="http://schemas.openxmlformats.org/drawingml/2006/main">
              <a:ext uri="{FF2B5EF4-FFF2-40B4-BE49-F238E27FC236}">
                <a16:creationId xmlns:a16="http://schemas.microsoft.com/office/drawing/2014/main" id="{9C6B66AE-2F4C-4618-BB69-E0686BE70E35}"/>
              </a:ext>
            </a:extLst>
          </p:cNvPr>
          <p:cNvSpPr>
            <a:spLocks xmlns:a="http://schemas.openxmlformats.org/drawingml/2006/main" noGrp="1"/>
          </p:cNvSpPr>
          <p:nvPr/>
        </p:nvSpPr>
        <p:spPr>
          <a:xfrm xmlns:a="http://schemas.openxmlformats.org/drawingml/2006/main">
            <a:off x="3095625"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calls</a:t>
            </a:r>
          </a:p>
        </p:txBody>
      </p:sp>
      <p:sp>
        <p:nvSpPr>
          <p:cNvPr id="10" name="">
            <a:extLst xmlns:a="http://schemas.openxmlformats.org/drawingml/2006/main">
              <a:ext uri="{FF2B5EF4-FFF2-40B4-BE49-F238E27FC236}">
                <a16:creationId xmlns:a16="http://schemas.microsoft.com/office/drawing/2014/main" id="{93A93F6A-A4A6-4FF0-ABB9-9AB73DB3D179}"/>
              </a:ext>
            </a:extLst>
          </p:cNvPr>
          <p:cNvSpPr>
            <a:spLocks xmlns:a="http://schemas.openxmlformats.org/drawingml/2006/main" noGrp="1"/>
          </p:cNvSpPr>
          <p:nvPr/>
        </p:nvSpPr>
        <p:spPr>
          <a:xfrm xmlns:a="http://schemas.openxmlformats.org/drawingml/2006/main">
            <a:off x="7372350"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records</a:t>
            </a:r>
          </a:p>
        </p:txBody>
      </p:sp>
      <p:sp>
        <p:nvSpPr>
          <p:cNvPr id="11" name="">
            <a:extLst xmlns:a="http://schemas.openxmlformats.org/drawingml/2006/main">
              <a:ext uri="{FF2B5EF4-FFF2-40B4-BE49-F238E27FC236}">
                <a16:creationId xmlns:a16="http://schemas.microsoft.com/office/drawing/2014/main" id="{4A4D8D8B-8985-44A7-B86B-80CA4B394DBF}"/>
              </a:ext>
            </a:extLst>
          </p:cNvPr>
          <p:cNvSpPr>
            <a:spLocks xmlns:a="http://schemas.openxmlformats.org/drawingml/2006/main" noGrp="1"/>
          </p:cNvSpPr>
          <p:nvPr/>
        </p:nvSpPr>
        <p:spPr>
          <a:xfrm xmlns:a="http://schemas.openxmlformats.org/drawingml/2006/main">
            <a:off x="647700" y="4333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27430"/>
                </a:solidFill>
                <a:latin typeface="Arial"/>
                <a:ea typeface="Arial"/>
                <a:cs typeface="Arial"/>
              </a:defRPr>
            </a:pPr>
            <a:r>
              <a:rPr sz="1275" b="1">
                <a:solidFill>
                  <a:srgbClr val="B27430"/>
                </a:solidFill>
                <a:latin typeface="Arial"/>
                <a:ea typeface="Arial"/>
                <a:cs typeface="Arial"/>
              </a:rPr>
              <a:t>LIVE DRUNIX CLI / 46 VALID COMMITS / DASHBOARD SEPARATE</a:t>
            </a:r>
          </a:p>
        </p:txBody>
      </p:sp>
      <p:sp>
        <p:nvSpPr>
          <p:cNvPr id="12" name="">
            <a:extLst xmlns:a="http://schemas.openxmlformats.org/drawingml/2006/main">
              <a:ext uri="{FF2B5EF4-FFF2-40B4-BE49-F238E27FC236}">
                <a16:creationId xmlns:a16="http://schemas.microsoft.com/office/drawing/2014/main" id="{6F2A90A0-C0D2-43A5-9A5B-E5AA380D0559}"/>
              </a:ext>
            </a:extLst>
          </p:cNvPr>
          <p:cNvSpPr>
            <a:spLocks xmlns:a="http://schemas.openxmlformats.org/drawingml/2006/main" noGrp="1"/>
          </p:cNvSpPr>
          <p:nvPr/>
        </p:nvSpPr>
        <p:spPr>
          <a:xfrm xmlns:a="http://schemas.openxmlformats.org/drawingml/2006/main">
            <a:off x="647700" y="4848225"/>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Certificate-bound</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Gateway CLI</a:t>
            </a:r>
          </a:p>
        </p:txBody>
      </p:sp>
      <p:sp>
        <p:nvSpPr>
          <p:cNvPr id="13" name="">
            <a:extLst xmlns:a="http://schemas.openxmlformats.org/drawingml/2006/main">
              <a:ext uri="{FF2B5EF4-FFF2-40B4-BE49-F238E27FC236}">
                <a16:creationId xmlns:a16="http://schemas.microsoft.com/office/drawing/2014/main" id="{F9C137B7-0611-4F58-8954-AA9AB2368F13}"/>
              </a:ext>
            </a:extLst>
          </p:cNvPr>
          <p:cNvSpPr>
            <a:spLocks xmlns:a="http://schemas.openxmlformats.org/drawingml/2006/main" noGrp="1"/>
          </p:cNvSpPr>
          <p:nvPr/>
        </p:nvSpPr>
        <p:spPr>
          <a:xfrm xmlns:a="http://schemas.openxmlformats.org/drawingml/2006/main">
            <a:off x="4810125" y="4848225"/>
            <a:ext cx="29527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chaincode</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MSP + policy</a:t>
            </a:r>
          </a:p>
        </p:txBody>
      </p:sp>
      <p:sp>
        <p:nvSpPr>
          <p:cNvPr id="14" name="">
            <a:extLst xmlns:a="http://schemas.openxmlformats.org/drawingml/2006/main">
              <a:ext uri="{FF2B5EF4-FFF2-40B4-BE49-F238E27FC236}">
                <a16:creationId xmlns:a16="http://schemas.microsoft.com/office/drawing/2014/main" id="{5F0BCCB9-8239-47C8-9478-2A897B7C33DD}"/>
              </a:ext>
            </a:extLst>
          </p:cNvPr>
          <p:cNvSpPr>
            <a:spLocks xmlns:a="http://schemas.openxmlformats.org/drawingml/2006/main" noGrp="1"/>
          </p:cNvSpPr>
          <p:nvPr/>
        </p:nvSpPr>
        <p:spPr>
          <a:xfrm xmlns:a="http://schemas.openxmlformats.org/drawingml/2006/main">
            <a:off x="8820150" y="4848225"/>
            <a:ext cx="2724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Drunix network</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Two orgs + AND</a:t>
            </a:r>
          </a:p>
        </p:txBody>
      </p:sp>
      <p:sp>
        <p:nvSpPr>
          <p:cNvPr id="15" name="">
            <a:extLst xmlns:a="http://schemas.openxmlformats.org/drawingml/2006/main">
              <a:ext uri="{FF2B5EF4-FFF2-40B4-BE49-F238E27FC236}">
                <a16:creationId xmlns:a16="http://schemas.microsoft.com/office/drawing/2014/main" id="{D27D7776-BCAF-4A90-BB3B-D7F655F7606F}"/>
              </a:ext>
            </a:extLst>
          </p:cNvPr>
          <p:cNvSpPr>
            <a:spLocks xmlns:a="http://schemas.openxmlformats.org/drawingml/2006/main" noGrp="1"/>
          </p:cNvSpPr>
          <p:nvPr/>
        </p:nvSpPr>
        <p:spPr>
          <a:xfrm xmlns:a="http://schemas.openxmlformats.org/drawingml/2006/main">
            <a:off x="3905250" y="5200650"/>
            <a:ext cx="90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submits</a:t>
            </a:r>
          </a:p>
        </p:txBody>
      </p:sp>
      <p:sp>
        <p:nvSpPr>
          <p:cNvPr id="16" name="">
            <a:extLst xmlns:a="http://schemas.openxmlformats.org/drawingml/2006/main">
              <a:ext uri="{FF2B5EF4-FFF2-40B4-BE49-F238E27FC236}">
                <a16:creationId xmlns:a16="http://schemas.microsoft.com/office/drawing/2014/main" id="{2BCF7A94-8A2A-4817-82D3-BE338153388B}"/>
              </a:ext>
            </a:extLst>
          </p:cNvPr>
          <p:cNvSpPr>
            <a:spLocks xmlns:a="http://schemas.openxmlformats.org/drawingml/2006/main" noGrp="1"/>
          </p:cNvSpPr>
          <p:nvPr/>
        </p:nvSpPr>
        <p:spPr>
          <a:xfrm xmlns:a="http://schemas.openxmlformats.org/drawingml/2006/main">
            <a:off x="7848600" y="5200650"/>
            <a:ext cx="100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deploys to</a:t>
            </a:r>
          </a:p>
        </p:txBody>
      </p:sp>
    </p:spTree>
    <p:extLst>
      <p:ext uri="{BB962C8B-B14F-4D97-AF65-F5344CB8AC3E}">
        <p14:creationId xmlns:p14="http://schemas.microsoft.com/office/powerpoint/2010/main" val="1922536592"/>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4E565E-12BB-49AF-B506-F92D507C0913}"/>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MARKET POSITION</a:t>
            </a:r>
          </a:p>
        </p:txBody>
      </p:sp>
      <p:sp>
        <p:nvSpPr>
          <p:cNvPr id="2" name="">
            <a:extLst xmlns:a="http://schemas.openxmlformats.org/drawingml/2006/main">
              <a:ext uri="{FF2B5EF4-FFF2-40B4-BE49-F238E27FC236}">
                <a16:creationId xmlns:a16="http://schemas.microsoft.com/office/drawing/2014/main" id="{B35B3E5E-0B75-48F9-AB1E-F32BE5481A9E}"/>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Existing products and the governance hypothesis</a:t>
            </a:r>
          </a:p>
        </p:txBody>
      </p:sp>
      <p:sp>
        <p:nvSpPr>
          <p:cNvPr id="3" name="">
            <a:extLst xmlns:a="http://schemas.openxmlformats.org/drawingml/2006/main">
              <a:ext uri="{FF2B5EF4-FFF2-40B4-BE49-F238E27FC236}">
                <a16:creationId xmlns:a16="http://schemas.microsoft.com/office/drawing/2014/main" id="{C613E8CC-E51B-4E84-AC17-0223B00BCD19}"/>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1FCE956B-7155-46CF-920D-F4FC5C2E8DE0}"/>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7858DA0-6D53-42FD-BA49-3DECA7740744}"/>
              </a:ext>
            </a:extLst>
          </p:cNvPr>
          <p:cNvSpPr>
            <a:spLocks xmlns:a="http://schemas.openxmlformats.org/drawingml/2006/main" noGrp="1"/>
          </p:cNvSpPr>
          <p:nvPr/>
        </p:nvSpPr>
        <p:spPr>
          <a:xfrm xmlns:a="http://schemas.openxmlformats.org/drawingml/2006/main">
            <a:off x="647700" y="2276475"/>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Swift / Nexus service desk</a:t>
            </a:r>
          </a:p>
        </p:txBody>
      </p:sp>
      <p:sp>
        <p:nvSpPr>
          <p:cNvPr id="6" name="">
            <a:extLst xmlns:a="http://schemas.openxmlformats.org/drawingml/2006/main">
              <a:ext uri="{FF2B5EF4-FFF2-40B4-BE49-F238E27FC236}">
                <a16:creationId xmlns:a16="http://schemas.microsoft.com/office/drawing/2014/main" id="{74BB3B67-9F0C-4BDD-935B-8E0F8078B4CF}"/>
              </a:ext>
            </a:extLst>
          </p:cNvPr>
          <p:cNvSpPr>
            <a:spLocks xmlns:a="http://schemas.openxmlformats.org/drawingml/2006/main" noGrp="1"/>
          </p:cNvSpPr>
          <p:nvPr/>
        </p:nvSpPr>
        <p:spPr>
          <a:xfrm xmlns:a="http://schemas.openxmlformats.org/drawingml/2006/main">
            <a:off x="647700" y="28670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Established investigation workflows. We must validate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what a specific corridor partner still needs.</a:t>
            </a:r>
          </a:p>
        </p:txBody>
      </p:sp>
      <p:sp>
        <p:nvSpPr>
          <p:cNvPr id="7" name="">
            <a:extLst xmlns:a="http://schemas.openxmlformats.org/drawingml/2006/main">
              <a:ext uri="{FF2B5EF4-FFF2-40B4-BE49-F238E27FC236}">
                <a16:creationId xmlns:a16="http://schemas.microsoft.com/office/drawing/2014/main" id="{FACA79D6-1B8C-4D35-9AEB-015E5D4BD5AD}"/>
              </a:ext>
            </a:extLst>
          </p:cNvPr>
          <p:cNvSpPr>
            <a:spLocks xmlns:a="http://schemas.openxmlformats.org/drawingml/2006/main" noGrp="1"/>
          </p:cNvSpPr>
          <p:nvPr/>
        </p:nvSpPr>
        <p:spPr>
          <a:xfrm xmlns:a="http://schemas.openxmlformats.org/drawingml/2006/main">
            <a:off x="647700" y="4038600"/>
            <a:ext cx="1038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CorridorProof hypothesis</a:t>
            </a:r>
          </a:p>
        </p:txBody>
      </p:sp>
      <p:sp>
        <p:nvSpPr>
          <p:cNvPr id="8" name="">
            <a:extLst xmlns:a="http://schemas.openxmlformats.org/drawingml/2006/main">
              <a:ext uri="{FF2B5EF4-FFF2-40B4-BE49-F238E27FC236}">
                <a16:creationId xmlns:a16="http://schemas.microsoft.com/office/drawing/2014/main" id="{A7E703CC-AE5D-4138-882C-5C79AB1152A2}"/>
              </a:ext>
            </a:extLst>
          </p:cNvPr>
          <p:cNvSpPr>
            <a:spLocks xmlns:a="http://schemas.openxmlformats.org/drawingml/2006/main" noGrp="1"/>
          </p:cNvSpPr>
          <p:nvPr/>
        </p:nvSpPr>
        <p:spPr>
          <a:xfrm xmlns:a="http://schemas.openxmlformats.org/drawingml/2006/main">
            <a:off x="647700" y="45815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Independent operators jointly govern accepted evidence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and resolution changes without unilateral edit authority.</a:t>
            </a:r>
          </a:p>
        </p:txBody>
      </p:sp>
      <p:sp>
        <p:nvSpPr>
          <p:cNvPr id="9" name="">
            <a:extLst xmlns:a="http://schemas.openxmlformats.org/drawingml/2006/main">
              <a:ext uri="{FF2B5EF4-FFF2-40B4-BE49-F238E27FC236}">
                <a16:creationId xmlns:a16="http://schemas.microsoft.com/office/drawing/2014/main" id="{A1135713-FD0B-4521-9C95-1EB371CFAEFC}"/>
              </a:ext>
            </a:extLst>
          </p:cNvPr>
          <p:cNvSpPr>
            <a:spLocks xmlns:a="http://schemas.openxmlformats.org/drawingml/2006/main" noGrp="1"/>
          </p:cNvSpPr>
          <p:nvPr/>
        </p:nvSpPr>
        <p:spPr>
          <a:xfrm xmlns:a="http://schemas.openxmlformats.org/drawingml/2006/main">
            <a:off x="647700" y="56864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A trusted shared database remains a valid option when independent governance is unnecessary.</a:t>
            </a:r>
          </a:p>
        </p:txBody>
      </p:sp>
    </p:spTree>
    <p:extLst>
      <p:ext uri="{BB962C8B-B14F-4D97-AF65-F5344CB8AC3E}">
        <p14:creationId xmlns:p14="http://schemas.microsoft.com/office/powerpoint/2010/main" val="1409115955"/>
      </p:ext>
    </p:extLst>
  </p:cSld>
</p:sld>
</file>

<file path=ppt/slides/slide8.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31E231-6988-4DB1-A7A1-53C6170D38D6}"/>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PILOT AND BUSINESS MODEL</a:t>
            </a:r>
          </a:p>
        </p:txBody>
      </p:sp>
      <p:sp>
        <p:nvSpPr>
          <p:cNvPr id="2" name="">
            <a:extLst xmlns:a="http://schemas.openxmlformats.org/drawingml/2006/main">
              <a:ext uri="{FF2B5EF4-FFF2-40B4-BE49-F238E27FC236}">
                <a16:creationId xmlns:a16="http://schemas.microsoft.com/office/drawing/2014/main" id="{53EC16FE-1B3E-4DA0-B591-71E65AC06543}"/>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 corridor pilot is the next commercial gate</a:t>
            </a:r>
          </a:p>
        </p:txBody>
      </p:sp>
      <p:sp>
        <p:nvSpPr>
          <p:cNvPr id="3" name="">
            <a:extLst xmlns:a="http://schemas.openxmlformats.org/drawingml/2006/main">
              <a:ext uri="{FF2B5EF4-FFF2-40B4-BE49-F238E27FC236}">
                <a16:creationId xmlns:a16="http://schemas.microsoft.com/office/drawing/2014/main" id="{1D4049D9-D84A-4F14-8C3A-2A49896711A1}"/>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4CBE323C-236E-48F1-A527-5870899EE0C7}"/>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F3B3A9D-382B-4D48-9C19-9BE2B3AD2E68}"/>
              </a:ext>
            </a:extLst>
          </p:cNvPr>
          <p:cNvSpPr>
            <a:spLocks xmlns:a="http://schemas.openxmlformats.org/drawingml/2006/main" noGrp="1"/>
          </p:cNvSpPr>
          <p:nvPr/>
        </p:nvSpPr>
        <p:spPr>
          <a:xfrm xmlns:a="http://schemas.openxmlformats.org/drawingml/2006/main">
            <a:off x="647700" y="2238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Candidate buyer</a:t>
            </a:r>
          </a:p>
        </p:txBody>
      </p:sp>
      <p:sp>
        <p:nvSpPr>
          <p:cNvPr id="6" name="">
            <a:extLst xmlns:a="http://schemas.openxmlformats.org/drawingml/2006/main">
              <a:ext uri="{FF2B5EF4-FFF2-40B4-BE49-F238E27FC236}">
                <a16:creationId xmlns:a16="http://schemas.microsoft.com/office/drawing/2014/main" id="{7BAA8384-1452-4B72-889C-2EDFC6020CB3}"/>
              </a:ext>
            </a:extLst>
          </p:cNvPr>
          <p:cNvSpPr>
            <a:spLocks xmlns:a="http://schemas.openxmlformats.org/drawingml/2006/main" noGrp="1"/>
          </p:cNvSpPr>
          <p:nvPr/>
        </p:nvSpPr>
        <p:spPr>
          <a:xfrm xmlns:a="http://schemas.openxmlformats.org/drawingml/2006/main">
            <a:off x="647700" y="27813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Sender and receiver PSP operations teams</a:t>
            </a:r>
          </a:p>
        </p:txBody>
      </p:sp>
      <p:sp>
        <p:nvSpPr>
          <p:cNvPr id="7" name="">
            <a:extLst xmlns:a="http://schemas.openxmlformats.org/drawingml/2006/main">
              <a:ext uri="{FF2B5EF4-FFF2-40B4-BE49-F238E27FC236}">
                <a16:creationId xmlns:a16="http://schemas.microsoft.com/office/drawing/2014/main" id="{F58A14AD-C824-49EC-A348-0E503BD19D9C}"/>
              </a:ext>
            </a:extLst>
          </p:cNvPr>
          <p:cNvSpPr>
            <a:spLocks xmlns:a="http://schemas.openxmlformats.org/drawingml/2006/main" noGrp="1"/>
          </p:cNvSpPr>
          <p:nvPr/>
        </p:nvSpPr>
        <p:spPr>
          <a:xfrm xmlns:a="http://schemas.openxmlformats.org/drawingml/2006/main">
            <a:off x="647700" y="3733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Shadow pilot</a:t>
            </a:r>
          </a:p>
        </p:txBody>
      </p:sp>
      <p:sp>
        <p:nvSpPr>
          <p:cNvPr id="8" name="">
            <a:extLst xmlns:a="http://schemas.openxmlformats.org/drawingml/2006/main">
              <a:ext uri="{FF2B5EF4-FFF2-40B4-BE49-F238E27FC236}">
                <a16:creationId xmlns:a16="http://schemas.microsoft.com/office/drawing/2014/main" id="{3D32E6BE-FBE2-4AD3-A8ED-66F3E40E712D}"/>
              </a:ext>
            </a:extLst>
          </p:cNvPr>
          <p:cNvSpPr>
            <a:spLocks xmlns:a="http://schemas.openxmlformats.org/drawingml/2006/main" noGrp="1"/>
          </p:cNvSpPr>
          <p:nvPr/>
        </p:nvSpPr>
        <p:spPr>
          <a:xfrm xmlns:a="http://schemas.openxmlformats.org/drawingml/2006/main">
            <a:off x="647700" y="42672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Replay de-identified exceptions against the current workflow.</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Measure operator effort and unsafe-decision prevention.</a:t>
            </a:r>
          </a:p>
        </p:txBody>
      </p:sp>
      <p:sp>
        <p:nvSpPr>
          <p:cNvPr id="9" name="">
            <a:extLst xmlns:a="http://schemas.openxmlformats.org/drawingml/2006/main">
              <a:ext uri="{FF2B5EF4-FFF2-40B4-BE49-F238E27FC236}">
                <a16:creationId xmlns:a16="http://schemas.microsoft.com/office/drawing/2014/main" id="{93205F45-10E2-46AA-BBFC-3FD8CC4D9115}"/>
              </a:ext>
            </a:extLst>
          </p:cNvPr>
          <p:cNvSpPr>
            <a:spLocks xmlns:a="http://schemas.openxmlformats.org/drawingml/2006/main" noGrp="1"/>
          </p:cNvSpPr>
          <p:nvPr/>
        </p:nvSpPr>
        <p:spPr>
          <a:xfrm xmlns:a="http://schemas.openxmlformats.org/drawingml/2006/main">
            <a:off x="647700" y="55435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Subscription plus integration is a pricing hypothesis.</a:t>
            </a:r>
          </a:p>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No customer adoption or operational savings claimed.</a:t>
            </a:r>
          </a:p>
        </p:txBody>
      </p:sp>
    </p:spTree>
    <p:extLst>
      <p:ext uri="{BB962C8B-B14F-4D97-AF65-F5344CB8AC3E}">
        <p14:creationId xmlns:p14="http://schemas.microsoft.com/office/powerpoint/2010/main" val="1425781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2026-09-30T08:06:22.3860000Z</dcterms:created>
  <dcterms:modified xsi:type="dcterms:W3CDTF">2026-09-30T08:06:22.3860000Z</dcterms:modified>
</coreProperties>
</file>